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2_4974FF2E.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omments/modernComment_103_A3BC86F7.xml" ContentType="application/vnd.ms-powerpoint.comments+xml"/>
  <Override PartName="/ppt/comments/modernComment_104_C9A669BD.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10A_D9FBFAB9.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5"/>
    <p:sldId id="257" r:id="rId6"/>
    <p:sldId id="258" r:id="rId7"/>
    <p:sldId id="259" r:id="rId8"/>
    <p:sldId id="267" r:id="rId9"/>
    <p:sldId id="260" r:id="rId10"/>
    <p:sldId id="266"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19F484E-E0FE-1A02-81A2-41FF9C6283E6}" name="Tanya ARORA" initials="TA" userId="S::tanya.arora.2025@mitb.smu.edu.sg::0c3ca997-b015-49f9-85aa-08995a15abcc" providerId="AD"/>
  <p188:author id="{A81BED60-7A43-9192-063D-1CB3EEBFF43A}" name="Kimberly BERTOLI" initials="KB" userId="S::k.bertoli.2025@exchange.smu.edu.sg::1013600d-657a-415a-81e2-64e727bd8741" providerId="AD"/>
  <p188:author id="{321B55D1-F375-2747-5F2C-8AE0858D1B5F}" name="NGUYEN Kim Hau" initials="NH" userId="S::kh.nguyen.2025@mitb.smu.edu.sg::808ce910-92f9-4f15-84e7-f963bd88f4f6" providerId="AD"/>
  <p188:author id="{F02613DC-4A70-F2F6-49CC-967322FD38EC}" name="CHEUNG See Lin" initials="CSL" userId="S::sl.cheung.2025@mitb.smu.edu.sg::668007c6-d0d9-4323-9702-c2c1e621174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FCC"/>
    <a:srgbClr val="FCE4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D50604-70B8-B205-547F-6DFA446AD4C2}" v="97" dt="2026-05-22T17:59:32.596"/>
    <p1510:client id="{B817CC35-4E1C-DC36-5EEB-2FEA8F521F5A}" v="174" dt="2026-05-23T10:41:57.744"/>
    <p1510:client id="{BE9C514A-223A-4FB6-9969-EBCC4432CC1D}" v="579" dt="2026-05-23T11:13:18.742"/>
    <p1510:client id="{D2470B84-8EE3-5E69-5DA4-512CBA770F22}" v="8" dt="2026-05-23T11:15:36.984"/>
    <p1510:client id="{D296E23D-15E5-BAEF-5C54-735B242B4A65}" v="1" dt="2026-05-23T03:37:27.964"/>
    <p1510:client id="{DB01A41E-5366-9BA2-B6F7-2A4B919A1E43}" v="28" dt="2026-05-23T03:23:39.145"/>
    <p1510:client id="{F1283D90-3274-48B3-9C9E-B86BD7E03008}" v="5" dt="2026-05-23T03:27:17.350"/>
    <p1510:client id="{FCA930F6-D2D1-E1CC-128D-31C72FF2A84F}" v="46" dt="2026-05-23T11:14:03.040"/>
  </p1510:revLst>
</p1510:revInfo>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omments/modernComment_10A_D9FBFAB9.xml><?xml version="1.0" encoding="utf-8"?>
<p188:cmLst xmlns:a="http://schemas.openxmlformats.org/drawingml/2006/main" xmlns:r="http://schemas.openxmlformats.org/officeDocument/2006/relationships" xmlns:p188="http://schemas.microsoft.com/office/powerpoint/2018/8/main">
  <p188:cm id="{D48868BA-6EEC-4118-8C7C-C2CA26E3F8F6}" authorId="{A81BED60-7A43-9192-063D-1CB3EEBFF43A}" created="2026-05-22T01:00:31.179">
    <pc:sldMkLst xmlns:pc="http://schemas.microsoft.com/office/powerpoint/2013/main/command">
      <pc:docMk/>
      <pc:sldMk cId="3657169593" sldId="266"/>
    </pc:sldMkLst>
    <p188:txBody>
      <a:bodyPr/>
      <a:lstStyle/>
      <a:p>
        <a:r>
          <a:rPr lang="en-US"/>
          <a:t>we can add
Severe label imbalance as 2 of 36 labels have fewer than 50 samples. Confident predictions are only realistic for the top ~10 labels. Addressed by collapsing rare labels and using focal loss.
Weak univariate signal: Only 2 of 138 flight features pass Bonferroni corrected significance tests. Multivariate non-linear models are required </a:t>
        </a:r>
      </a:p>
    </p188:txBody>
  </p188:cm>
</p188:cmLst>
</file>

<file path=ppt/comments/modernComment_102_4974FF2E.xml><?xml version="1.0" encoding="utf-8"?>
<p188:cmLst xmlns:a="http://schemas.openxmlformats.org/drawingml/2006/main" xmlns:r="http://schemas.openxmlformats.org/officeDocument/2006/relationships" xmlns:p188="http://schemas.microsoft.com/office/powerpoint/2018/8/main">
  <p188:cm id="{D4DFEE70-72B3-407B-9C00-EB658BF96CCB}" authorId="{321B55D1-F375-2747-5F2C-8AE0858D1B5F}" created="2026-05-22T03:51:00.815">
    <ac:txMkLst xmlns:ac="http://schemas.microsoft.com/office/drawing/2013/main/command">
      <pc:docMk xmlns:pc="http://schemas.microsoft.com/office/powerpoint/2013/main/command"/>
      <pc:sldMk xmlns:pc="http://schemas.microsoft.com/office/powerpoint/2013/main/command" cId="1232404270" sldId="258"/>
      <ac:spMk id="27" creationId="{09310B39-C5EE-70C4-99F1-FAA649BC7E17}"/>
      <ac:txMk cp="0">
        <ac:context len="38" hash="3750133152"/>
      </ac:txMk>
    </ac:txMkLst>
    <p188:txBody>
      <a:bodyPr/>
      <a:lstStyle/>
      <a:p>
        <a:r>
          <a:rPr lang="en-US"/>
          <a:t>If our dataset have time nature, be careful with stratified method because it randomly shuffle, only keep distribution of train and test set.</a:t>
        </a:r>
      </a:p>
    </p188:txBody>
  </p188:cm>
  <p188:cm id="{BCF168AC-132B-41BB-83B4-7FD1E6D87BC3}" authorId="{219F484E-E0FE-1A02-81A2-41FF9C6283E6}" created="2026-05-23T01:46:18.880">
    <ac:txMkLst xmlns:ac="http://schemas.microsoft.com/office/drawing/2013/main/command">
      <pc:docMk xmlns:pc="http://schemas.microsoft.com/office/powerpoint/2013/main/command"/>
      <pc:sldMk xmlns:pc="http://schemas.microsoft.com/office/powerpoint/2013/main/command" cId="1232404270" sldId="258"/>
      <ac:spMk id="16" creationId="{8551C4B4-68A3-55AF-FC5B-C06ECAAEEDC6}"/>
      <ac:txMk cp="0" len="338">
        <ac:context len="339" hash="1274601904"/>
      </ac:txMk>
    </ac:txMkLst>
    <p188:pos x="11121310" y="296590"/>
    <p188:replyLst>
      <p188:reply id="{195EFB0B-8F1A-4B0D-A4C0-71D071D3898B}" authorId="{219F484E-E0FE-1A02-81A2-41FF9C6283E6}" created="2026-05-23T07:56:33.415">
        <p188:txBody>
          <a:bodyPr/>
          <a:lstStyle/>
          <a:p>
            <a:r>
              <a:rPr lang="en-SG"/>
              <a:t>Tried to modify</a:t>
            </a:r>
          </a:p>
        </p188:txBody>
      </p188:reply>
    </p188:replyLst>
    <p188:txBody>
      <a:bodyPr/>
      <a:lstStyle/>
      <a:p>
        <a:r>
          <a:rPr lang="en-SG"/>
          <a:t>Need to modify this based on our objective</a:t>
        </a:r>
      </a:p>
    </p188:txBody>
  </p188:cm>
</p188:cmLst>
</file>

<file path=ppt/comments/modernComment_103_A3BC86F7.xml><?xml version="1.0" encoding="utf-8"?>
<p188:cmLst xmlns:a="http://schemas.openxmlformats.org/drawingml/2006/main" xmlns:r="http://schemas.openxmlformats.org/officeDocument/2006/relationships" xmlns:p188="http://schemas.microsoft.com/office/powerpoint/2018/8/main">
  <p188:cm id="{18D50E5E-1D54-4DA5-894D-5C3C9C014707}" authorId="{A81BED60-7A43-9192-063D-1CB3EEBFF43A}" created="2026-05-22T01:01:44.898">
    <pc:sldMkLst xmlns:pc="http://schemas.microsoft.com/office/powerpoint/2013/main/command">
      <pc:docMk/>
      <pc:sldMk cId="2747041527" sldId="259"/>
    </pc:sldMkLst>
    <p188:txBody>
      <a:bodyPr/>
      <a:lstStyle/>
      <a:p>
        <a:r>
          <a:rPr lang="en-US"/>
          <a:t>KEY EDA FINDINGS (evaluate if adding new slide)
28,935 flights, 23 sensors, median length 4,402 timesteps
Label distribution: 42% / 36% / 22% (manageable imbalance)
Severe long tail in 36-class label (Gini 0.686)
Sensor redundancy: 23 channels → 11 after deduplication</a:t>
        </a:r>
      </a:p>
    </p188:txBody>
  </p188:cm>
  <p188:cm id="{3685BF63-8594-4835-ADC9-ECAF1715A378}" authorId="{321B55D1-F375-2747-5F2C-8AE0858D1B5F}" created="2026-05-22T03:57:51.851">
    <ac:txMkLst xmlns:ac="http://schemas.microsoft.com/office/drawing/2013/main/command">
      <pc:docMk xmlns:pc="http://schemas.microsoft.com/office/powerpoint/2013/main/command"/>
      <pc:sldMk xmlns:pc="http://schemas.microsoft.com/office/powerpoint/2013/main/command" cId="2747041527" sldId="259"/>
      <ac:spMk id="48" creationId="{B6A4E5C2-E7FB-633E-450D-043662435DAE}"/>
      <ac:txMk cp="8">
        <ac:context len="93" hash="1099063734"/>
      </ac:txMk>
    </ac:txMkLst>
    <p188:pos x="2734235" y="313764"/>
    <p188:replyLst>
      <p188:reply id="{4481674E-67EA-44DD-8D53-DBE08EE3440C}" authorId="{219F484E-E0FE-1A02-81A2-41FF9C6283E6}" created="2026-05-22T04:26:03.996">
        <p188:txBody>
          <a:bodyPr/>
          <a:lstStyle/>
          <a:p>
            <a:r>
              <a:rPr lang="en-SG"/>
              <a:t>resolved</a:t>
            </a:r>
          </a:p>
        </p188:txBody>
      </p188:reply>
      <p188:reply id="{66CD8BAC-57A9-4492-996A-7ADF85183446}" authorId="{321B55D1-F375-2747-5F2C-8AE0858D1B5F}" created="2026-05-22T06:28:21.495">
        <p188:txBody>
          <a:bodyPr/>
          <a:lstStyle/>
          <a:p>
            <a:r>
              <a:rPr lang="en-US"/>
              <a:t>Sorry, I just read the file jypyter notebook. We actually use dataset from this kaggle, using many their steps and structure, so its honest to cite from kaggle, not from original source. 
I relink to Kaggle again.</a:t>
            </a:r>
          </a:p>
        </p188:txBody>
      </p188:reply>
    </p188:replyLst>
    <p188:txBody>
      <a:bodyPr/>
      <a:lstStyle/>
      <a:p>
        <a:r>
          <a:rPr lang="en-US"/>
          <a:t>We may want to cite original source: https://zenodo.org/records/6624956 
License: Creative Commons Attribution 4.0 International</a:t>
        </a:r>
      </a:p>
    </p188:txBody>
    <p188:extLst>
      <p:ext xmlns:p="http://schemas.openxmlformats.org/presentationml/2006/main" uri="{57CB4572-C831-44C2-8A1C-0ADB6CCDFE69}">
        <p223:reactions xmlns:p223="http://schemas.microsoft.com/office/powerpoint/2022/03/main">
          <p223:rxn type="👍">
            <p223:instance time="2026-05-22T04:25:55.872" authorId="{219F484E-E0FE-1A02-81A2-41FF9C6283E6}"/>
          </p223:rxn>
        </p223:reactions>
      </p:ext>
    </p188:extLst>
  </p188:cm>
  <p188:cm id="{F59EB274-6289-403D-8C0F-599490426692}" authorId="{321B55D1-F375-2747-5F2C-8AE0858D1B5F}" created="2026-05-22T03:59:08.024">
    <pc:sldMkLst xmlns:pc="http://schemas.microsoft.com/office/powerpoint/2013/main/command">
      <pc:docMk/>
      <pc:sldMk cId="2747041527" sldId="259"/>
    </pc:sldMkLst>
    <p188:txBody>
      <a:bodyPr/>
      <a:lstStyle/>
      <a:p>
        <a:r>
          <a:rPr lang="en-US"/>
          <a:t>Maybe we should type Flight Data table to see clearly</a:t>
        </a:r>
      </a:p>
    </p188:txBody>
    <p188:extLst>
      <p:ext xmlns:p="http://schemas.openxmlformats.org/presentationml/2006/main" uri="{57CB4572-C831-44C2-8A1C-0ADB6CCDFE69}">
        <p223:reactions xmlns:p223="http://schemas.microsoft.com/office/powerpoint/2022/03/main">
          <p223:rxn type="👍">
            <p223:instance time="2026-05-22T04:34:40.887" authorId="{219F484E-E0FE-1A02-81A2-41FF9C6283E6}"/>
          </p223:rxn>
        </p223:reactions>
      </p:ext>
    </p188:extLst>
  </p188:cm>
  <p188:cm id="{0B6A6B06-2CD2-46D2-952C-2BCD5ACA4705}" authorId="{321B55D1-F375-2747-5F2C-8AE0858D1B5F}" created="2026-05-22T06:46:24.068">
    <ac:txMkLst xmlns:ac="http://schemas.microsoft.com/office/drawing/2013/main/command">
      <pc:docMk xmlns:pc="http://schemas.microsoft.com/office/powerpoint/2013/main/command"/>
      <pc:sldMk xmlns:pc="http://schemas.microsoft.com/office/powerpoint/2013/main/command" cId="2747041527" sldId="259"/>
      <ac:spMk id="2" creationId="{C60247FD-2E40-D7A0-461E-35E32BEF3027}"/>
      <ac:txMk cp="0" len="3">
        <ac:context len="12" hash="1948646145"/>
      </ac:txMk>
    </ac:txMkLst>
    <p188:pos x="1322294" y="369794"/>
    <p188:replyLst>
      <p188:reply id="{19DB6791-C0C3-4897-A553-671476A81125}" authorId="{321B55D1-F375-2747-5F2C-8AE0858D1B5F}" created="2026-05-22T08:15:21.855">
        <p188:txBody>
          <a:bodyPr/>
          <a:lstStyle/>
          <a:p>
            <a:r>
              <a:rPr lang="en-US"/>
              <a:t>So I change 29K records to 29k flights, and add info in 4th card.</a:t>
            </a:r>
          </a:p>
        </p188:txBody>
      </p188:reply>
    </p188:replyLst>
    <p188:txBody>
      <a:bodyPr/>
      <a:lstStyle/>
      <a:p>
        <a:r>
          <a:rPr lang="en-US"/>
          <a:t>28,935 is number of flights.
Total rows in file parquet: 401 partitions × ~282,875 rows each ≈ 113 million rows total</a:t>
        </a:r>
      </a:p>
    </p188:txBody>
  </p188:cm>
  <p188:cm id="{E44B954C-351C-4AEB-8E8C-9E02371D2150}" authorId="{219F484E-E0FE-1A02-81A2-41FF9C6283E6}" created="2026-05-23T07:58:18.547">
    <ac:deMkLst xmlns:ac="http://schemas.microsoft.com/office/drawing/2013/main/command">
      <pc:docMk xmlns:pc="http://schemas.microsoft.com/office/powerpoint/2013/main/command"/>
      <pc:sldMk xmlns:pc="http://schemas.microsoft.com/office/powerpoint/2013/main/command" cId="2747041527" sldId="259"/>
      <ac:spMk id="3" creationId="{B52AA8E1-8580-0CFA-38ED-76CEF278F1E8}"/>
    </ac:deMkLst>
    <p188:txBody>
      <a:bodyPr/>
      <a:lstStyle/>
      <a:p>
        <a:r>
          <a:rPr lang="en-SG"/>
          <a:t>Need to change this</a:t>
        </a:r>
      </a:p>
    </p188:txBody>
  </p188:cm>
</p188:cmLst>
</file>

<file path=ppt/comments/modernComment_104_C9A669BD.xml><?xml version="1.0" encoding="utf-8"?>
<p188:cmLst xmlns:a="http://schemas.openxmlformats.org/drawingml/2006/main" xmlns:r="http://schemas.openxmlformats.org/officeDocument/2006/relationships" xmlns:p188="http://schemas.microsoft.com/office/powerpoint/2018/8/main">
  <p188:cm id="{55F7C709-4344-4B8E-8E78-FCDB92AE8A7C}" authorId="{A81BED60-7A43-9192-063D-1CB3EEBFF43A}" created="2026-05-22T00:59:14.163">
    <pc:sldMkLst xmlns:pc="http://schemas.microsoft.com/office/powerpoint/2013/main/command">
      <pc:docMk/>
      <pc:sldMk cId="3383126461" sldId="260"/>
    </pc:sldMkLst>
    <p188:txBody>
      <a:bodyPr/>
      <a:lstStyle/>
      <a:p>
        <a:r>
          <a:rPr lang="en-US"/>
          <a:t>ensemble stacking is a bit generic, we could put like a table
Tier - Model
Baseline XGBoost on per-flight aggr
TS-classical MiniRocket + Ridge
TS-deep InceptionTime (1D-CNN)
TS-advanced Transformer </a:t>
        </a:r>
      </a:p>
    </p188:txBody>
  </p188:cm>
</p188: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291980-D906-4AC4-B1C0-9D223B0A0359}" type="doc">
      <dgm:prSet loTypeId="urn:microsoft.com/office/officeart/2005/8/layout/process3" loCatId="process" qsTypeId="urn:microsoft.com/office/officeart/2005/8/quickstyle/simple1" qsCatId="simple" csTypeId="urn:microsoft.com/office/officeart/2005/8/colors/colorful1" csCatId="colorful" phldr="1"/>
      <dgm:spPr/>
      <dgm:t>
        <a:bodyPr/>
        <a:lstStyle/>
        <a:p>
          <a:endParaRPr lang="en-SG"/>
        </a:p>
      </dgm:t>
    </dgm:pt>
    <dgm:pt modelId="{8FF3E229-F2A3-4513-BBF7-E88FF1B25543}">
      <dgm:prSet phldrT="[Text]" phldr="0"/>
      <dgm:spPr/>
      <dgm:t>
        <a:bodyPr/>
        <a:lstStyle/>
        <a:p>
          <a:r>
            <a:rPr lang="en-SG">
              <a:latin typeface="Arial" panose="020B0604020202020204" pitchFamily="34" charset="0"/>
              <a:cs typeface="Arial" panose="020B0604020202020204" pitchFamily="34" charset="0"/>
            </a:rPr>
            <a:t>EDA and Data cleaning</a:t>
          </a:r>
        </a:p>
      </dgm:t>
    </dgm:pt>
    <dgm:pt modelId="{6FCC02D4-9ED6-45F4-A7AF-D9F2957A1384}" type="parTrans" cxnId="{4B4E7132-59AF-4F2D-8D62-9B80944EB81E}">
      <dgm:prSet/>
      <dgm:spPr/>
      <dgm:t>
        <a:bodyPr/>
        <a:lstStyle/>
        <a:p>
          <a:endParaRPr lang="en-SG">
            <a:latin typeface="Arial" panose="020B0604020202020204" pitchFamily="34" charset="0"/>
            <a:cs typeface="Arial" panose="020B0604020202020204" pitchFamily="34" charset="0"/>
          </a:endParaRPr>
        </a:p>
      </dgm:t>
    </dgm:pt>
    <dgm:pt modelId="{544FEEA9-2D1D-4E70-8461-5CF9D441AC16}" type="sibTrans" cxnId="{4B4E7132-59AF-4F2D-8D62-9B80944EB81E}">
      <dgm:prSet/>
      <dgm:spPr/>
      <dgm:t>
        <a:bodyPr/>
        <a:lstStyle/>
        <a:p>
          <a:endParaRPr lang="en-SG">
            <a:latin typeface="Arial" panose="020B0604020202020204" pitchFamily="34" charset="0"/>
            <a:cs typeface="Arial" panose="020B0604020202020204" pitchFamily="34" charset="0"/>
          </a:endParaRPr>
        </a:p>
      </dgm:t>
    </dgm:pt>
    <dgm:pt modelId="{8E57A8C3-BFAD-447F-A0AF-A8511FC69237}">
      <dgm:prSet phldrT="[Text]" phldr="0"/>
      <dgm:spPr/>
      <dgm:t>
        <a:bodyPr/>
        <a:lstStyle/>
        <a:p>
          <a:r>
            <a:rPr lang="en-SG">
              <a:latin typeface="Arial" panose="020B0604020202020204" pitchFamily="34" charset="0"/>
              <a:cs typeface="Arial" panose="020B0604020202020204" pitchFamily="34" charset="0"/>
            </a:rPr>
            <a:t>Exploration of dataset</a:t>
          </a:r>
        </a:p>
      </dgm:t>
    </dgm:pt>
    <dgm:pt modelId="{A4E9F0F8-DC0A-4E90-9ACD-AC6549CC4495}" type="parTrans" cxnId="{CB04C31B-3B3C-4694-9F19-0F2E564D0564}">
      <dgm:prSet/>
      <dgm:spPr/>
      <dgm:t>
        <a:bodyPr/>
        <a:lstStyle/>
        <a:p>
          <a:endParaRPr lang="en-SG">
            <a:latin typeface="Arial" panose="020B0604020202020204" pitchFamily="34" charset="0"/>
            <a:cs typeface="Arial" panose="020B0604020202020204" pitchFamily="34" charset="0"/>
          </a:endParaRPr>
        </a:p>
      </dgm:t>
    </dgm:pt>
    <dgm:pt modelId="{923197E2-65C6-4604-8FD6-4D1C7053D2DB}" type="sibTrans" cxnId="{CB04C31B-3B3C-4694-9F19-0F2E564D0564}">
      <dgm:prSet/>
      <dgm:spPr/>
      <dgm:t>
        <a:bodyPr/>
        <a:lstStyle/>
        <a:p>
          <a:endParaRPr lang="en-SG">
            <a:latin typeface="Arial" panose="020B0604020202020204" pitchFamily="34" charset="0"/>
            <a:cs typeface="Arial" panose="020B0604020202020204" pitchFamily="34" charset="0"/>
          </a:endParaRPr>
        </a:p>
      </dgm:t>
    </dgm:pt>
    <dgm:pt modelId="{4609C0DF-9C8C-425C-B2DA-2C446A00EABC}">
      <dgm:prSet phldrT="[Text]" phldr="0"/>
      <dgm:spPr/>
      <dgm:t>
        <a:bodyPr/>
        <a:lstStyle/>
        <a:p>
          <a:r>
            <a:rPr lang="en-SG">
              <a:latin typeface="Arial" panose="020B0604020202020204" pitchFamily="34" charset="0"/>
              <a:cs typeface="Arial" panose="020B0604020202020204" pitchFamily="34" charset="0"/>
            </a:rPr>
            <a:t>Model Building and Selection</a:t>
          </a:r>
        </a:p>
      </dgm:t>
    </dgm:pt>
    <dgm:pt modelId="{8109098A-528A-4323-8BCC-47BFDD899F0B}" type="parTrans" cxnId="{C4F1C832-B3E4-4863-A775-D505213883BF}">
      <dgm:prSet/>
      <dgm:spPr/>
      <dgm:t>
        <a:bodyPr/>
        <a:lstStyle/>
        <a:p>
          <a:endParaRPr lang="en-SG">
            <a:latin typeface="Arial" panose="020B0604020202020204" pitchFamily="34" charset="0"/>
            <a:cs typeface="Arial" panose="020B0604020202020204" pitchFamily="34" charset="0"/>
          </a:endParaRPr>
        </a:p>
      </dgm:t>
    </dgm:pt>
    <dgm:pt modelId="{FF3212F1-B0C8-48E2-B488-73B6C20F9EAC}" type="sibTrans" cxnId="{C4F1C832-B3E4-4863-A775-D505213883BF}">
      <dgm:prSet/>
      <dgm:spPr/>
      <dgm:t>
        <a:bodyPr/>
        <a:lstStyle/>
        <a:p>
          <a:endParaRPr lang="en-SG">
            <a:latin typeface="Arial" panose="020B0604020202020204" pitchFamily="34" charset="0"/>
            <a:cs typeface="Arial" panose="020B0604020202020204" pitchFamily="34" charset="0"/>
          </a:endParaRPr>
        </a:p>
      </dgm:t>
    </dgm:pt>
    <dgm:pt modelId="{C639D474-564A-4A40-B36E-2AB9973C8909}">
      <dgm:prSet phldrT="[Text]" phldr="0"/>
      <dgm:spPr/>
      <dgm:t>
        <a:bodyPr/>
        <a:lstStyle/>
        <a:p>
          <a:r>
            <a:rPr lang="en-SG">
              <a:latin typeface="Arial" panose="020B0604020202020204" pitchFamily="34" charset="0"/>
              <a:cs typeface="Arial" panose="020B0604020202020204" pitchFamily="34" charset="0"/>
            </a:rPr>
            <a:t>Exploration of different models with minimal tuning to review effectiveness</a:t>
          </a:r>
        </a:p>
      </dgm:t>
    </dgm:pt>
    <dgm:pt modelId="{20702F18-5051-4A3D-86E2-21CBF372A1A8}" type="parTrans" cxnId="{E1901D18-0794-4E3A-B2B2-4A23D280A85C}">
      <dgm:prSet/>
      <dgm:spPr/>
      <dgm:t>
        <a:bodyPr/>
        <a:lstStyle/>
        <a:p>
          <a:endParaRPr lang="en-SG">
            <a:latin typeface="Arial" panose="020B0604020202020204" pitchFamily="34" charset="0"/>
            <a:cs typeface="Arial" panose="020B0604020202020204" pitchFamily="34" charset="0"/>
          </a:endParaRPr>
        </a:p>
      </dgm:t>
    </dgm:pt>
    <dgm:pt modelId="{68EEC680-0F5E-4B19-B6C1-BA7A240E20CF}" type="sibTrans" cxnId="{E1901D18-0794-4E3A-B2B2-4A23D280A85C}">
      <dgm:prSet/>
      <dgm:spPr/>
      <dgm:t>
        <a:bodyPr/>
        <a:lstStyle/>
        <a:p>
          <a:endParaRPr lang="en-SG">
            <a:latin typeface="Arial" panose="020B0604020202020204" pitchFamily="34" charset="0"/>
            <a:cs typeface="Arial" panose="020B0604020202020204" pitchFamily="34" charset="0"/>
          </a:endParaRPr>
        </a:p>
      </dgm:t>
    </dgm:pt>
    <dgm:pt modelId="{38F2D1B7-3169-445F-BBEF-B674E4E0F8AB}">
      <dgm:prSet phldrT="[Text]" phldr="0"/>
      <dgm:spPr/>
      <dgm:t>
        <a:bodyPr/>
        <a:lstStyle/>
        <a:p>
          <a:r>
            <a:rPr lang="en-SG">
              <a:latin typeface="Arial" panose="020B0604020202020204" pitchFamily="34" charset="0"/>
              <a:cs typeface="Arial" panose="020B0604020202020204" pitchFamily="34" charset="0"/>
            </a:rPr>
            <a:t>Tuning and Refinement</a:t>
          </a:r>
        </a:p>
      </dgm:t>
    </dgm:pt>
    <dgm:pt modelId="{B83F3665-EEA6-42FC-BF4C-51460BABDEBC}" type="parTrans" cxnId="{9A8BC2D7-C409-44FA-9677-18F8108CF6A1}">
      <dgm:prSet/>
      <dgm:spPr/>
      <dgm:t>
        <a:bodyPr/>
        <a:lstStyle/>
        <a:p>
          <a:endParaRPr lang="en-SG">
            <a:latin typeface="Arial" panose="020B0604020202020204" pitchFamily="34" charset="0"/>
            <a:cs typeface="Arial" panose="020B0604020202020204" pitchFamily="34" charset="0"/>
          </a:endParaRPr>
        </a:p>
      </dgm:t>
    </dgm:pt>
    <dgm:pt modelId="{3207BF14-6883-47AA-A204-4DC4B2B1EC30}" type="sibTrans" cxnId="{9A8BC2D7-C409-44FA-9677-18F8108CF6A1}">
      <dgm:prSet/>
      <dgm:spPr/>
      <dgm:t>
        <a:bodyPr/>
        <a:lstStyle/>
        <a:p>
          <a:endParaRPr lang="en-SG">
            <a:latin typeface="Arial" panose="020B0604020202020204" pitchFamily="34" charset="0"/>
            <a:cs typeface="Arial" panose="020B0604020202020204" pitchFamily="34" charset="0"/>
          </a:endParaRPr>
        </a:p>
      </dgm:t>
    </dgm:pt>
    <dgm:pt modelId="{7FA970F4-F06A-44BE-9859-8A7FE552D4D3}">
      <dgm:prSet phldrT="[Text]" phldr="0"/>
      <dgm:spPr/>
      <dgm:t>
        <a:bodyPr/>
        <a:lstStyle/>
        <a:p>
          <a:r>
            <a:rPr lang="en-SG">
              <a:latin typeface="Arial" panose="020B0604020202020204" pitchFamily="34" charset="0"/>
              <a:cs typeface="Arial" panose="020B0604020202020204" pitchFamily="34" charset="0"/>
            </a:rPr>
            <a:t>Hyperparameter tuning using </a:t>
          </a:r>
          <a:r>
            <a:rPr lang="en-SG" err="1">
              <a:latin typeface="Arial" panose="020B0604020202020204" pitchFamily="34" charset="0"/>
              <a:cs typeface="Arial" panose="020B0604020202020204" pitchFamily="34" charset="0"/>
            </a:rPr>
            <a:t>Optuna</a:t>
          </a:r>
          <a:endParaRPr lang="en-SG">
            <a:latin typeface="Arial" panose="020B0604020202020204" pitchFamily="34" charset="0"/>
            <a:cs typeface="Arial" panose="020B0604020202020204" pitchFamily="34" charset="0"/>
          </a:endParaRPr>
        </a:p>
      </dgm:t>
    </dgm:pt>
    <dgm:pt modelId="{7CFFAFC2-5016-4B54-A0E0-683CC2F17C42}" type="parTrans" cxnId="{D69FCEEA-8F6C-48C7-B952-7DA28E70EBAF}">
      <dgm:prSet/>
      <dgm:spPr/>
      <dgm:t>
        <a:bodyPr/>
        <a:lstStyle/>
        <a:p>
          <a:endParaRPr lang="en-SG">
            <a:latin typeface="Arial" panose="020B0604020202020204" pitchFamily="34" charset="0"/>
            <a:cs typeface="Arial" panose="020B0604020202020204" pitchFamily="34" charset="0"/>
          </a:endParaRPr>
        </a:p>
      </dgm:t>
    </dgm:pt>
    <dgm:pt modelId="{3FECB783-C1FA-48DC-88D2-8846D6630F91}" type="sibTrans" cxnId="{D69FCEEA-8F6C-48C7-B952-7DA28E70EBAF}">
      <dgm:prSet/>
      <dgm:spPr/>
      <dgm:t>
        <a:bodyPr/>
        <a:lstStyle/>
        <a:p>
          <a:endParaRPr lang="en-SG">
            <a:latin typeface="Arial" panose="020B0604020202020204" pitchFamily="34" charset="0"/>
            <a:cs typeface="Arial" panose="020B0604020202020204" pitchFamily="34" charset="0"/>
          </a:endParaRPr>
        </a:p>
      </dgm:t>
    </dgm:pt>
    <dgm:pt modelId="{9CF14E27-033E-4F99-9671-0ED911A8A1D5}">
      <dgm:prSet phldrT="[Text]" phldr="0"/>
      <dgm:spPr/>
      <dgm:t>
        <a:bodyPr/>
        <a:lstStyle/>
        <a:p>
          <a:r>
            <a:rPr lang="en-SG">
              <a:latin typeface="Arial" panose="020B0604020202020204" pitchFamily="34" charset="0"/>
              <a:cs typeface="Arial" panose="020B0604020202020204" pitchFamily="34" charset="0"/>
            </a:rPr>
            <a:t>Data cleaning and aggregation</a:t>
          </a:r>
        </a:p>
      </dgm:t>
    </dgm:pt>
    <dgm:pt modelId="{B58FC136-8A6A-4BB1-92CE-B4B306C445C5}" type="parTrans" cxnId="{0CF2E280-F373-4C9D-9B23-7E81D5C7FE2B}">
      <dgm:prSet/>
      <dgm:spPr/>
      <dgm:t>
        <a:bodyPr/>
        <a:lstStyle/>
        <a:p>
          <a:endParaRPr lang="en-SG">
            <a:latin typeface="Arial" panose="020B0604020202020204" pitchFamily="34" charset="0"/>
            <a:cs typeface="Arial" panose="020B0604020202020204" pitchFamily="34" charset="0"/>
          </a:endParaRPr>
        </a:p>
      </dgm:t>
    </dgm:pt>
    <dgm:pt modelId="{03DE357B-DB25-4B80-84BB-916B7DD536DC}" type="sibTrans" cxnId="{0CF2E280-F373-4C9D-9B23-7E81D5C7FE2B}">
      <dgm:prSet/>
      <dgm:spPr/>
      <dgm:t>
        <a:bodyPr/>
        <a:lstStyle/>
        <a:p>
          <a:endParaRPr lang="en-SG">
            <a:latin typeface="Arial" panose="020B0604020202020204" pitchFamily="34" charset="0"/>
            <a:cs typeface="Arial" panose="020B0604020202020204" pitchFamily="34" charset="0"/>
          </a:endParaRPr>
        </a:p>
      </dgm:t>
    </dgm:pt>
    <dgm:pt modelId="{633A2B83-61B7-4CCB-9EA7-54193CE3D5AF}">
      <dgm:prSet phldrT="[Text]" phldr="0"/>
      <dgm:spPr/>
      <dgm:t>
        <a:bodyPr/>
        <a:lstStyle/>
        <a:p>
          <a:r>
            <a:rPr lang="en-SG">
              <a:latin typeface="Arial" panose="020B0604020202020204" pitchFamily="34" charset="0"/>
              <a:cs typeface="Arial" panose="020B0604020202020204" pitchFamily="34" charset="0"/>
            </a:rPr>
            <a:t>Selection of final model</a:t>
          </a:r>
        </a:p>
      </dgm:t>
    </dgm:pt>
    <dgm:pt modelId="{59AE4824-8AFE-41ED-8637-79F6B5AE2BF5}" type="parTrans" cxnId="{8AABB266-4390-440E-87E1-CD78924B18E2}">
      <dgm:prSet/>
      <dgm:spPr/>
      <dgm:t>
        <a:bodyPr/>
        <a:lstStyle/>
        <a:p>
          <a:endParaRPr lang="en-SG">
            <a:latin typeface="Arial" panose="020B0604020202020204" pitchFamily="34" charset="0"/>
            <a:cs typeface="Arial" panose="020B0604020202020204" pitchFamily="34" charset="0"/>
          </a:endParaRPr>
        </a:p>
      </dgm:t>
    </dgm:pt>
    <dgm:pt modelId="{E3B5921B-3F82-4EFD-A685-C509EA430F4A}" type="sibTrans" cxnId="{8AABB266-4390-440E-87E1-CD78924B18E2}">
      <dgm:prSet/>
      <dgm:spPr/>
      <dgm:t>
        <a:bodyPr/>
        <a:lstStyle/>
        <a:p>
          <a:endParaRPr lang="en-SG">
            <a:latin typeface="Arial" panose="020B0604020202020204" pitchFamily="34" charset="0"/>
            <a:cs typeface="Arial" panose="020B0604020202020204" pitchFamily="34" charset="0"/>
          </a:endParaRPr>
        </a:p>
      </dgm:t>
    </dgm:pt>
    <dgm:pt modelId="{4977B429-E359-428C-B702-5680BD8AA293}">
      <dgm:prSet phldrT="[Text]" phldr="0"/>
      <dgm:spPr/>
      <dgm:t>
        <a:bodyPr/>
        <a:lstStyle/>
        <a:p>
          <a:r>
            <a:rPr lang="en-SG">
              <a:latin typeface="Arial" panose="020B0604020202020204" pitchFamily="34" charset="0"/>
              <a:cs typeface="Arial" panose="020B0604020202020204" pitchFamily="34" charset="0"/>
            </a:rPr>
            <a:t>Ensemble / Stacking models</a:t>
          </a:r>
        </a:p>
      </dgm:t>
    </dgm:pt>
    <dgm:pt modelId="{2DC49A0E-3273-42C6-B98E-24D74A14304E}" type="parTrans" cxnId="{47EDC385-E61B-46DD-BA29-3713A8F6287A}">
      <dgm:prSet/>
      <dgm:spPr/>
      <dgm:t>
        <a:bodyPr/>
        <a:lstStyle/>
        <a:p>
          <a:endParaRPr lang="en-SG">
            <a:latin typeface="Arial" panose="020B0604020202020204" pitchFamily="34" charset="0"/>
            <a:cs typeface="Arial" panose="020B0604020202020204" pitchFamily="34" charset="0"/>
          </a:endParaRPr>
        </a:p>
      </dgm:t>
    </dgm:pt>
    <dgm:pt modelId="{E22B4681-6271-4A8B-94BF-7355624A5B1B}" type="sibTrans" cxnId="{47EDC385-E61B-46DD-BA29-3713A8F6287A}">
      <dgm:prSet/>
      <dgm:spPr/>
      <dgm:t>
        <a:bodyPr/>
        <a:lstStyle/>
        <a:p>
          <a:endParaRPr lang="en-SG">
            <a:latin typeface="Arial" panose="020B0604020202020204" pitchFamily="34" charset="0"/>
            <a:cs typeface="Arial" panose="020B0604020202020204" pitchFamily="34" charset="0"/>
          </a:endParaRPr>
        </a:p>
      </dgm:t>
    </dgm:pt>
    <dgm:pt modelId="{139F7B92-3DDB-4FC7-809D-BEB49EB7B154}">
      <dgm:prSet phldrT="[Text]" phldr="0"/>
      <dgm:spPr/>
      <dgm:t>
        <a:bodyPr/>
        <a:lstStyle/>
        <a:p>
          <a:r>
            <a:rPr lang="en-SG">
              <a:latin typeface="Arial" panose="020B0604020202020204" pitchFamily="34" charset="0"/>
              <a:cs typeface="Arial" panose="020B0604020202020204" pitchFamily="34" charset="0"/>
            </a:rPr>
            <a:t>Evaluation of Model and Conclusion</a:t>
          </a:r>
        </a:p>
      </dgm:t>
    </dgm:pt>
    <dgm:pt modelId="{88A8BD5E-3B9F-4C5B-8D5D-A56A91CA940B}" type="parTrans" cxnId="{C5122577-03D9-4C74-8BB1-8E718CFC68EC}">
      <dgm:prSet/>
      <dgm:spPr/>
      <dgm:t>
        <a:bodyPr/>
        <a:lstStyle/>
        <a:p>
          <a:endParaRPr lang="en-SG">
            <a:latin typeface="Arial" panose="020B0604020202020204" pitchFamily="34" charset="0"/>
            <a:cs typeface="Arial" panose="020B0604020202020204" pitchFamily="34" charset="0"/>
          </a:endParaRPr>
        </a:p>
      </dgm:t>
    </dgm:pt>
    <dgm:pt modelId="{6D6B2103-F181-456D-9C16-3AE19B78F0EB}" type="sibTrans" cxnId="{C5122577-03D9-4C74-8BB1-8E718CFC68EC}">
      <dgm:prSet/>
      <dgm:spPr/>
      <dgm:t>
        <a:bodyPr/>
        <a:lstStyle/>
        <a:p>
          <a:endParaRPr lang="en-SG">
            <a:latin typeface="Arial" panose="020B0604020202020204" pitchFamily="34" charset="0"/>
            <a:cs typeface="Arial" panose="020B0604020202020204" pitchFamily="34" charset="0"/>
          </a:endParaRPr>
        </a:p>
      </dgm:t>
    </dgm:pt>
    <dgm:pt modelId="{8ED04471-22A7-4715-A4F0-DA6F8E46E1B8}">
      <dgm:prSet phldrT="[Text]" phldr="0"/>
      <dgm:spPr/>
      <dgm:t>
        <a:bodyPr/>
        <a:lstStyle/>
        <a:p>
          <a:r>
            <a:rPr lang="en-SG">
              <a:latin typeface="Arial" panose="020B0604020202020204" pitchFamily="34" charset="0"/>
              <a:cs typeface="Arial" panose="020B0604020202020204" pitchFamily="34" charset="0"/>
            </a:rPr>
            <a:t>Evaluation of Recall, AUC, F1 Score, etc.</a:t>
          </a:r>
        </a:p>
      </dgm:t>
    </dgm:pt>
    <dgm:pt modelId="{26D0E1C9-077D-4C56-8178-FBE5F96BD099}" type="parTrans" cxnId="{B2CD755E-D1E3-4231-8C10-B5821CE1702E}">
      <dgm:prSet/>
      <dgm:spPr/>
      <dgm:t>
        <a:bodyPr/>
        <a:lstStyle/>
        <a:p>
          <a:endParaRPr lang="en-SG">
            <a:latin typeface="Arial" panose="020B0604020202020204" pitchFamily="34" charset="0"/>
            <a:cs typeface="Arial" panose="020B0604020202020204" pitchFamily="34" charset="0"/>
          </a:endParaRPr>
        </a:p>
      </dgm:t>
    </dgm:pt>
    <dgm:pt modelId="{78C744B5-98A4-4B25-8E4A-B9D75CFB5062}" type="sibTrans" cxnId="{B2CD755E-D1E3-4231-8C10-B5821CE1702E}">
      <dgm:prSet/>
      <dgm:spPr/>
      <dgm:t>
        <a:bodyPr/>
        <a:lstStyle/>
        <a:p>
          <a:endParaRPr lang="en-SG">
            <a:latin typeface="Arial" panose="020B0604020202020204" pitchFamily="34" charset="0"/>
            <a:cs typeface="Arial" panose="020B0604020202020204" pitchFamily="34" charset="0"/>
          </a:endParaRPr>
        </a:p>
      </dgm:t>
    </dgm:pt>
    <dgm:pt modelId="{23340D4E-1B97-4C08-9E5F-0707011A348D}">
      <dgm:prSet phldrT="[Text]" phldr="0"/>
      <dgm:spPr/>
      <dgm:t>
        <a:bodyPr/>
        <a:lstStyle/>
        <a:p>
          <a:r>
            <a:rPr lang="en-SG">
              <a:latin typeface="Arial" panose="020B0604020202020204" pitchFamily="34" charset="0"/>
              <a:cs typeface="Arial" panose="020B0604020202020204" pitchFamily="34" charset="0"/>
            </a:rPr>
            <a:t>Conclusion and discussions</a:t>
          </a:r>
        </a:p>
      </dgm:t>
    </dgm:pt>
    <dgm:pt modelId="{830DD95E-3B57-4CCD-9D02-5880A79C5479}" type="parTrans" cxnId="{AB1C8D61-46AD-43FF-882E-BF8F2F50FB98}">
      <dgm:prSet/>
      <dgm:spPr/>
      <dgm:t>
        <a:bodyPr/>
        <a:lstStyle/>
        <a:p>
          <a:endParaRPr lang="en-SG">
            <a:latin typeface="Arial" panose="020B0604020202020204" pitchFamily="34" charset="0"/>
            <a:cs typeface="Arial" panose="020B0604020202020204" pitchFamily="34" charset="0"/>
          </a:endParaRPr>
        </a:p>
      </dgm:t>
    </dgm:pt>
    <dgm:pt modelId="{E6D13B06-F809-44B3-8EED-EFDDCABD7713}" type="sibTrans" cxnId="{AB1C8D61-46AD-43FF-882E-BF8F2F50FB98}">
      <dgm:prSet/>
      <dgm:spPr/>
      <dgm:t>
        <a:bodyPr/>
        <a:lstStyle/>
        <a:p>
          <a:endParaRPr lang="en-SG">
            <a:latin typeface="Arial" panose="020B0604020202020204" pitchFamily="34" charset="0"/>
            <a:cs typeface="Arial" panose="020B0604020202020204" pitchFamily="34" charset="0"/>
          </a:endParaRPr>
        </a:p>
      </dgm:t>
    </dgm:pt>
    <dgm:pt modelId="{A75C5EB9-9FBF-4BB6-ABB7-E31894836A3E}">
      <dgm:prSet/>
      <dgm:spPr/>
      <dgm:t>
        <a:bodyPr/>
        <a:lstStyle/>
        <a:p>
          <a:r>
            <a:rPr lang="en-SG">
              <a:latin typeface="Arial" panose="020B0604020202020204" pitchFamily="34" charset="0"/>
              <a:cs typeface="Arial" panose="020B0604020202020204" pitchFamily="34" charset="0"/>
            </a:rPr>
            <a:t>Feature Engineering and Pre-processing</a:t>
          </a:r>
        </a:p>
      </dgm:t>
    </dgm:pt>
    <dgm:pt modelId="{31B1A386-8F9A-44D1-925B-B3D8025E29B7}" type="parTrans" cxnId="{E48DF212-B1DC-44AD-9F90-D83953837D9F}">
      <dgm:prSet/>
      <dgm:spPr/>
      <dgm:t>
        <a:bodyPr/>
        <a:lstStyle/>
        <a:p>
          <a:endParaRPr lang="en-SG"/>
        </a:p>
      </dgm:t>
    </dgm:pt>
    <dgm:pt modelId="{D0154767-9977-4030-BB04-45630C986D3B}" type="sibTrans" cxnId="{E48DF212-B1DC-44AD-9F90-D83953837D9F}">
      <dgm:prSet/>
      <dgm:spPr/>
      <dgm:t>
        <a:bodyPr/>
        <a:lstStyle/>
        <a:p>
          <a:endParaRPr lang="en-SG"/>
        </a:p>
      </dgm:t>
    </dgm:pt>
    <dgm:pt modelId="{093EF733-0CCD-4ED8-9689-FF044606CCB1}">
      <dgm:prSet phldrT="[Text]" phldr="0"/>
      <dgm:spPr/>
      <dgm:t>
        <a:bodyPr/>
        <a:lstStyle/>
        <a:p>
          <a:r>
            <a:rPr lang="en-SG">
              <a:latin typeface="Arial" panose="020B0604020202020204" pitchFamily="34" charset="0"/>
              <a:cs typeface="Arial" panose="020B0604020202020204" pitchFamily="34" charset="0"/>
            </a:rPr>
            <a:t>Missing value analysis</a:t>
          </a:r>
        </a:p>
      </dgm:t>
    </dgm:pt>
    <dgm:pt modelId="{E45695C2-4996-4EF4-8E49-52D3F693AD84}" type="parTrans" cxnId="{9F740466-7894-4A1D-B8C3-400E08E31AE4}">
      <dgm:prSet/>
      <dgm:spPr/>
      <dgm:t>
        <a:bodyPr/>
        <a:lstStyle/>
        <a:p>
          <a:endParaRPr lang="en-SG"/>
        </a:p>
      </dgm:t>
    </dgm:pt>
    <dgm:pt modelId="{B83EFB4A-F55D-4730-9196-1AA755B61DBD}" type="sibTrans" cxnId="{9F740466-7894-4A1D-B8C3-400E08E31AE4}">
      <dgm:prSet/>
      <dgm:spPr/>
      <dgm:t>
        <a:bodyPr/>
        <a:lstStyle/>
        <a:p>
          <a:endParaRPr lang="en-SG"/>
        </a:p>
      </dgm:t>
    </dgm:pt>
    <dgm:pt modelId="{17EB45DC-2ACC-424D-81F1-C0092AB4C35C}">
      <dgm:prSet phldrT="[Text]" phldr="0"/>
      <dgm:spPr/>
      <dgm:t>
        <a:bodyPr/>
        <a:lstStyle/>
        <a:p>
          <a:r>
            <a:rPr lang="en-SG">
              <a:latin typeface="Arial" panose="020B0604020202020204" pitchFamily="34" charset="0"/>
              <a:cs typeface="Arial" panose="020B0604020202020204" pitchFamily="34" charset="0"/>
            </a:rPr>
            <a:t>Class imbalance check</a:t>
          </a:r>
        </a:p>
      </dgm:t>
    </dgm:pt>
    <dgm:pt modelId="{751ACF66-62C9-42EB-9A17-FD0C07DCBDFB}" type="parTrans" cxnId="{8A8DE854-9026-4F30-A99D-AD2E2E3078BC}">
      <dgm:prSet/>
      <dgm:spPr/>
      <dgm:t>
        <a:bodyPr/>
        <a:lstStyle/>
        <a:p>
          <a:endParaRPr lang="en-SG"/>
        </a:p>
      </dgm:t>
    </dgm:pt>
    <dgm:pt modelId="{A82C0955-BCFA-4820-B8B8-9489DF94EDB9}" type="sibTrans" cxnId="{8A8DE854-9026-4F30-A99D-AD2E2E3078BC}">
      <dgm:prSet/>
      <dgm:spPr/>
      <dgm:t>
        <a:bodyPr/>
        <a:lstStyle/>
        <a:p>
          <a:endParaRPr lang="en-SG"/>
        </a:p>
      </dgm:t>
    </dgm:pt>
    <dgm:pt modelId="{9DCFD077-B4D3-4C4E-952F-F1F8B7385A92}">
      <dgm:prSet phldrT="[Text]" phldr="0"/>
      <dgm:spPr/>
      <dgm:t>
        <a:bodyPr/>
        <a:lstStyle/>
        <a:p>
          <a:r>
            <a:rPr lang="en-SG">
              <a:latin typeface="Arial" panose="020B0604020202020204" pitchFamily="34" charset="0"/>
              <a:cs typeface="Arial" panose="020B0604020202020204" pitchFamily="34" charset="0"/>
            </a:rPr>
            <a:t>Correlation matrix to identify redundant features </a:t>
          </a:r>
        </a:p>
      </dgm:t>
    </dgm:pt>
    <dgm:pt modelId="{9EAAA57F-7A76-4EF1-8909-207F65AC610B}" type="parTrans" cxnId="{B05C6985-85E9-43DE-AEF5-E745F8863CFE}">
      <dgm:prSet/>
      <dgm:spPr/>
      <dgm:t>
        <a:bodyPr/>
        <a:lstStyle/>
        <a:p>
          <a:endParaRPr lang="en-SG"/>
        </a:p>
      </dgm:t>
    </dgm:pt>
    <dgm:pt modelId="{50C30D98-D692-4D6E-B30D-12CE0F0FBC25}" type="sibTrans" cxnId="{B05C6985-85E9-43DE-AEF5-E745F8863CFE}">
      <dgm:prSet/>
      <dgm:spPr/>
      <dgm:t>
        <a:bodyPr/>
        <a:lstStyle/>
        <a:p>
          <a:endParaRPr lang="en-SG"/>
        </a:p>
      </dgm:t>
    </dgm:pt>
    <dgm:pt modelId="{DA99A747-1156-4584-A59A-30E80BA25DF0}">
      <dgm:prSet custT="1"/>
      <dgm:spPr/>
      <dgm:t>
        <a:bodyPr/>
        <a:lstStyle/>
        <a:p>
          <a:r>
            <a:rPr lang="en-SG" sz="1200" kern="1200">
              <a:latin typeface="Arial" panose="020B0604020202020204" pitchFamily="34" charset="0"/>
              <a:cs typeface="Arial" panose="020B0604020202020204" pitchFamily="34" charset="0"/>
            </a:rPr>
            <a:t>Feature engineering such </a:t>
          </a:r>
          <a:r>
            <a:rPr lang="en-US" sz="1200" kern="1200">
              <a:solidFill>
                <a:prstClr val="black">
                  <a:hueOff val="0"/>
                  <a:satOff val="0"/>
                  <a:lumOff val="0"/>
                  <a:alphaOff val="0"/>
                </a:prstClr>
              </a:solidFill>
              <a:latin typeface="Arial" panose="020B0604020202020204" pitchFamily="34" charset="0"/>
              <a:ea typeface="+mn-ea"/>
              <a:cs typeface="Arial" panose="020B0604020202020204" pitchFamily="34" charset="0"/>
            </a:rPr>
            <a:t>as rolling stats (mean, std, max), interaction features</a:t>
          </a:r>
          <a:endParaRPr lang="en-SG" sz="1200" kern="1200"/>
        </a:p>
      </dgm:t>
    </dgm:pt>
    <dgm:pt modelId="{176F715A-4D9B-43F8-B1F7-9865A6DD0E0A}" type="parTrans" cxnId="{38C96D9F-1954-4122-881D-9210576DD25D}">
      <dgm:prSet/>
      <dgm:spPr/>
      <dgm:t>
        <a:bodyPr/>
        <a:lstStyle/>
        <a:p>
          <a:endParaRPr lang="en-SG"/>
        </a:p>
      </dgm:t>
    </dgm:pt>
    <dgm:pt modelId="{497A7F5F-63D9-46FA-B1E6-D1CE5168A4B5}" type="sibTrans" cxnId="{38C96D9F-1954-4122-881D-9210576DD25D}">
      <dgm:prSet/>
      <dgm:spPr/>
      <dgm:t>
        <a:bodyPr/>
        <a:lstStyle/>
        <a:p>
          <a:endParaRPr lang="en-SG"/>
        </a:p>
      </dgm:t>
    </dgm:pt>
    <dgm:pt modelId="{D3180EB0-3991-4537-822B-CF6E406E3861}">
      <dgm:prSet/>
      <dgm:spPr/>
      <dgm:t>
        <a:bodyPr/>
        <a:lstStyle/>
        <a:p>
          <a:r>
            <a:rPr lang="en-SG" sz="1200" kern="1200">
              <a:latin typeface="Arial" panose="020B0604020202020204" pitchFamily="34" charset="0"/>
              <a:cs typeface="Arial" panose="020B0604020202020204" pitchFamily="34" charset="0"/>
            </a:rPr>
            <a:t>Training, validation, test, unseen data split</a:t>
          </a:r>
        </a:p>
      </dgm:t>
    </dgm:pt>
    <dgm:pt modelId="{E60E1405-629E-4780-A920-1015F16B70FC}" type="parTrans" cxnId="{FAD0940C-808D-4B41-87A0-B8B8CC498823}">
      <dgm:prSet/>
      <dgm:spPr/>
      <dgm:t>
        <a:bodyPr/>
        <a:lstStyle/>
        <a:p>
          <a:endParaRPr lang="en-SG"/>
        </a:p>
      </dgm:t>
    </dgm:pt>
    <dgm:pt modelId="{279EE860-EACC-41B2-9D37-345E36E9920D}" type="sibTrans" cxnId="{FAD0940C-808D-4B41-87A0-B8B8CC498823}">
      <dgm:prSet/>
      <dgm:spPr/>
      <dgm:t>
        <a:bodyPr/>
        <a:lstStyle/>
        <a:p>
          <a:endParaRPr lang="en-SG"/>
        </a:p>
      </dgm:t>
    </dgm:pt>
    <dgm:pt modelId="{0DB99E84-4F53-4C00-A42E-AA07998EE15E}">
      <dgm:prSet custT="1"/>
      <dgm:spPr/>
      <dgm:t>
        <a:bodyPr/>
        <a:lstStyle/>
        <a:p>
          <a:r>
            <a:rPr lang="en-SG" sz="1200" kern="1200">
              <a:latin typeface="Arial" panose="020B0604020202020204" pitchFamily="34" charset="0"/>
              <a:cs typeface="Arial" panose="020B0604020202020204" pitchFamily="34" charset="0"/>
            </a:rPr>
            <a:t>Feature selection and normalization (</a:t>
          </a:r>
          <a:r>
            <a:rPr lang="en-SG" sz="1200" kern="1200" err="1">
              <a:latin typeface="Arial" panose="020B0604020202020204" pitchFamily="34" charset="0"/>
              <a:cs typeface="Arial" panose="020B0604020202020204" pitchFamily="34" charset="0"/>
            </a:rPr>
            <a:t>MinMax</a:t>
          </a:r>
          <a:r>
            <a:rPr lang="en-SG" sz="1200" kern="1200">
              <a:latin typeface="Arial" panose="020B0604020202020204" pitchFamily="34" charset="0"/>
              <a:cs typeface="Arial" panose="020B0604020202020204" pitchFamily="34" charset="0"/>
            </a:rPr>
            <a:t> or </a:t>
          </a:r>
          <a:r>
            <a:rPr lang="en-SG" sz="1200" kern="1200" err="1">
              <a:latin typeface="Arial" panose="020B0604020202020204" pitchFamily="34" charset="0"/>
              <a:cs typeface="Arial" panose="020B0604020202020204" pitchFamily="34" charset="0"/>
            </a:rPr>
            <a:t>StandardScalar</a:t>
          </a:r>
          <a:r>
            <a:rPr lang="en-SG" sz="1200" kern="1200">
              <a:latin typeface="Arial" panose="020B0604020202020204" pitchFamily="34" charset="0"/>
              <a:cs typeface="Arial" panose="020B0604020202020204" pitchFamily="34" charset="0"/>
            </a:rPr>
            <a:t>)</a:t>
          </a:r>
          <a:endParaRPr lang="en-SG" sz="1200" kern="1200"/>
        </a:p>
      </dgm:t>
    </dgm:pt>
    <dgm:pt modelId="{8960AA2D-B986-454D-BA4C-48F6DEA96354}" type="parTrans" cxnId="{2FB87817-3432-47FA-AE63-E54899A85A15}">
      <dgm:prSet/>
      <dgm:spPr/>
      <dgm:t>
        <a:bodyPr/>
        <a:lstStyle/>
        <a:p>
          <a:endParaRPr lang="en-SG"/>
        </a:p>
      </dgm:t>
    </dgm:pt>
    <dgm:pt modelId="{6475A95F-D485-4D0E-9AA3-9B665E2DF7FB}" type="sibTrans" cxnId="{2FB87817-3432-47FA-AE63-E54899A85A15}">
      <dgm:prSet/>
      <dgm:spPr/>
      <dgm:t>
        <a:bodyPr/>
        <a:lstStyle/>
        <a:p>
          <a:endParaRPr lang="en-SG"/>
        </a:p>
      </dgm:t>
    </dgm:pt>
    <dgm:pt modelId="{5C339E6D-9702-466C-82C6-15A31746EE79}" type="pres">
      <dgm:prSet presAssocID="{CF291980-D906-4AC4-B1C0-9D223B0A0359}" presName="linearFlow" presStyleCnt="0">
        <dgm:presLayoutVars>
          <dgm:dir/>
          <dgm:animLvl val="lvl"/>
          <dgm:resizeHandles val="exact"/>
        </dgm:presLayoutVars>
      </dgm:prSet>
      <dgm:spPr/>
    </dgm:pt>
    <dgm:pt modelId="{EB13D56F-6C09-4DA3-990C-E7940EDB0D57}" type="pres">
      <dgm:prSet presAssocID="{8FF3E229-F2A3-4513-BBF7-E88FF1B25543}" presName="composite" presStyleCnt="0"/>
      <dgm:spPr/>
    </dgm:pt>
    <dgm:pt modelId="{15E757BD-A022-4078-ACC4-F1FD862870DF}" type="pres">
      <dgm:prSet presAssocID="{8FF3E229-F2A3-4513-BBF7-E88FF1B25543}" presName="parTx" presStyleLbl="node1" presStyleIdx="0" presStyleCnt="5">
        <dgm:presLayoutVars>
          <dgm:chMax val="0"/>
          <dgm:chPref val="0"/>
          <dgm:bulletEnabled val="1"/>
        </dgm:presLayoutVars>
      </dgm:prSet>
      <dgm:spPr/>
    </dgm:pt>
    <dgm:pt modelId="{C9814AB3-7C9E-4E92-886D-C7CDE8B381D6}" type="pres">
      <dgm:prSet presAssocID="{8FF3E229-F2A3-4513-BBF7-E88FF1B25543}" presName="parSh" presStyleLbl="node1" presStyleIdx="0" presStyleCnt="5"/>
      <dgm:spPr/>
    </dgm:pt>
    <dgm:pt modelId="{8AD4505C-2F54-4B1D-BEFB-2D66C37C17BF}" type="pres">
      <dgm:prSet presAssocID="{8FF3E229-F2A3-4513-BBF7-E88FF1B25543}" presName="desTx" presStyleLbl="fgAcc1" presStyleIdx="0" presStyleCnt="5">
        <dgm:presLayoutVars>
          <dgm:bulletEnabled val="1"/>
        </dgm:presLayoutVars>
      </dgm:prSet>
      <dgm:spPr/>
    </dgm:pt>
    <dgm:pt modelId="{C971E506-825A-48D6-B1D2-0F6116E3E57E}" type="pres">
      <dgm:prSet presAssocID="{544FEEA9-2D1D-4E70-8461-5CF9D441AC16}" presName="sibTrans" presStyleLbl="sibTrans2D1" presStyleIdx="0" presStyleCnt="4"/>
      <dgm:spPr/>
    </dgm:pt>
    <dgm:pt modelId="{0D112406-403B-4D8E-8889-0C169EBBD618}" type="pres">
      <dgm:prSet presAssocID="{544FEEA9-2D1D-4E70-8461-5CF9D441AC16}" presName="connTx" presStyleLbl="sibTrans2D1" presStyleIdx="0" presStyleCnt="4"/>
      <dgm:spPr/>
    </dgm:pt>
    <dgm:pt modelId="{A8BA7739-FFF2-4A2D-B2D6-CED62FEAA9FF}" type="pres">
      <dgm:prSet presAssocID="{A75C5EB9-9FBF-4BB6-ABB7-E31894836A3E}" presName="composite" presStyleCnt="0"/>
      <dgm:spPr/>
    </dgm:pt>
    <dgm:pt modelId="{4116B823-2182-4B4F-869D-7F33E1AE6637}" type="pres">
      <dgm:prSet presAssocID="{A75C5EB9-9FBF-4BB6-ABB7-E31894836A3E}" presName="parTx" presStyleLbl="node1" presStyleIdx="0" presStyleCnt="5">
        <dgm:presLayoutVars>
          <dgm:chMax val="0"/>
          <dgm:chPref val="0"/>
          <dgm:bulletEnabled val="1"/>
        </dgm:presLayoutVars>
      </dgm:prSet>
      <dgm:spPr/>
    </dgm:pt>
    <dgm:pt modelId="{6E37FE02-E448-4354-86F4-1465E4FEB934}" type="pres">
      <dgm:prSet presAssocID="{A75C5EB9-9FBF-4BB6-ABB7-E31894836A3E}" presName="parSh" presStyleLbl="node1" presStyleIdx="1" presStyleCnt="5"/>
      <dgm:spPr/>
    </dgm:pt>
    <dgm:pt modelId="{402BE8C3-3864-4CC6-8727-A3EE6EB6D703}" type="pres">
      <dgm:prSet presAssocID="{A75C5EB9-9FBF-4BB6-ABB7-E31894836A3E}" presName="desTx" presStyleLbl="fgAcc1" presStyleIdx="1" presStyleCnt="5">
        <dgm:presLayoutVars>
          <dgm:bulletEnabled val="1"/>
        </dgm:presLayoutVars>
      </dgm:prSet>
      <dgm:spPr/>
    </dgm:pt>
    <dgm:pt modelId="{8C7C3256-30EA-41C8-98E1-81D61EC89855}" type="pres">
      <dgm:prSet presAssocID="{D0154767-9977-4030-BB04-45630C986D3B}" presName="sibTrans" presStyleLbl="sibTrans2D1" presStyleIdx="1" presStyleCnt="4"/>
      <dgm:spPr/>
    </dgm:pt>
    <dgm:pt modelId="{B8693FF3-C30A-4126-8610-DEAE6C3B9592}" type="pres">
      <dgm:prSet presAssocID="{D0154767-9977-4030-BB04-45630C986D3B}" presName="connTx" presStyleLbl="sibTrans2D1" presStyleIdx="1" presStyleCnt="4"/>
      <dgm:spPr/>
    </dgm:pt>
    <dgm:pt modelId="{9CB957DD-BCB2-42AF-A003-0BB4E9642F4F}" type="pres">
      <dgm:prSet presAssocID="{4609C0DF-9C8C-425C-B2DA-2C446A00EABC}" presName="composite" presStyleCnt="0"/>
      <dgm:spPr/>
    </dgm:pt>
    <dgm:pt modelId="{03AD32B2-51AB-4281-9064-945FEF664454}" type="pres">
      <dgm:prSet presAssocID="{4609C0DF-9C8C-425C-B2DA-2C446A00EABC}" presName="parTx" presStyleLbl="node1" presStyleIdx="1" presStyleCnt="5">
        <dgm:presLayoutVars>
          <dgm:chMax val="0"/>
          <dgm:chPref val="0"/>
          <dgm:bulletEnabled val="1"/>
        </dgm:presLayoutVars>
      </dgm:prSet>
      <dgm:spPr/>
    </dgm:pt>
    <dgm:pt modelId="{E4F04710-010F-4EA8-9EE3-B2A502DAA9E2}" type="pres">
      <dgm:prSet presAssocID="{4609C0DF-9C8C-425C-B2DA-2C446A00EABC}" presName="parSh" presStyleLbl="node1" presStyleIdx="2" presStyleCnt="5"/>
      <dgm:spPr/>
    </dgm:pt>
    <dgm:pt modelId="{5BDD5558-7195-47A3-BA3B-632547BBA6B3}" type="pres">
      <dgm:prSet presAssocID="{4609C0DF-9C8C-425C-B2DA-2C446A00EABC}" presName="desTx" presStyleLbl="fgAcc1" presStyleIdx="2" presStyleCnt="5">
        <dgm:presLayoutVars>
          <dgm:bulletEnabled val="1"/>
        </dgm:presLayoutVars>
      </dgm:prSet>
      <dgm:spPr/>
    </dgm:pt>
    <dgm:pt modelId="{69B59040-2E3A-4F88-9A3C-A4EEA3AC14C5}" type="pres">
      <dgm:prSet presAssocID="{FF3212F1-B0C8-48E2-B488-73B6C20F9EAC}" presName="sibTrans" presStyleLbl="sibTrans2D1" presStyleIdx="2" presStyleCnt="4"/>
      <dgm:spPr/>
    </dgm:pt>
    <dgm:pt modelId="{78DEA6D1-AC11-4328-942A-70BCFF69867A}" type="pres">
      <dgm:prSet presAssocID="{FF3212F1-B0C8-48E2-B488-73B6C20F9EAC}" presName="connTx" presStyleLbl="sibTrans2D1" presStyleIdx="2" presStyleCnt="4"/>
      <dgm:spPr/>
    </dgm:pt>
    <dgm:pt modelId="{54E74FF5-5FD8-4B6E-8F5A-4C1776981D69}" type="pres">
      <dgm:prSet presAssocID="{38F2D1B7-3169-445F-BBEF-B674E4E0F8AB}" presName="composite" presStyleCnt="0"/>
      <dgm:spPr/>
    </dgm:pt>
    <dgm:pt modelId="{081D0B83-615D-4994-8E9B-8AF80C5905F5}" type="pres">
      <dgm:prSet presAssocID="{38F2D1B7-3169-445F-BBEF-B674E4E0F8AB}" presName="parTx" presStyleLbl="node1" presStyleIdx="2" presStyleCnt="5">
        <dgm:presLayoutVars>
          <dgm:chMax val="0"/>
          <dgm:chPref val="0"/>
          <dgm:bulletEnabled val="1"/>
        </dgm:presLayoutVars>
      </dgm:prSet>
      <dgm:spPr/>
    </dgm:pt>
    <dgm:pt modelId="{C20825E4-EF4C-400D-83DE-0EDE01C860EC}" type="pres">
      <dgm:prSet presAssocID="{38F2D1B7-3169-445F-BBEF-B674E4E0F8AB}" presName="parSh" presStyleLbl="node1" presStyleIdx="3" presStyleCnt="5"/>
      <dgm:spPr/>
    </dgm:pt>
    <dgm:pt modelId="{A6A98924-1169-4F52-B944-56160B43FF06}" type="pres">
      <dgm:prSet presAssocID="{38F2D1B7-3169-445F-BBEF-B674E4E0F8AB}" presName="desTx" presStyleLbl="fgAcc1" presStyleIdx="3" presStyleCnt="5">
        <dgm:presLayoutVars>
          <dgm:bulletEnabled val="1"/>
        </dgm:presLayoutVars>
      </dgm:prSet>
      <dgm:spPr/>
    </dgm:pt>
    <dgm:pt modelId="{8F4540E1-1CE8-47E3-A6A0-E595DA631171}" type="pres">
      <dgm:prSet presAssocID="{3207BF14-6883-47AA-A204-4DC4B2B1EC30}" presName="sibTrans" presStyleLbl="sibTrans2D1" presStyleIdx="3" presStyleCnt="4"/>
      <dgm:spPr/>
    </dgm:pt>
    <dgm:pt modelId="{8E2891C6-CCA0-4B89-806E-D767834484ED}" type="pres">
      <dgm:prSet presAssocID="{3207BF14-6883-47AA-A204-4DC4B2B1EC30}" presName="connTx" presStyleLbl="sibTrans2D1" presStyleIdx="3" presStyleCnt="4"/>
      <dgm:spPr/>
    </dgm:pt>
    <dgm:pt modelId="{1C13FA27-F960-40A9-BC99-9199396CA921}" type="pres">
      <dgm:prSet presAssocID="{139F7B92-3DDB-4FC7-809D-BEB49EB7B154}" presName="composite" presStyleCnt="0"/>
      <dgm:spPr/>
    </dgm:pt>
    <dgm:pt modelId="{52523785-DA69-4C24-8E71-9C6521FF15A3}" type="pres">
      <dgm:prSet presAssocID="{139F7B92-3DDB-4FC7-809D-BEB49EB7B154}" presName="parTx" presStyleLbl="node1" presStyleIdx="3" presStyleCnt="5">
        <dgm:presLayoutVars>
          <dgm:chMax val="0"/>
          <dgm:chPref val="0"/>
          <dgm:bulletEnabled val="1"/>
        </dgm:presLayoutVars>
      </dgm:prSet>
      <dgm:spPr/>
    </dgm:pt>
    <dgm:pt modelId="{2627C21C-6A22-44C3-BE15-A62319D2ED14}" type="pres">
      <dgm:prSet presAssocID="{139F7B92-3DDB-4FC7-809D-BEB49EB7B154}" presName="parSh" presStyleLbl="node1" presStyleIdx="4" presStyleCnt="5"/>
      <dgm:spPr/>
    </dgm:pt>
    <dgm:pt modelId="{04903F85-7880-45BF-988F-6ED0795FADBC}" type="pres">
      <dgm:prSet presAssocID="{139F7B92-3DDB-4FC7-809D-BEB49EB7B154}" presName="desTx" presStyleLbl="fgAcc1" presStyleIdx="4" presStyleCnt="5">
        <dgm:presLayoutVars>
          <dgm:bulletEnabled val="1"/>
        </dgm:presLayoutVars>
      </dgm:prSet>
      <dgm:spPr/>
    </dgm:pt>
  </dgm:ptLst>
  <dgm:cxnLst>
    <dgm:cxn modelId="{F7C23A00-F61E-4F73-A7DA-842D61D98FB6}" type="presOf" srcId="{23340D4E-1B97-4C08-9E5F-0707011A348D}" destId="{04903F85-7880-45BF-988F-6ED0795FADBC}" srcOrd="0" destOrd="1" presId="urn:microsoft.com/office/officeart/2005/8/layout/process3"/>
    <dgm:cxn modelId="{BA30EB07-BC48-4248-A13E-DE1AFFD98421}" type="presOf" srcId="{7FA970F4-F06A-44BE-9859-8A7FE552D4D3}" destId="{A6A98924-1169-4F52-B944-56160B43FF06}" srcOrd="0" destOrd="0" presId="urn:microsoft.com/office/officeart/2005/8/layout/process3"/>
    <dgm:cxn modelId="{2F02340A-F8F8-44C5-9EC9-6829C7413F60}" type="presOf" srcId="{544FEEA9-2D1D-4E70-8461-5CF9D441AC16}" destId="{0D112406-403B-4D8E-8889-0C169EBBD618}" srcOrd="1" destOrd="0" presId="urn:microsoft.com/office/officeart/2005/8/layout/process3"/>
    <dgm:cxn modelId="{FAD0940C-808D-4B41-87A0-B8B8CC498823}" srcId="{A75C5EB9-9FBF-4BB6-ABB7-E31894836A3E}" destId="{D3180EB0-3991-4537-822B-CF6E406E3861}" srcOrd="2" destOrd="0" parTransId="{E60E1405-629E-4780-A920-1015F16B70FC}" sibTransId="{279EE860-EACC-41B2-9D37-345E36E9920D}"/>
    <dgm:cxn modelId="{BB602610-1550-4B8C-B5E1-E464A776F47F}" type="presOf" srcId="{633A2B83-61B7-4CCB-9EA7-54193CE3D5AF}" destId="{5BDD5558-7195-47A3-BA3B-632547BBA6B3}" srcOrd="0" destOrd="1" presId="urn:microsoft.com/office/officeart/2005/8/layout/process3"/>
    <dgm:cxn modelId="{E48DF212-B1DC-44AD-9F90-D83953837D9F}" srcId="{CF291980-D906-4AC4-B1C0-9D223B0A0359}" destId="{A75C5EB9-9FBF-4BB6-ABB7-E31894836A3E}" srcOrd="1" destOrd="0" parTransId="{31B1A386-8F9A-44D1-925B-B3D8025E29B7}" sibTransId="{D0154767-9977-4030-BB04-45630C986D3B}"/>
    <dgm:cxn modelId="{2FB87817-3432-47FA-AE63-E54899A85A15}" srcId="{A75C5EB9-9FBF-4BB6-ABB7-E31894836A3E}" destId="{0DB99E84-4F53-4C00-A42E-AA07998EE15E}" srcOrd="1" destOrd="0" parTransId="{8960AA2D-B986-454D-BA4C-48F6DEA96354}" sibTransId="{6475A95F-D485-4D0E-9AA3-9B665E2DF7FB}"/>
    <dgm:cxn modelId="{E1901D18-0794-4E3A-B2B2-4A23D280A85C}" srcId="{4609C0DF-9C8C-425C-B2DA-2C446A00EABC}" destId="{C639D474-564A-4A40-B36E-2AB9973C8909}" srcOrd="0" destOrd="0" parTransId="{20702F18-5051-4A3D-86E2-21CBF372A1A8}" sibTransId="{68EEC680-0F5E-4B19-B6C1-BA7A240E20CF}"/>
    <dgm:cxn modelId="{552C6819-D418-4D19-9212-A5C80299763F}" type="presOf" srcId="{3207BF14-6883-47AA-A204-4DC4B2B1EC30}" destId="{8F4540E1-1CE8-47E3-A6A0-E595DA631171}" srcOrd="0" destOrd="0" presId="urn:microsoft.com/office/officeart/2005/8/layout/process3"/>
    <dgm:cxn modelId="{CB04C31B-3B3C-4694-9F19-0F2E564D0564}" srcId="{8FF3E229-F2A3-4513-BBF7-E88FF1B25543}" destId="{8E57A8C3-BFAD-447F-A0AF-A8511FC69237}" srcOrd="0" destOrd="0" parTransId="{A4E9F0F8-DC0A-4E90-9ACD-AC6549CC4495}" sibTransId="{923197E2-65C6-4604-8FD6-4D1C7053D2DB}"/>
    <dgm:cxn modelId="{753C2A28-BC0E-404F-95B5-CB0DE5A63A20}" type="presOf" srcId="{8E57A8C3-BFAD-447F-A0AF-A8511FC69237}" destId="{8AD4505C-2F54-4B1D-BEFB-2D66C37C17BF}" srcOrd="0" destOrd="0" presId="urn:microsoft.com/office/officeart/2005/8/layout/process3"/>
    <dgm:cxn modelId="{4B4E7132-59AF-4F2D-8D62-9B80944EB81E}" srcId="{CF291980-D906-4AC4-B1C0-9D223B0A0359}" destId="{8FF3E229-F2A3-4513-BBF7-E88FF1B25543}" srcOrd="0" destOrd="0" parTransId="{6FCC02D4-9ED6-45F4-A7AF-D9F2957A1384}" sibTransId="{544FEEA9-2D1D-4E70-8461-5CF9D441AC16}"/>
    <dgm:cxn modelId="{C4F1C832-B3E4-4863-A775-D505213883BF}" srcId="{CF291980-D906-4AC4-B1C0-9D223B0A0359}" destId="{4609C0DF-9C8C-425C-B2DA-2C446A00EABC}" srcOrd="2" destOrd="0" parTransId="{8109098A-528A-4323-8BCC-47BFDD899F0B}" sibTransId="{FF3212F1-B0C8-48E2-B488-73B6C20F9EAC}"/>
    <dgm:cxn modelId="{14BADB39-CA62-417E-A444-93009275135E}" type="presOf" srcId="{D0154767-9977-4030-BB04-45630C986D3B}" destId="{B8693FF3-C30A-4126-8610-DEAE6C3B9592}" srcOrd="1" destOrd="0" presId="urn:microsoft.com/office/officeart/2005/8/layout/process3"/>
    <dgm:cxn modelId="{9D7E8C3E-283A-46C4-9BDE-721C9ACCA589}" type="presOf" srcId="{4977B429-E359-428C-B702-5680BD8AA293}" destId="{A6A98924-1169-4F52-B944-56160B43FF06}" srcOrd="0" destOrd="1" presId="urn:microsoft.com/office/officeart/2005/8/layout/process3"/>
    <dgm:cxn modelId="{FD5E373F-4FA6-4F17-B9EA-CA7FE783CA7D}" type="presOf" srcId="{4609C0DF-9C8C-425C-B2DA-2C446A00EABC}" destId="{03AD32B2-51AB-4281-9064-945FEF664454}" srcOrd="0" destOrd="0" presId="urn:microsoft.com/office/officeart/2005/8/layout/process3"/>
    <dgm:cxn modelId="{B2CD755E-D1E3-4231-8C10-B5821CE1702E}" srcId="{139F7B92-3DDB-4FC7-809D-BEB49EB7B154}" destId="{8ED04471-22A7-4715-A4F0-DA6F8E46E1B8}" srcOrd="0" destOrd="0" parTransId="{26D0E1C9-077D-4C56-8178-FBE5F96BD099}" sibTransId="{78C744B5-98A4-4B25-8E4A-B9D75CFB5062}"/>
    <dgm:cxn modelId="{837CCA5F-8B47-4A2E-B3CB-7A3E1E35F1D4}" type="presOf" srcId="{A75C5EB9-9FBF-4BB6-ABB7-E31894836A3E}" destId="{4116B823-2182-4B4F-869D-7F33E1AE6637}" srcOrd="0" destOrd="0" presId="urn:microsoft.com/office/officeart/2005/8/layout/process3"/>
    <dgm:cxn modelId="{59861E41-90E4-4B91-84D0-F2292415EFF3}" type="presOf" srcId="{093EF733-0CCD-4ED8-9689-FF044606CCB1}" destId="{8AD4505C-2F54-4B1D-BEFB-2D66C37C17BF}" srcOrd="0" destOrd="2" presId="urn:microsoft.com/office/officeart/2005/8/layout/process3"/>
    <dgm:cxn modelId="{AB1C8D61-46AD-43FF-882E-BF8F2F50FB98}" srcId="{139F7B92-3DDB-4FC7-809D-BEB49EB7B154}" destId="{23340D4E-1B97-4C08-9E5F-0707011A348D}" srcOrd="1" destOrd="0" parTransId="{830DD95E-3B57-4CCD-9D02-5880A79C5479}" sibTransId="{E6D13B06-F809-44B3-8EED-EFDDCABD7713}"/>
    <dgm:cxn modelId="{9F740466-7894-4A1D-B8C3-400E08E31AE4}" srcId="{8FF3E229-F2A3-4513-BBF7-E88FF1B25543}" destId="{093EF733-0CCD-4ED8-9689-FF044606CCB1}" srcOrd="2" destOrd="0" parTransId="{E45695C2-4996-4EF4-8E49-52D3F693AD84}" sibTransId="{B83EFB4A-F55D-4730-9196-1AA755B61DBD}"/>
    <dgm:cxn modelId="{8AABB266-4390-440E-87E1-CD78924B18E2}" srcId="{4609C0DF-9C8C-425C-B2DA-2C446A00EABC}" destId="{633A2B83-61B7-4CCB-9EA7-54193CE3D5AF}" srcOrd="1" destOrd="0" parTransId="{59AE4824-8AFE-41ED-8637-79F6B5AE2BF5}" sibTransId="{E3B5921B-3F82-4EFD-A685-C509EA430F4A}"/>
    <dgm:cxn modelId="{3496026C-7F86-4019-A156-6856DD107E1D}" type="presOf" srcId="{DA99A747-1156-4584-A59A-30E80BA25DF0}" destId="{402BE8C3-3864-4CC6-8727-A3EE6EB6D703}" srcOrd="0" destOrd="0" presId="urn:microsoft.com/office/officeart/2005/8/layout/process3"/>
    <dgm:cxn modelId="{70116851-E031-4271-B349-D3F4A41F48FC}" type="presOf" srcId="{8FF3E229-F2A3-4513-BBF7-E88FF1B25543}" destId="{C9814AB3-7C9E-4E92-886D-C7CDE8B381D6}" srcOrd="1" destOrd="0" presId="urn:microsoft.com/office/officeart/2005/8/layout/process3"/>
    <dgm:cxn modelId="{30D85251-173B-40EE-88DC-B420CADCBB71}" type="presOf" srcId="{38F2D1B7-3169-445F-BBEF-B674E4E0F8AB}" destId="{081D0B83-615D-4994-8E9B-8AF80C5905F5}" srcOrd="0" destOrd="0" presId="urn:microsoft.com/office/officeart/2005/8/layout/process3"/>
    <dgm:cxn modelId="{A429B172-5608-4983-B3EB-56148A480AD6}" type="presOf" srcId="{38F2D1B7-3169-445F-BBEF-B674E4E0F8AB}" destId="{C20825E4-EF4C-400D-83DE-0EDE01C860EC}" srcOrd="1" destOrd="0" presId="urn:microsoft.com/office/officeart/2005/8/layout/process3"/>
    <dgm:cxn modelId="{769BE252-6A74-45CE-AA25-32BB089EF36B}" type="presOf" srcId="{17EB45DC-2ACC-424D-81F1-C0092AB4C35C}" destId="{8AD4505C-2F54-4B1D-BEFB-2D66C37C17BF}" srcOrd="0" destOrd="3" presId="urn:microsoft.com/office/officeart/2005/8/layout/process3"/>
    <dgm:cxn modelId="{41C6BB54-F8B2-4926-A64C-09EA0801CFD8}" type="presOf" srcId="{0DB99E84-4F53-4C00-A42E-AA07998EE15E}" destId="{402BE8C3-3864-4CC6-8727-A3EE6EB6D703}" srcOrd="0" destOrd="1" presId="urn:microsoft.com/office/officeart/2005/8/layout/process3"/>
    <dgm:cxn modelId="{8A8DE854-9026-4F30-A99D-AD2E2E3078BC}" srcId="{8FF3E229-F2A3-4513-BBF7-E88FF1B25543}" destId="{17EB45DC-2ACC-424D-81F1-C0092AB4C35C}" srcOrd="3" destOrd="0" parTransId="{751ACF66-62C9-42EB-9A17-FD0C07DCBDFB}" sibTransId="{A82C0955-BCFA-4820-B8B8-9489DF94EDB9}"/>
    <dgm:cxn modelId="{158F2856-A941-4F73-94C8-7DFE826340BD}" type="presOf" srcId="{CF291980-D906-4AC4-B1C0-9D223B0A0359}" destId="{5C339E6D-9702-466C-82C6-15A31746EE79}" srcOrd="0" destOrd="0" presId="urn:microsoft.com/office/officeart/2005/8/layout/process3"/>
    <dgm:cxn modelId="{C5122577-03D9-4C74-8BB1-8E718CFC68EC}" srcId="{CF291980-D906-4AC4-B1C0-9D223B0A0359}" destId="{139F7B92-3DDB-4FC7-809D-BEB49EB7B154}" srcOrd="4" destOrd="0" parTransId="{88A8BD5E-3B9F-4C5B-8D5D-A56A91CA940B}" sibTransId="{6D6B2103-F181-456D-9C16-3AE19B78F0EB}"/>
    <dgm:cxn modelId="{20E51559-2302-4397-8806-360E21AB067B}" type="presOf" srcId="{C639D474-564A-4A40-B36E-2AB9973C8909}" destId="{5BDD5558-7195-47A3-BA3B-632547BBA6B3}" srcOrd="0" destOrd="0" presId="urn:microsoft.com/office/officeart/2005/8/layout/process3"/>
    <dgm:cxn modelId="{5DA6045A-C106-418F-94A7-57768FF5FEF6}" type="presOf" srcId="{FF3212F1-B0C8-48E2-B488-73B6C20F9EAC}" destId="{69B59040-2E3A-4F88-9A3C-A4EEA3AC14C5}" srcOrd="0" destOrd="0" presId="urn:microsoft.com/office/officeart/2005/8/layout/process3"/>
    <dgm:cxn modelId="{0CF2E280-F373-4C9D-9B23-7E81D5C7FE2B}" srcId="{8FF3E229-F2A3-4513-BBF7-E88FF1B25543}" destId="{9CF14E27-033E-4F99-9671-0ED911A8A1D5}" srcOrd="1" destOrd="0" parTransId="{B58FC136-8A6A-4BB1-92CE-B4B306C445C5}" sibTransId="{03DE357B-DB25-4B80-84BB-916B7DD536DC}"/>
    <dgm:cxn modelId="{76DE4882-F598-495A-A973-312080200284}" type="presOf" srcId="{3207BF14-6883-47AA-A204-4DC4B2B1EC30}" destId="{8E2891C6-CCA0-4B89-806E-D767834484ED}" srcOrd="1" destOrd="0" presId="urn:microsoft.com/office/officeart/2005/8/layout/process3"/>
    <dgm:cxn modelId="{B05C6985-85E9-43DE-AEF5-E745F8863CFE}" srcId="{8FF3E229-F2A3-4513-BBF7-E88FF1B25543}" destId="{9DCFD077-B4D3-4C4E-952F-F1F8B7385A92}" srcOrd="4" destOrd="0" parTransId="{9EAAA57F-7A76-4EF1-8909-207F65AC610B}" sibTransId="{50C30D98-D692-4D6E-B30D-12CE0F0FBC25}"/>
    <dgm:cxn modelId="{47EDC385-E61B-46DD-BA29-3713A8F6287A}" srcId="{38F2D1B7-3169-445F-BBEF-B674E4E0F8AB}" destId="{4977B429-E359-428C-B702-5680BD8AA293}" srcOrd="1" destOrd="0" parTransId="{2DC49A0E-3273-42C6-B98E-24D74A14304E}" sibTransId="{E22B4681-6271-4A8B-94BF-7355624A5B1B}"/>
    <dgm:cxn modelId="{8DE31E8E-AB5D-491F-A960-999E4A662819}" type="presOf" srcId="{8FF3E229-F2A3-4513-BBF7-E88FF1B25543}" destId="{15E757BD-A022-4078-ACC4-F1FD862870DF}" srcOrd="0" destOrd="0" presId="urn:microsoft.com/office/officeart/2005/8/layout/process3"/>
    <dgm:cxn modelId="{E9B0FA93-B303-4672-AA09-8F0A8CB2555E}" type="presOf" srcId="{4609C0DF-9C8C-425C-B2DA-2C446A00EABC}" destId="{E4F04710-010F-4EA8-9EE3-B2A502DAA9E2}" srcOrd="1" destOrd="0" presId="urn:microsoft.com/office/officeart/2005/8/layout/process3"/>
    <dgm:cxn modelId="{38C96D9F-1954-4122-881D-9210576DD25D}" srcId="{A75C5EB9-9FBF-4BB6-ABB7-E31894836A3E}" destId="{DA99A747-1156-4584-A59A-30E80BA25DF0}" srcOrd="0" destOrd="0" parTransId="{176F715A-4D9B-43F8-B1F7-9865A6DD0E0A}" sibTransId="{497A7F5F-63D9-46FA-B1E6-D1CE5168A4B5}"/>
    <dgm:cxn modelId="{72AA33AB-91A1-475B-B80B-05B87E40FCDD}" type="presOf" srcId="{8ED04471-22A7-4715-A4F0-DA6F8E46E1B8}" destId="{04903F85-7880-45BF-988F-6ED0795FADBC}" srcOrd="0" destOrd="0" presId="urn:microsoft.com/office/officeart/2005/8/layout/process3"/>
    <dgm:cxn modelId="{60512FAD-0745-4D29-B48B-CDF9DC6A5572}" type="presOf" srcId="{D3180EB0-3991-4537-822B-CF6E406E3861}" destId="{402BE8C3-3864-4CC6-8727-A3EE6EB6D703}" srcOrd="0" destOrd="2" presId="urn:microsoft.com/office/officeart/2005/8/layout/process3"/>
    <dgm:cxn modelId="{17C4BBB0-DDAA-439F-9205-6276A2DE248D}" type="presOf" srcId="{544FEEA9-2D1D-4E70-8461-5CF9D441AC16}" destId="{C971E506-825A-48D6-B1D2-0F6116E3E57E}" srcOrd="0" destOrd="0" presId="urn:microsoft.com/office/officeart/2005/8/layout/process3"/>
    <dgm:cxn modelId="{E0871BBF-8853-4D8F-B414-4819A297388C}" type="presOf" srcId="{FF3212F1-B0C8-48E2-B488-73B6C20F9EAC}" destId="{78DEA6D1-AC11-4328-942A-70BCFF69867A}" srcOrd="1" destOrd="0" presId="urn:microsoft.com/office/officeart/2005/8/layout/process3"/>
    <dgm:cxn modelId="{9A8BC2D7-C409-44FA-9677-18F8108CF6A1}" srcId="{CF291980-D906-4AC4-B1C0-9D223B0A0359}" destId="{38F2D1B7-3169-445F-BBEF-B674E4E0F8AB}" srcOrd="3" destOrd="0" parTransId="{B83F3665-EEA6-42FC-BF4C-51460BABDEBC}" sibTransId="{3207BF14-6883-47AA-A204-4DC4B2B1EC30}"/>
    <dgm:cxn modelId="{EDA296D8-557B-4021-AC1F-E819034BA488}" type="presOf" srcId="{9DCFD077-B4D3-4C4E-952F-F1F8B7385A92}" destId="{8AD4505C-2F54-4B1D-BEFB-2D66C37C17BF}" srcOrd="0" destOrd="4" presId="urn:microsoft.com/office/officeart/2005/8/layout/process3"/>
    <dgm:cxn modelId="{30E0B1D8-BD71-448D-8584-DF11955A8180}" type="presOf" srcId="{139F7B92-3DDB-4FC7-809D-BEB49EB7B154}" destId="{2627C21C-6A22-44C3-BE15-A62319D2ED14}" srcOrd="1" destOrd="0" presId="urn:microsoft.com/office/officeart/2005/8/layout/process3"/>
    <dgm:cxn modelId="{B9DA31DE-411A-4E62-ACA5-EDE0236021C2}" type="presOf" srcId="{D0154767-9977-4030-BB04-45630C986D3B}" destId="{8C7C3256-30EA-41C8-98E1-81D61EC89855}" srcOrd="0" destOrd="0" presId="urn:microsoft.com/office/officeart/2005/8/layout/process3"/>
    <dgm:cxn modelId="{D69FCEEA-8F6C-48C7-B952-7DA28E70EBAF}" srcId="{38F2D1B7-3169-445F-BBEF-B674E4E0F8AB}" destId="{7FA970F4-F06A-44BE-9859-8A7FE552D4D3}" srcOrd="0" destOrd="0" parTransId="{7CFFAFC2-5016-4B54-A0E0-683CC2F17C42}" sibTransId="{3FECB783-C1FA-48DC-88D2-8846D6630F91}"/>
    <dgm:cxn modelId="{A721F9EB-0894-4251-A9EE-1CA6FFC20A0C}" type="presOf" srcId="{9CF14E27-033E-4F99-9671-0ED911A8A1D5}" destId="{8AD4505C-2F54-4B1D-BEFB-2D66C37C17BF}" srcOrd="0" destOrd="1" presId="urn:microsoft.com/office/officeart/2005/8/layout/process3"/>
    <dgm:cxn modelId="{679943EC-5922-40FD-9802-DBB454CAE0E4}" type="presOf" srcId="{A75C5EB9-9FBF-4BB6-ABB7-E31894836A3E}" destId="{6E37FE02-E448-4354-86F4-1465E4FEB934}" srcOrd="1" destOrd="0" presId="urn:microsoft.com/office/officeart/2005/8/layout/process3"/>
    <dgm:cxn modelId="{CA71A7FB-79E0-43E5-9EF4-CFD5F9D753B8}" type="presOf" srcId="{139F7B92-3DDB-4FC7-809D-BEB49EB7B154}" destId="{52523785-DA69-4C24-8E71-9C6521FF15A3}" srcOrd="0" destOrd="0" presId="urn:microsoft.com/office/officeart/2005/8/layout/process3"/>
    <dgm:cxn modelId="{3EDF4918-CBBD-42BE-A8FE-8BFD624880CA}" type="presParOf" srcId="{5C339E6D-9702-466C-82C6-15A31746EE79}" destId="{EB13D56F-6C09-4DA3-990C-E7940EDB0D57}" srcOrd="0" destOrd="0" presId="urn:microsoft.com/office/officeart/2005/8/layout/process3"/>
    <dgm:cxn modelId="{44FE55C4-3A0E-4B77-8AA5-096916162FE2}" type="presParOf" srcId="{EB13D56F-6C09-4DA3-990C-E7940EDB0D57}" destId="{15E757BD-A022-4078-ACC4-F1FD862870DF}" srcOrd="0" destOrd="0" presId="urn:microsoft.com/office/officeart/2005/8/layout/process3"/>
    <dgm:cxn modelId="{155DA020-F68F-4244-AF1B-9C5C9C1EAE0D}" type="presParOf" srcId="{EB13D56F-6C09-4DA3-990C-E7940EDB0D57}" destId="{C9814AB3-7C9E-4E92-886D-C7CDE8B381D6}" srcOrd="1" destOrd="0" presId="urn:microsoft.com/office/officeart/2005/8/layout/process3"/>
    <dgm:cxn modelId="{8468996F-3EF3-43E0-87EE-E2C052998EA3}" type="presParOf" srcId="{EB13D56F-6C09-4DA3-990C-E7940EDB0D57}" destId="{8AD4505C-2F54-4B1D-BEFB-2D66C37C17BF}" srcOrd="2" destOrd="0" presId="urn:microsoft.com/office/officeart/2005/8/layout/process3"/>
    <dgm:cxn modelId="{4244C792-9E27-452C-BF39-FAF2543376B4}" type="presParOf" srcId="{5C339E6D-9702-466C-82C6-15A31746EE79}" destId="{C971E506-825A-48D6-B1D2-0F6116E3E57E}" srcOrd="1" destOrd="0" presId="urn:microsoft.com/office/officeart/2005/8/layout/process3"/>
    <dgm:cxn modelId="{8843B949-C0FE-40EC-A6EB-31B55A0307B1}" type="presParOf" srcId="{C971E506-825A-48D6-B1D2-0F6116E3E57E}" destId="{0D112406-403B-4D8E-8889-0C169EBBD618}" srcOrd="0" destOrd="0" presId="urn:microsoft.com/office/officeart/2005/8/layout/process3"/>
    <dgm:cxn modelId="{AF0218B2-D487-493A-8E77-7CF8E97E4777}" type="presParOf" srcId="{5C339E6D-9702-466C-82C6-15A31746EE79}" destId="{A8BA7739-FFF2-4A2D-B2D6-CED62FEAA9FF}" srcOrd="2" destOrd="0" presId="urn:microsoft.com/office/officeart/2005/8/layout/process3"/>
    <dgm:cxn modelId="{CF66A839-DEE1-4371-B25E-69D40B69AD48}" type="presParOf" srcId="{A8BA7739-FFF2-4A2D-B2D6-CED62FEAA9FF}" destId="{4116B823-2182-4B4F-869D-7F33E1AE6637}" srcOrd="0" destOrd="0" presId="urn:microsoft.com/office/officeart/2005/8/layout/process3"/>
    <dgm:cxn modelId="{4459D9A4-CD38-41FC-99C3-6CAAACD5640D}" type="presParOf" srcId="{A8BA7739-FFF2-4A2D-B2D6-CED62FEAA9FF}" destId="{6E37FE02-E448-4354-86F4-1465E4FEB934}" srcOrd="1" destOrd="0" presId="urn:microsoft.com/office/officeart/2005/8/layout/process3"/>
    <dgm:cxn modelId="{4FA2AC4F-A6B3-4458-AFAA-E280B0782162}" type="presParOf" srcId="{A8BA7739-FFF2-4A2D-B2D6-CED62FEAA9FF}" destId="{402BE8C3-3864-4CC6-8727-A3EE6EB6D703}" srcOrd="2" destOrd="0" presId="urn:microsoft.com/office/officeart/2005/8/layout/process3"/>
    <dgm:cxn modelId="{FABE28DB-A01B-473E-80F3-5A9412C06299}" type="presParOf" srcId="{5C339E6D-9702-466C-82C6-15A31746EE79}" destId="{8C7C3256-30EA-41C8-98E1-81D61EC89855}" srcOrd="3" destOrd="0" presId="urn:microsoft.com/office/officeart/2005/8/layout/process3"/>
    <dgm:cxn modelId="{77176AA2-3B64-4C5C-A85A-1519CC6E49C1}" type="presParOf" srcId="{8C7C3256-30EA-41C8-98E1-81D61EC89855}" destId="{B8693FF3-C30A-4126-8610-DEAE6C3B9592}" srcOrd="0" destOrd="0" presId="urn:microsoft.com/office/officeart/2005/8/layout/process3"/>
    <dgm:cxn modelId="{AE915146-B830-4346-8F97-D3F88543EB89}" type="presParOf" srcId="{5C339E6D-9702-466C-82C6-15A31746EE79}" destId="{9CB957DD-BCB2-42AF-A003-0BB4E9642F4F}" srcOrd="4" destOrd="0" presId="urn:microsoft.com/office/officeart/2005/8/layout/process3"/>
    <dgm:cxn modelId="{AF9AA1E1-A16F-439E-826D-690BA70C9A65}" type="presParOf" srcId="{9CB957DD-BCB2-42AF-A003-0BB4E9642F4F}" destId="{03AD32B2-51AB-4281-9064-945FEF664454}" srcOrd="0" destOrd="0" presId="urn:microsoft.com/office/officeart/2005/8/layout/process3"/>
    <dgm:cxn modelId="{3BA10C85-704C-494F-8F7E-FECC0575B9DB}" type="presParOf" srcId="{9CB957DD-BCB2-42AF-A003-0BB4E9642F4F}" destId="{E4F04710-010F-4EA8-9EE3-B2A502DAA9E2}" srcOrd="1" destOrd="0" presId="urn:microsoft.com/office/officeart/2005/8/layout/process3"/>
    <dgm:cxn modelId="{F6ED24DE-6067-4850-B336-354E2A8BB6CB}" type="presParOf" srcId="{9CB957DD-BCB2-42AF-A003-0BB4E9642F4F}" destId="{5BDD5558-7195-47A3-BA3B-632547BBA6B3}" srcOrd="2" destOrd="0" presId="urn:microsoft.com/office/officeart/2005/8/layout/process3"/>
    <dgm:cxn modelId="{FC632142-26B6-488C-9668-8D18C7DE4409}" type="presParOf" srcId="{5C339E6D-9702-466C-82C6-15A31746EE79}" destId="{69B59040-2E3A-4F88-9A3C-A4EEA3AC14C5}" srcOrd="5" destOrd="0" presId="urn:microsoft.com/office/officeart/2005/8/layout/process3"/>
    <dgm:cxn modelId="{11F0C408-46A5-4E34-B4F7-C50B0FC4F3B6}" type="presParOf" srcId="{69B59040-2E3A-4F88-9A3C-A4EEA3AC14C5}" destId="{78DEA6D1-AC11-4328-942A-70BCFF69867A}" srcOrd="0" destOrd="0" presId="urn:microsoft.com/office/officeart/2005/8/layout/process3"/>
    <dgm:cxn modelId="{1E4B20EE-8C3A-4541-8D6A-C6AADDDC73D7}" type="presParOf" srcId="{5C339E6D-9702-466C-82C6-15A31746EE79}" destId="{54E74FF5-5FD8-4B6E-8F5A-4C1776981D69}" srcOrd="6" destOrd="0" presId="urn:microsoft.com/office/officeart/2005/8/layout/process3"/>
    <dgm:cxn modelId="{33F1BC6C-6847-4680-B017-46B88921EDB0}" type="presParOf" srcId="{54E74FF5-5FD8-4B6E-8F5A-4C1776981D69}" destId="{081D0B83-615D-4994-8E9B-8AF80C5905F5}" srcOrd="0" destOrd="0" presId="urn:microsoft.com/office/officeart/2005/8/layout/process3"/>
    <dgm:cxn modelId="{9F733068-DCC0-4D11-9779-92021AF2F70F}" type="presParOf" srcId="{54E74FF5-5FD8-4B6E-8F5A-4C1776981D69}" destId="{C20825E4-EF4C-400D-83DE-0EDE01C860EC}" srcOrd="1" destOrd="0" presId="urn:microsoft.com/office/officeart/2005/8/layout/process3"/>
    <dgm:cxn modelId="{4876DDE9-76EF-4053-80E6-82E9D2065535}" type="presParOf" srcId="{54E74FF5-5FD8-4B6E-8F5A-4C1776981D69}" destId="{A6A98924-1169-4F52-B944-56160B43FF06}" srcOrd="2" destOrd="0" presId="urn:microsoft.com/office/officeart/2005/8/layout/process3"/>
    <dgm:cxn modelId="{8F5E8BF3-BC60-402E-B3FE-39CAEBE85009}" type="presParOf" srcId="{5C339E6D-9702-466C-82C6-15A31746EE79}" destId="{8F4540E1-1CE8-47E3-A6A0-E595DA631171}" srcOrd="7" destOrd="0" presId="urn:microsoft.com/office/officeart/2005/8/layout/process3"/>
    <dgm:cxn modelId="{A6F0C001-95D5-425A-AD1C-B38FF18E4356}" type="presParOf" srcId="{8F4540E1-1CE8-47E3-A6A0-E595DA631171}" destId="{8E2891C6-CCA0-4B89-806E-D767834484ED}" srcOrd="0" destOrd="0" presId="urn:microsoft.com/office/officeart/2005/8/layout/process3"/>
    <dgm:cxn modelId="{E63BAC8E-E059-4EE2-AF1D-C01B523097EE}" type="presParOf" srcId="{5C339E6D-9702-466C-82C6-15A31746EE79}" destId="{1C13FA27-F960-40A9-BC99-9199396CA921}" srcOrd="8" destOrd="0" presId="urn:microsoft.com/office/officeart/2005/8/layout/process3"/>
    <dgm:cxn modelId="{E7F86C6E-9F26-4B2B-94CC-219F96BB9785}" type="presParOf" srcId="{1C13FA27-F960-40A9-BC99-9199396CA921}" destId="{52523785-DA69-4C24-8E71-9C6521FF15A3}" srcOrd="0" destOrd="0" presId="urn:microsoft.com/office/officeart/2005/8/layout/process3"/>
    <dgm:cxn modelId="{49C6BC53-18FE-40F5-8147-12E4BE17A7A5}" type="presParOf" srcId="{1C13FA27-F960-40A9-BC99-9199396CA921}" destId="{2627C21C-6A22-44C3-BE15-A62319D2ED14}" srcOrd="1" destOrd="0" presId="urn:microsoft.com/office/officeart/2005/8/layout/process3"/>
    <dgm:cxn modelId="{BBDB115F-9BE0-4BD9-A1AE-BE6823B71B6A}" type="presParOf" srcId="{1C13FA27-F960-40A9-BC99-9199396CA921}" destId="{04903F85-7880-45BF-988F-6ED0795FADBC}"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636A0E-C56B-45E0-8F00-CE9EAA14C73D}" type="doc">
      <dgm:prSet loTypeId="urn:microsoft.com/office/officeart/2005/8/layout/radial6" loCatId="cycle" qsTypeId="urn:microsoft.com/office/officeart/2005/8/quickstyle/simple1" qsCatId="simple" csTypeId="urn:microsoft.com/office/officeart/2005/8/colors/colorful1" csCatId="colorful" phldr="1"/>
      <dgm:spPr/>
      <dgm:t>
        <a:bodyPr/>
        <a:lstStyle/>
        <a:p>
          <a:endParaRPr lang="en-SG"/>
        </a:p>
      </dgm:t>
    </dgm:pt>
    <dgm:pt modelId="{3B14912C-6058-4E02-B0F0-2C4B825AAAEB}">
      <dgm:prSet phldrT="[Text]" phldr="0"/>
      <dgm:spPr/>
      <dgm:t>
        <a:bodyPr/>
        <a:lstStyle/>
        <a:p>
          <a:r>
            <a:rPr lang="en-SG" b="1">
              <a:latin typeface="Arial" panose="020B0604020202020204" pitchFamily="34" charset="0"/>
              <a:cs typeface="Arial" panose="020B0604020202020204" pitchFamily="34" charset="0"/>
            </a:rPr>
            <a:t>MODELS FOR CONSIDERATION</a:t>
          </a:r>
        </a:p>
      </dgm:t>
    </dgm:pt>
    <dgm:pt modelId="{2DCE2F39-335A-4108-964E-889CB2606AB3}" type="parTrans" cxnId="{BDE61F6E-7766-4B7E-A524-9BF4AAC55F38}">
      <dgm:prSet/>
      <dgm:spPr/>
      <dgm:t>
        <a:bodyPr/>
        <a:lstStyle/>
        <a:p>
          <a:endParaRPr lang="en-SG"/>
        </a:p>
      </dgm:t>
    </dgm:pt>
    <dgm:pt modelId="{FC9FA508-20BF-4ACF-8C63-29C8343C0D4C}" type="sibTrans" cxnId="{BDE61F6E-7766-4B7E-A524-9BF4AAC55F38}">
      <dgm:prSet/>
      <dgm:spPr/>
      <dgm:t>
        <a:bodyPr/>
        <a:lstStyle/>
        <a:p>
          <a:endParaRPr lang="en-SG"/>
        </a:p>
      </dgm:t>
    </dgm:pt>
    <dgm:pt modelId="{79C0A437-447F-4AE8-AA3B-08601DFAEA43}">
      <dgm:prSet phldrT="[Text]" phldr="0" custT="1"/>
      <dgm:spPr/>
      <dgm:t>
        <a:bodyPr/>
        <a:lstStyle/>
        <a:p>
          <a:pPr rtl="0"/>
          <a:r>
            <a:rPr lang="en-SG" sz="1100" b="1" err="1">
              <a:latin typeface="Arial"/>
              <a:cs typeface="Arial"/>
            </a:rPr>
            <a:t>XGBoost</a:t>
          </a:r>
          <a:r>
            <a:rPr lang="en-SG" sz="1100" b="1">
              <a:latin typeface="Arial"/>
              <a:cs typeface="Arial"/>
            </a:rPr>
            <a:t> (Tabular aggregate features)</a:t>
          </a:r>
          <a:endParaRPr lang="en-SG" sz="1100" b="1"/>
        </a:p>
      </dgm:t>
    </dgm:pt>
    <dgm:pt modelId="{F064BE1E-BA0A-4C94-887A-392CC4125011}" type="parTrans" cxnId="{7DE7869F-CFDA-4B19-A27E-5089BBF9FDFB}">
      <dgm:prSet/>
      <dgm:spPr/>
      <dgm:t>
        <a:bodyPr/>
        <a:lstStyle/>
        <a:p>
          <a:endParaRPr lang="en-SG"/>
        </a:p>
      </dgm:t>
    </dgm:pt>
    <dgm:pt modelId="{A18A0A00-0363-4798-84CE-6B83EB6FDC4A}" type="sibTrans" cxnId="{7DE7869F-CFDA-4B19-A27E-5089BBF9FDFB}">
      <dgm:prSet/>
      <dgm:spPr/>
      <dgm:t>
        <a:bodyPr/>
        <a:lstStyle/>
        <a:p>
          <a:endParaRPr lang="en-SG"/>
        </a:p>
      </dgm:t>
    </dgm:pt>
    <dgm:pt modelId="{A19F0647-B42C-483B-83F3-B2818B3FEEBF}">
      <dgm:prSet phldrT="[Text]" phldr="0" custT="1"/>
      <dgm:spPr/>
      <dgm:t>
        <a:bodyPr/>
        <a:lstStyle/>
        <a:p>
          <a:pPr rtl="0"/>
          <a:r>
            <a:rPr lang="en-SG" sz="1100" b="1" err="1">
              <a:latin typeface="Arial"/>
              <a:cs typeface="Arial"/>
            </a:rPr>
            <a:t>MiniRocket</a:t>
          </a:r>
          <a:r>
            <a:rPr lang="en-SG" sz="1100" b="1">
              <a:latin typeface="Arial"/>
              <a:cs typeface="Arial"/>
            </a:rPr>
            <a:t> (Time Series)</a:t>
          </a:r>
          <a:endParaRPr lang="en-SG" sz="1100" b="1"/>
        </a:p>
      </dgm:t>
    </dgm:pt>
    <dgm:pt modelId="{C922BF2D-3D31-4C52-8252-C89584176B17}" type="parTrans" cxnId="{6F15990B-8DA3-46A0-882A-20FABA31D3D4}">
      <dgm:prSet/>
      <dgm:spPr/>
      <dgm:t>
        <a:bodyPr/>
        <a:lstStyle/>
        <a:p>
          <a:endParaRPr lang="en-SG"/>
        </a:p>
      </dgm:t>
    </dgm:pt>
    <dgm:pt modelId="{F4F33EF3-A505-403B-B276-A144BA411CC3}" type="sibTrans" cxnId="{6F15990B-8DA3-46A0-882A-20FABA31D3D4}">
      <dgm:prSet/>
      <dgm:spPr/>
      <dgm:t>
        <a:bodyPr/>
        <a:lstStyle/>
        <a:p>
          <a:endParaRPr lang="en-SG"/>
        </a:p>
      </dgm:t>
    </dgm:pt>
    <dgm:pt modelId="{D19542AA-A2D0-447A-B793-DD3A4AB7572D}">
      <dgm:prSet phldrT="[Text]" phldr="0" custT="1"/>
      <dgm:spPr/>
      <dgm:t>
        <a:bodyPr/>
        <a:lstStyle/>
        <a:p>
          <a:pPr rtl="0"/>
          <a:r>
            <a:rPr lang="en-SG" sz="1100" b="1">
              <a:latin typeface="Arial"/>
              <a:cs typeface="Arial"/>
            </a:rPr>
            <a:t>Inception</a:t>
          </a:r>
          <a:br>
            <a:rPr lang="en-SG" sz="1100" b="1">
              <a:latin typeface="Arial"/>
              <a:cs typeface="Arial"/>
            </a:rPr>
          </a:br>
          <a:r>
            <a:rPr lang="en-SG" sz="1100" b="1">
              <a:latin typeface="Arial"/>
              <a:cs typeface="Arial"/>
            </a:rPr>
            <a:t>Time (1D-CNN) (Time Series)</a:t>
          </a:r>
          <a:endParaRPr lang="en-SG" sz="1100" b="1"/>
        </a:p>
      </dgm:t>
    </dgm:pt>
    <dgm:pt modelId="{779321A6-B920-478D-8834-A07511522367}" type="parTrans" cxnId="{A6B3DCC6-8165-47D6-86CD-92B3378B65F0}">
      <dgm:prSet/>
      <dgm:spPr/>
      <dgm:t>
        <a:bodyPr/>
        <a:lstStyle/>
        <a:p>
          <a:endParaRPr lang="en-SG"/>
        </a:p>
      </dgm:t>
    </dgm:pt>
    <dgm:pt modelId="{ECDB3860-5200-4955-B035-FF8E8CF48554}" type="sibTrans" cxnId="{A6B3DCC6-8165-47D6-86CD-92B3378B65F0}">
      <dgm:prSet/>
      <dgm:spPr/>
      <dgm:t>
        <a:bodyPr/>
        <a:lstStyle/>
        <a:p>
          <a:endParaRPr lang="en-SG"/>
        </a:p>
      </dgm:t>
    </dgm:pt>
    <dgm:pt modelId="{AB15EC9F-0877-410B-B2BA-008B98DB9BDE}">
      <dgm:prSet phldrT="[Text]" phldr="0" custT="1"/>
      <dgm:spPr/>
      <dgm:t>
        <a:bodyPr/>
        <a:lstStyle/>
        <a:p>
          <a:pPr rtl="0"/>
          <a:r>
            <a:rPr lang="en-SG" sz="1100" b="1">
              <a:latin typeface="Arial"/>
              <a:cs typeface="Arial"/>
            </a:rPr>
            <a:t>Time Series </a:t>
          </a:r>
          <a:r>
            <a:rPr lang="en-SG" sz="1050" b="1">
              <a:latin typeface="Arial"/>
              <a:cs typeface="Arial"/>
            </a:rPr>
            <a:t>Transformer</a:t>
          </a:r>
          <a:endParaRPr lang="en-SG" sz="1050" b="1"/>
        </a:p>
      </dgm:t>
    </dgm:pt>
    <dgm:pt modelId="{DB0072B0-0B14-416D-AEDB-2E0974F91AAC}" type="parTrans" cxnId="{5411B142-75C0-4C2C-90DC-026ADB04BC97}">
      <dgm:prSet/>
      <dgm:spPr/>
      <dgm:t>
        <a:bodyPr/>
        <a:lstStyle/>
        <a:p>
          <a:endParaRPr lang="en-SG"/>
        </a:p>
      </dgm:t>
    </dgm:pt>
    <dgm:pt modelId="{1201FD30-6076-4400-85FF-D20D862343D5}" type="sibTrans" cxnId="{5411B142-75C0-4C2C-90DC-026ADB04BC97}">
      <dgm:prSet/>
      <dgm:spPr/>
      <dgm:t>
        <a:bodyPr/>
        <a:lstStyle/>
        <a:p>
          <a:endParaRPr lang="en-SG"/>
        </a:p>
      </dgm:t>
    </dgm:pt>
    <dgm:pt modelId="{89B0C59E-C387-4C8F-BBE8-1FFE8E4A080C}" type="pres">
      <dgm:prSet presAssocID="{31636A0E-C56B-45E0-8F00-CE9EAA14C73D}" presName="Name0" presStyleCnt="0">
        <dgm:presLayoutVars>
          <dgm:chMax val="1"/>
          <dgm:dir/>
          <dgm:animLvl val="ctr"/>
          <dgm:resizeHandles val="exact"/>
        </dgm:presLayoutVars>
      </dgm:prSet>
      <dgm:spPr/>
    </dgm:pt>
    <dgm:pt modelId="{372BC4AA-4261-4B5F-9776-354857C3ACC4}" type="pres">
      <dgm:prSet presAssocID="{3B14912C-6058-4E02-B0F0-2C4B825AAAEB}" presName="centerShape" presStyleLbl="node0" presStyleIdx="0" presStyleCnt="1"/>
      <dgm:spPr/>
    </dgm:pt>
    <dgm:pt modelId="{475BB9F2-C9C5-47B1-8A3D-468137D247FC}" type="pres">
      <dgm:prSet presAssocID="{79C0A437-447F-4AE8-AA3B-08601DFAEA43}" presName="node" presStyleLbl="node1" presStyleIdx="0" presStyleCnt="4">
        <dgm:presLayoutVars>
          <dgm:bulletEnabled val="1"/>
        </dgm:presLayoutVars>
      </dgm:prSet>
      <dgm:spPr/>
    </dgm:pt>
    <dgm:pt modelId="{877256F2-AFB5-4B59-9528-C490799D4B6C}" type="pres">
      <dgm:prSet presAssocID="{79C0A437-447F-4AE8-AA3B-08601DFAEA43}" presName="dummy" presStyleCnt="0"/>
      <dgm:spPr/>
    </dgm:pt>
    <dgm:pt modelId="{F1314343-3A97-4A1C-AA87-2260CC2D9303}" type="pres">
      <dgm:prSet presAssocID="{A18A0A00-0363-4798-84CE-6B83EB6FDC4A}" presName="sibTrans" presStyleLbl="sibTrans2D1" presStyleIdx="0" presStyleCnt="4"/>
      <dgm:spPr/>
    </dgm:pt>
    <dgm:pt modelId="{6D5A0B58-FDC4-400D-BCF0-A6A355A05036}" type="pres">
      <dgm:prSet presAssocID="{A19F0647-B42C-483B-83F3-B2818B3FEEBF}" presName="node" presStyleLbl="node1" presStyleIdx="1" presStyleCnt="4">
        <dgm:presLayoutVars>
          <dgm:bulletEnabled val="1"/>
        </dgm:presLayoutVars>
      </dgm:prSet>
      <dgm:spPr/>
    </dgm:pt>
    <dgm:pt modelId="{B32BC12F-08B2-4451-918D-2BE687A53580}" type="pres">
      <dgm:prSet presAssocID="{A19F0647-B42C-483B-83F3-B2818B3FEEBF}" presName="dummy" presStyleCnt="0"/>
      <dgm:spPr/>
    </dgm:pt>
    <dgm:pt modelId="{B1BEBD53-4075-455F-B434-3C8929403F86}" type="pres">
      <dgm:prSet presAssocID="{F4F33EF3-A505-403B-B276-A144BA411CC3}" presName="sibTrans" presStyleLbl="sibTrans2D1" presStyleIdx="1" presStyleCnt="4"/>
      <dgm:spPr/>
    </dgm:pt>
    <dgm:pt modelId="{25DC7DA0-CCBA-46F5-A521-0732A02867BD}" type="pres">
      <dgm:prSet presAssocID="{D19542AA-A2D0-447A-B793-DD3A4AB7572D}" presName="node" presStyleLbl="node1" presStyleIdx="2" presStyleCnt="4">
        <dgm:presLayoutVars>
          <dgm:bulletEnabled val="1"/>
        </dgm:presLayoutVars>
      </dgm:prSet>
      <dgm:spPr/>
    </dgm:pt>
    <dgm:pt modelId="{D2EA7298-C9A5-45BC-81EC-F19305302CDD}" type="pres">
      <dgm:prSet presAssocID="{D19542AA-A2D0-447A-B793-DD3A4AB7572D}" presName="dummy" presStyleCnt="0"/>
      <dgm:spPr/>
    </dgm:pt>
    <dgm:pt modelId="{610B36AE-655C-474D-A677-635C9B74C1A3}" type="pres">
      <dgm:prSet presAssocID="{ECDB3860-5200-4955-B035-FF8E8CF48554}" presName="sibTrans" presStyleLbl="sibTrans2D1" presStyleIdx="2" presStyleCnt="4"/>
      <dgm:spPr/>
    </dgm:pt>
    <dgm:pt modelId="{A7823E6C-A630-47B9-BB15-C00771475988}" type="pres">
      <dgm:prSet presAssocID="{AB15EC9F-0877-410B-B2BA-008B98DB9BDE}" presName="node" presStyleLbl="node1" presStyleIdx="3" presStyleCnt="4">
        <dgm:presLayoutVars>
          <dgm:bulletEnabled val="1"/>
        </dgm:presLayoutVars>
      </dgm:prSet>
      <dgm:spPr/>
    </dgm:pt>
    <dgm:pt modelId="{2514B883-C721-4794-9818-551C6522844A}" type="pres">
      <dgm:prSet presAssocID="{AB15EC9F-0877-410B-B2BA-008B98DB9BDE}" presName="dummy" presStyleCnt="0"/>
      <dgm:spPr/>
    </dgm:pt>
    <dgm:pt modelId="{62390CF4-BCA3-4B3E-96AD-EE02C69EA824}" type="pres">
      <dgm:prSet presAssocID="{1201FD30-6076-4400-85FF-D20D862343D5}" presName="sibTrans" presStyleLbl="sibTrans2D1" presStyleIdx="3" presStyleCnt="4"/>
      <dgm:spPr/>
    </dgm:pt>
  </dgm:ptLst>
  <dgm:cxnLst>
    <dgm:cxn modelId="{6F15990B-8DA3-46A0-882A-20FABA31D3D4}" srcId="{3B14912C-6058-4E02-B0F0-2C4B825AAAEB}" destId="{A19F0647-B42C-483B-83F3-B2818B3FEEBF}" srcOrd="1" destOrd="0" parTransId="{C922BF2D-3D31-4C52-8252-C89584176B17}" sibTransId="{F4F33EF3-A505-403B-B276-A144BA411CC3}"/>
    <dgm:cxn modelId="{8F80C821-4B23-4CBB-835D-5E664BB3B1AD}" type="presOf" srcId="{31636A0E-C56B-45E0-8F00-CE9EAA14C73D}" destId="{89B0C59E-C387-4C8F-BBE8-1FFE8E4A080C}" srcOrd="0" destOrd="0" presId="urn:microsoft.com/office/officeart/2005/8/layout/radial6"/>
    <dgm:cxn modelId="{DCF22C27-7BD9-4CBC-801F-DED0C3D56426}" type="presOf" srcId="{AB15EC9F-0877-410B-B2BA-008B98DB9BDE}" destId="{A7823E6C-A630-47B9-BB15-C00771475988}" srcOrd="0" destOrd="0" presId="urn:microsoft.com/office/officeart/2005/8/layout/radial6"/>
    <dgm:cxn modelId="{1E105F38-E131-49E4-BAAE-1936551BFF8C}" type="presOf" srcId="{A19F0647-B42C-483B-83F3-B2818B3FEEBF}" destId="{6D5A0B58-FDC4-400D-BCF0-A6A355A05036}" srcOrd="0" destOrd="0" presId="urn:microsoft.com/office/officeart/2005/8/layout/radial6"/>
    <dgm:cxn modelId="{A8D50861-53F2-4680-8CBE-69CBEB1FC631}" type="presOf" srcId="{F4F33EF3-A505-403B-B276-A144BA411CC3}" destId="{B1BEBD53-4075-455F-B434-3C8929403F86}" srcOrd="0" destOrd="0" presId="urn:microsoft.com/office/officeart/2005/8/layout/radial6"/>
    <dgm:cxn modelId="{5411B142-75C0-4C2C-90DC-026ADB04BC97}" srcId="{3B14912C-6058-4E02-B0F0-2C4B825AAAEB}" destId="{AB15EC9F-0877-410B-B2BA-008B98DB9BDE}" srcOrd="3" destOrd="0" parTransId="{DB0072B0-0B14-416D-AEDB-2E0974F91AAC}" sibTransId="{1201FD30-6076-4400-85FF-D20D862343D5}"/>
    <dgm:cxn modelId="{B1017E69-03BC-4CA6-A361-8F5668C711D2}" type="presOf" srcId="{79C0A437-447F-4AE8-AA3B-08601DFAEA43}" destId="{475BB9F2-C9C5-47B1-8A3D-468137D247FC}" srcOrd="0" destOrd="0" presId="urn:microsoft.com/office/officeart/2005/8/layout/radial6"/>
    <dgm:cxn modelId="{BDE61F6E-7766-4B7E-A524-9BF4AAC55F38}" srcId="{31636A0E-C56B-45E0-8F00-CE9EAA14C73D}" destId="{3B14912C-6058-4E02-B0F0-2C4B825AAAEB}" srcOrd="0" destOrd="0" parTransId="{2DCE2F39-335A-4108-964E-889CB2606AB3}" sibTransId="{FC9FA508-20BF-4ACF-8C63-29C8343C0D4C}"/>
    <dgm:cxn modelId="{B77F5A99-E976-4C1E-BA4A-8C3D70AC9133}" type="presOf" srcId="{1201FD30-6076-4400-85FF-D20D862343D5}" destId="{62390CF4-BCA3-4B3E-96AD-EE02C69EA824}" srcOrd="0" destOrd="0" presId="urn:microsoft.com/office/officeart/2005/8/layout/radial6"/>
    <dgm:cxn modelId="{7DE7869F-CFDA-4B19-A27E-5089BBF9FDFB}" srcId="{3B14912C-6058-4E02-B0F0-2C4B825AAAEB}" destId="{79C0A437-447F-4AE8-AA3B-08601DFAEA43}" srcOrd="0" destOrd="0" parTransId="{F064BE1E-BA0A-4C94-887A-392CC4125011}" sibTransId="{A18A0A00-0363-4798-84CE-6B83EB6FDC4A}"/>
    <dgm:cxn modelId="{800DE9B4-F902-4BED-9CC6-106B9EC6269D}" type="presOf" srcId="{A18A0A00-0363-4798-84CE-6B83EB6FDC4A}" destId="{F1314343-3A97-4A1C-AA87-2260CC2D9303}" srcOrd="0" destOrd="0" presId="urn:microsoft.com/office/officeart/2005/8/layout/radial6"/>
    <dgm:cxn modelId="{815743B8-24BB-4E91-8290-5A7F2F6CF61F}" type="presOf" srcId="{D19542AA-A2D0-447A-B793-DD3A4AB7572D}" destId="{25DC7DA0-CCBA-46F5-A521-0732A02867BD}" srcOrd="0" destOrd="0" presId="urn:microsoft.com/office/officeart/2005/8/layout/radial6"/>
    <dgm:cxn modelId="{6C13CCC2-C6A8-4C89-8BE8-18C1B0FC0013}" type="presOf" srcId="{3B14912C-6058-4E02-B0F0-2C4B825AAAEB}" destId="{372BC4AA-4261-4B5F-9776-354857C3ACC4}" srcOrd="0" destOrd="0" presId="urn:microsoft.com/office/officeart/2005/8/layout/radial6"/>
    <dgm:cxn modelId="{A6B3DCC6-8165-47D6-86CD-92B3378B65F0}" srcId="{3B14912C-6058-4E02-B0F0-2C4B825AAAEB}" destId="{D19542AA-A2D0-447A-B793-DD3A4AB7572D}" srcOrd="2" destOrd="0" parTransId="{779321A6-B920-478D-8834-A07511522367}" sibTransId="{ECDB3860-5200-4955-B035-FF8E8CF48554}"/>
    <dgm:cxn modelId="{ECFB19D0-E654-42F6-B279-5D49FD28071A}" type="presOf" srcId="{ECDB3860-5200-4955-B035-FF8E8CF48554}" destId="{610B36AE-655C-474D-A677-635C9B74C1A3}" srcOrd="0" destOrd="0" presId="urn:microsoft.com/office/officeart/2005/8/layout/radial6"/>
    <dgm:cxn modelId="{3C273A3A-87F8-4D18-95B8-31AC49828186}" type="presParOf" srcId="{89B0C59E-C387-4C8F-BBE8-1FFE8E4A080C}" destId="{372BC4AA-4261-4B5F-9776-354857C3ACC4}" srcOrd="0" destOrd="0" presId="urn:microsoft.com/office/officeart/2005/8/layout/radial6"/>
    <dgm:cxn modelId="{5392083B-F362-41BA-8F22-0A7A3E1B79CF}" type="presParOf" srcId="{89B0C59E-C387-4C8F-BBE8-1FFE8E4A080C}" destId="{475BB9F2-C9C5-47B1-8A3D-468137D247FC}" srcOrd="1" destOrd="0" presId="urn:microsoft.com/office/officeart/2005/8/layout/radial6"/>
    <dgm:cxn modelId="{7D63939B-8FDA-4321-AFF7-C8621257E17D}" type="presParOf" srcId="{89B0C59E-C387-4C8F-BBE8-1FFE8E4A080C}" destId="{877256F2-AFB5-4B59-9528-C490799D4B6C}" srcOrd="2" destOrd="0" presId="urn:microsoft.com/office/officeart/2005/8/layout/radial6"/>
    <dgm:cxn modelId="{A7BB3D15-1CD0-4B5F-93C6-D590E9E023EA}" type="presParOf" srcId="{89B0C59E-C387-4C8F-BBE8-1FFE8E4A080C}" destId="{F1314343-3A97-4A1C-AA87-2260CC2D9303}" srcOrd="3" destOrd="0" presId="urn:microsoft.com/office/officeart/2005/8/layout/radial6"/>
    <dgm:cxn modelId="{42142EC6-A567-4FC9-B9A6-DB9C42E042F8}" type="presParOf" srcId="{89B0C59E-C387-4C8F-BBE8-1FFE8E4A080C}" destId="{6D5A0B58-FDC4-400D-BCF0-A6A355A05036}" srcOrd="4" destOrd="0" presId="urn:microsoft.com/office/officeart/2005/8/layout/radial6"/>
    <dgm:cxn modelId="{F833B308-E89A-43D2-83DA-B949C8781835}" type="presParOf" srcId="{89B0C59E-C387-4C8F-BBE8-1FFE8E4A080C}" destId="{B32BC12F-08B2-4451-918D-2BE687A53580}" srcOrd="5" destOrd="0" presId="urn:microsoft.com/office/officeart/2005/8/layout/radial6"/>
    <dgm:cxn modelId="{D33279C9-9BCD-446F-B144-362DF869ABA1}" type="presParOf" srcId="{89B0C59E-C387-4C8F-BBE8-1FFE8E4A080C}" destId="{B1BEBD53-4075-455F-B434-3C8929403F86}" srcOrd="6" destOrd="0" presId="urn:microsoft.com/office/officeart/2005/8/layout/radial6"/>
    <dgm:cxn modelId="{5D9AC27A-9A39-4BE0-B410-594BC6B8FEE1}" type="presParOf" srcId="{89B0C59E-C387-4C8F-BBE8-1FFE8E4A080C}" destId="{25DC7DA0-CCBA-46F5-A521-0732A02867BD}" srcOrd="7" destOrd="0" presId="urn:microsoft.com/office/officeart/2005/8/layout/radial6"/>
    <dgm:cxn modelId="{96E6DAE6-2A73-45E5-8FAD-9572E79CE03F}" type="presParOf" srcId="{89B0C59E-C387-4C8F-BBE8-1FFE8E4A080C}" destId="{D2EA7298-C9A5-45BC-81EC-F19305302CDD}" srcOrd="8" destOrd="0" presId="urn:microsoft.com/office/officeart/2005/8/layout/radial6"/>
    <dgm:cxn modelId="{0C8B2398-6D06-40E9-B0CC-FA1F1D6A62B2}" type="presParOf" srcId="{89B0C59E-C387-4C8F-BBE8-1FFE8E4A080C}" destId="{610B36AE-655C-474D-A677-635C9B74C1A3}" srcOrd="9" destOrd="0" presId="urn:microsoft.com/office/officeart/2005/8/layout/radial6"/>
    <dgm:cxn modelId="{3E108DE9-6B80-43FB-A990-3753D6186E35}" type="presParOf" srcId="{89B0C59E-C387-4C8F-BBE8-1FFE8E4A080C}" destId="{A7823E6C-A630-47B9-BB15-C00771475988}" srcOrd="10" destOrd="0" presId="urn:microsoft.com/office/officeart/2005/8/layout/radial6"/>
    <dgm:cxn modelId="{FA7AEECB-7E26-4C89-AD19-FCC8CDCFC683}" type="presParOf" srcId="{89B0C59E-C387-4C8F-BBE8-1FFE8E4A080C}" destId="{2514B883-C721-4794-9818-551C6522844A}" srcOrd="11" destOrd="0" presId="urn:microsoft.com/office/officeart/2005/8/layout/radial6"/>
    <dgm:cxn modelId="{A909C244-45B4-4345-988C-933DAF9E8568}" type="presParOf" srcId="{89B0C59E-C387-4C8F-BBE8-1FFE8E4A080C}" destId="{62390CF4-BCA3-4B3E-96AD-EE02C69EA824}"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814AB3-7C9E-4E92-886D-C7CDE8B381D6}">
      <dsp:nvSpPr>
        <dsp:cNvPr id="0" name=""/>
        <dsp:cNvSpPr/>
      </dsp:nvSpPr>
      <dsp:spPr>
        <a:xfrm>
          <a:off x="6770" y="693158"/>
          <a:ext cx="1527579" cy="909160"/>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SG" sz="1200" kern="1200">
              <a:latin typeface="Arial" panose="020B0604020202020204" pitchFamily="34" charset="0"/>
              <a:cs typeface="Arial" panose="020B0604020202020204" pitchFamily="34" charset="0"/>
            </a:rPr>
            <a:t>EDA and Data cleaning</a:t>
          </a:r>
        </a:p>
      </dsp:txBody>
      <dsp:txXfrm>
        <a:off x="6770" y="693158"/>
        <a:ext cx="1527579" cy="606106"/>
      </dsp:txXfrm>
    </dsp:sp>
    <dsp:sp modelId="{8AD4505C-2F54-4B1D-BEFB-2D66C37C17BF}">
      <dsp:nvSpPr>
        <dsp:cNvPr id="0" name=""/>
        <dsp:cNvSpPr/>
      </dsp:nvSpPr>
      <dsp:spPr>
        <a:xfrm>
          <a:off x="319648" y="1299264"/>
          <a:ext cx="1527579" cy="2575800"/>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Exploration of dataset</a:t>
          </a:r>
        </a:p>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Data cleaning and aggregation</a:t>
          </a:r>
        </a:p>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Missing value analysis</a:t>
          </a:r>
        </a:p>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Class imbalance check</a:t>
          </a:r>
        </a:p>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Correlation matrix to identify redundant features </a:t>
          </a:r>
        </a:p>
      </dsp:txBody>
      <dsp:txXfrm>
        <a:off x="364389" y="1344005"/>
        <a:ext cx="1438097" cy="2486318"/>
      </dsp:txXfrm>
    </dsp:sp>
    <dsp:sp modelId="{C971E506-825A-48D6-B1D2-0F6116E3E57E}">
      <dsp:nvSpPr>
        <dsp:cNvPr id="0" name=""/>
        <dsp:cNvSpPr/>
      </dsp:nvSpPr>
      <dsp:spPr>
        <a:xfrm>
          <a:off x="1765925" y="806049"/>
          <a:ext cx="490940" cy="380323"/>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SG" sz="1000" kern="1200">
            <a:latin typeface="Arial" panose="020B0604020202020204" pitchFamily="34" charset="0"/>
            <a:cs typeface="Arial" panose="020B0604020202020204" pitchFamily="34" charset="0"/>
          </a:endParaRPr>
        </a:p>
      </dsp:txBody>
      <dsp:txXfrm>
        <a:off x="1765925" y="882114"/>
        <a:ext cx="376843" cy="228193"/>
      </dsp:txXfrm>
    </dsp:sp>
    <dsp:sp modelId="{6E37FE02-E448-4354-86F4-1465E4FEB934}">
      <dsp:nvSpPr>
        <dsp:cNvPr id="0" name=""/>
        <dsp:cNvSpPr/>
      </dsp:nvSpPr>
      <dsp:spPr>
        <a:xfrm>
          <a:off x="2460651" y="693158"/>
          <a:ext cx="1527579" cy="909160"/>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SG" sz="1200" kern="1200">
              <a:latin typeface="Arial" panose="020B0604020202020204" pitchFamily="34" charset="0"/>
              <a:cs typeface="Arial" panose="020B0604020202020204" pitchFamily="34" charset="0"/>
            </a:rPr>
            <a:t>Feature Engineering and Pre-processing</a:t>
          </a:r>
        </a:p>
      </dsp:txBody>
      <dsp:txXfrm>
        <a:off x="2460651" y="693158"/>
        <a:ext cx="1527579" cy="606106"/>
      </dsp:txXfrm>
    </dsp:sp>
    <dsp:sp modelId="{402BE8C3-3864-4CC6-8727-A3EE6EB6D703}">
      <dsp:nvSpPr>
        <dsp:cNvPr id="0" name=""/>
        <dsp:cNvSpPr/>
      </dsp:nvSpPr>
      <dsp:spPr>
        <a:xfrm>
          <a:off x="2773529" y="1299264"/>
          <a:ext cx="1527579" cy="2575800"/>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Feature engineering such </a:t>
          </a:r>
          <a:r>
            <a:rPr lang="en-US" sz="1200" kern="1200">
              <a:solidFill>
                <a:prstClr val="black">
                  <a:hueOff val="0"/>
                  <a:satOff val="0"/>
                  <a:lumOff val="0"/>
                  <a:alphaOff val="0"/>
                </a:prstClr>
              </a:solidFill>
              <a:latin typeface="Arial" panose="020B0604020202020204" pitchFamily="34" charset="0"/>
              <a:ea typeface="+mn-ea"/>
              <a:cs typeface="Arial" panose="020B0604020202020204" pitchFamily="34" charset="0"/>
            </a:rPr>
            <a:t>as rolling stats (mean, std, max), interaction features</a:t>
          </a:r>
          <a:endParaRPr lang="en-SG" sz="1200" kern="1200"/>
        </a:p>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Feature selection and normalization (</a:t>
          </a:r>
          <a:r>
            <a:rPr lang="en-SG" sz="1200" kern="1200" err="1">
              <a:latin typeface="Arial" panose="020B0604020202020204" pitchFamily="34" charset="0"/>
              <a:cs typeface="Arial" panose="020B0604020202020204" pitchFamily="34" charset="0"/>
            </a:rPr>
            <a:t>MinMax</a:t>
          </a:r>
          <a:r>
            <a:rPr lang="en-SG" sz="1200" kern="1200">
              <a:latin typeface="Arial" panose="020B0604020202020204" pitchFamily="34" charset="0"/>
              <a:cs typeface="Arial" panose="020B0604020202020204" pitchFamily="34" charset="0"/>
            </a:rPr>
            <a:t> or </a:t>
          </a:r>
          <a:r>
            <a:rPr lang="en-SG" sz="1200" kern="1200" err="1">
              <a:latin typeface="Arial" panose="020B0604020202020204" pitchFamily="34" charset="0"/>
              <a:cs typeface="Arial" panose="020B0604020202020204" pitchFamily="34" charset="0"/>
            </a:rPr>
            <a:t>StandardScalar</a:t>
          </a:r>
          <a:r>
            <a:rPr lang="en-SG" sz="1200" kern="1200">
              <a:latin typeface="Arial" panose="020B0604020202020204" pitchFamily="34" charset="0"/>
              <a:cs typeface="Arial" panose="020B0604020202020204" pitchFamily="34" charset="0"/>
            </a:rPr>
            <a:t>)</a:t>
          </a:r>
          <a:endParaRPr lang="en-SG" sz="1200" kern="1200"/>
        </a:p>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Training, validation, test, unseen data split</a:t>
          </a:r>
        </a:p>
      </dsp:txBody>
      <dsp:txXfrm>
        <a:off x="2818270" y="1344005"/>
        <a:ext cx="1438097" cy="2486318"/>
      </dsp:txXfrm>
    </dsp:sp>
    <dsp:sp modelId="{8C7C3256-30EA-41C8-98E1-81D61EC89855}">
      <dsp:nvSpPr>
        <dsp:cNvPr id="0" name=""/>
        <dsp:cNvSpPr/>
      </dsp:nvSpPr>
      <dsp:spPr>
        <a:xfrm>
          <a:off x="4219806" y="806049"/>
          <a:ext cx="490940" cy="380323"/>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SG" sz="1000" kern="1200"/>
        </a:p>
      </dsp:txBody>
      <dsp:txXfrm>
        <a:off x="4219806" y="882114"/>
        <a:ext cx="376843" cy="228193"/>
      </dsp:txXfrm>
    </dsp:sp>
    <dsp:sp modelId="{E4F04710-010F-4EA8-9EE3-B2A502DAA9E2}">
      <dsp:nvSpPr>
        <dsp:cNvPr id="0" name=""/>
        <dsp:cNvSpPr/>
      </dsp:nvSpPr>
      <dsp:spPr>
        <a:xfrm>
          <a:off x="4914532" y="693158"/>
          <a:ext cx="1527579" cy="909160"/>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SG" sz="1200" kern="1200">
              <a:latin typeface="Arial" panose="020B0604020202020204" pitchFamily="34" charset="0"/>
              <a:cs typeface="Arial" panose="020B0604020202020204" pitchFamily="34" charset="0"/>
            </a:rPr>
            <a:t>Model Building and Selection</a:t>
          </a:r>
        </a:p>
      </dsp:txBody>
      <dsp:txXfrm>
        <a:off x="4914532" y="693158"/>
        <a:ext cx="1527579" cy="606106"/>
      </dsp:txXfrm>
    </dsp:sp>
    <dsp:sp modelId="{5BDD5558-7195-47A3-BA3B-632547BBA6B3}">
      <dsp:nvSpPr>
        <dsp:cNvPr id="0" name=""/>
        <dsp:cNvSpPr/>
      </dsp:nvSpPr>
      <dsp:spPr>
        <a:xfrm>
          <a:off x="5227410" y="1299264"/>
          <a:ext cx="1527579" cy="2575800"/>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Exploration of different models with minimal tuning to review effectiveness</a:t>
          </a:r>
        </a:p>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Selection of final model</a:t>
          </a:r>
        </a:p>
      </dsp:txBody>
      <dsp:txXfrm>
        <a:off x="5272151" y="1344005"/>
        <a:ext cx="1438097" cy="2486318"/>
      </dsp:txXfrm>
    </dsp:sp>
    <dsp:sp modelId="{69B59040-2E3A-4F88-9A3C-A4EEA3AC14C5}">
      <dsp:nvSpPr>
        <dsp:cNvPr id="0" name=""/>
        <dsp:cNvSpPr/>
      </dsp:nvSpPr>
      <dsp:spPr>
        <a:xfrm>
          <a:off x="6673687" y="806049"/>
          <a:ext cx="490940" cy="380323"/>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SG" sz="1000" kern="1200">
            <a:latin typeface="Arial" panose="020B0604020202020204" pitchFamily="34" charset="0"/>
            <a:cs typeface="Arial" panose="020B0604020202020204" pitchFamily="34" charset="0"/>
          </a:endParaRPr>
        </a:p>
      </dsp:txBody>
      <dsp:txXfrm>
        <a:off x="6673687" y="882114"/>
        <a:ext cx="376843" cy="228193"/>
      </dsp:txXfrm>
    </dsp:sp>
    <dsp:sp modelId="{C20825E4-EF4C-400D-83DE-0EDE01C860EC}">
      <dsp:nvSpPr>
        <dsp:cNvPr id="0" name=""/>
        <dsp:cNvSpPr/>
      </dsp:nvSpPr>
      <dsp:spPr>
        <a:xfrm>
          <a:off x="7368413" y="693158"/>
          <a:ext cx="1527579" cy="909160"/>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SG" sz="1200" kern="1200">
              <a:latin typeface="Arial" panose="020B0604020202020204" pitchFamily="34" charset="0"/>
              <a:cs typeface="Arial" panose="020B0604020202020204" pitchFamily="34" charset="0"/>
            </a:rPr>
            <a:t>Tuning and Refinement</a:t>
          </a:r>
        </a:p>
      </dsp:txBody>
      <dsp:txXfrm>
        <a:off x="7368413" y="693158"/>
        <a:ext cx="1527579" cy="606106"/>
      </dsp:txXfrm>
    </dsp:sp>
    <dsp:sp modelId="{A6A98924-1169-4F52-B944-56160B43FF06}">
      <dsp:nvSpPr>
        <dsp:cNvPr id="0" name=""/>
        <dsp:cNvSpPr/>
      </dsp:nvSpPr>
      <dsp:spPr>
        <a:xfrm>
          <a:off x="7681291" y="1299264"/>
          <a:ext cx="1527579" cy="2575800"/>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Hyperparameter tuning using </a:t>
          </a:r>
          <a:r>
            <a:rPr lang="en-SG" sz="1200" kern="1200" err="1">
              <a:latin typeface="Arial" panose="020B0604020202020204" pitchFamily="34" charset="0"/>
              <a:cs typeface="Arial" panose="020B0604020202020204" pitchFamily="34" charset="0"/>
            </a:rPr>
            <a:t>Optuna</a:t>
          </a:r>
          <a:endParaRPr lang="en-SG" sz="1200" kern="1200">
            <a:latin typeface="Arial" panose="020B0604020202020204" pitchFamily="34" charset="0"/>
            <a:cs typeface="Arial" panose="020B0604020202020204" pitchFamily="34" charset="0"/>
          </a:endParaRPr>
        </a:p>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Ensemble / Stacking models</a:t>
          </a:r>
        </a:p>
      </dsp:txBody>
      <dsp:txXfrm>
        <a:off x="7726032" y="1344005"/>
        <a:ext cx="1438097" cy="2486318"/>
      </dsp:txXfrm>
    </dsp:sp>
    <dsp:sp modelId="{8F4540E1-1CE8-47E3-A6A0-E595DA631171}">
      <dsp:nvSpPr>
        <dsp:cNvPr id="0" name=""/>
        <dsp:cNvSpPr/>
      </dsp:nvSpPr>
      <dsp:spPr>
        <a:xfrm>
          <a:off x="9127568" y="806049"/>
          <a:ext cx="490940" cy="380323"/>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SG" sz="1000" kern="1200">
            <a:latin typeface="Arial" panose="020B0604020202020204" pitchFamily="34" charset="0"/>
            <a:cs typeface="Arial" panose="020B0604020202020204" pitchFamily="34" charset="0"/>
          </a:endParaRPr>
        </a:p>
      </dsp:txBody>
      <dsp:txXfrm>
        <a:off x="9127568" y="882114"/>
        <a:ext cx="376843" cy="228193"/>
      </dsp:txXfrm>
    </dsp:sp>
    <dsp:sp modelId="{2627C21C-6A22-44C3-BE15-A62319D2ED14}">
      <dsp:nvSpPr>
        <dsp:cNvPr id="0" name=""/>
        <dsp:cNvSpPr/>
      </dsp:nvSpPr>
      <dsp:spPr>
        <a:xfrm>
          <a:off x="9822294" y="693158"/>
          <a:ext cx="1527579" cy="909160"/>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SG" sz="1200" kern="1200">
              <a:latin typeface="Arial" panose="020B0604020202020204" pitchFamily="34" charset="0"/>
              <a:cs typeface="Arial" panose="020B0604020202020204" pitchFamily="34" charset="0"/>
            </a:rPr>
            <a:t>Evaluation of Model and Conclusion</a:t>
          </a:r>
        </a:p>
      </dsp:txBody>
      <dsp:txXfrm>
        <a:off x="9822294" y="693158"/>
        <a:ext cx="1527579" cy="606106"/>
      </dsp:txXfrm>
    </dsp:sp>
    <dsp:sp modelId="{04903F85-7880-45BF-988F-6ED0795FADBC}">
      <dsp:nvSpPr>
        <dsp:cNvPr id="0" name=""/>
        <dsp:cNvSpPr/>
      </dsp:nvSpPr>
      <dsp:spPr>
        <a:xfrm>
          <a:off x="10135172" y="1299264"/>
          <a:ext cx="1527579" cy="257580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Evaluation of Recall, AUC, F1 Score, etc.</a:t>
          </a:r>
        </a:p>
        <a:p>
          <a:pPr marL="114300" lvl="1" indent="-114300" algn="l" defTabSz="533400">
            <a:lnSpc>
              <a:spcPct val="90000"/>
            </a:lnSpc>
            <a:spcBef>
              <a:spcPct val="0"/>
            </a:spcBef>
            <a:spcAft>
              <a:spcPct val="15000"/>
            </a:spcAft>
            <a:buChar char="•"/>
          </a:pPr>
          <a:r>
            <a:rPr lang="en-SG" sz="1200" kern="1200">
              <a:latin typeface="Arial" panose="020B0604020202020204" pitchFamily="34" charset="0"/>
              <a:cs typeface="Arial" panose="020B0604020202020204" pitchFamily="34" charset="0"/>
            </a:rPr>
            <a:t>Conclusion and discussions</a:t>
          </a:r>
        </a:p>
      </dsp:txBody>
      <dsp:txXfrm>
        <a:off x="10179913" y="1344005"/>
        <a:ext cx="1438097" cy="24863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390CF4-BCA3-4B3E-96AD-EE02C69EA824}">
      <dsp:nvSpPr>
        <dsp:cNvPr id="0" name=""/>
        <dsp:cNvSpPr/>
      </dsp:nvSpPr>
      <dsp:spPr>
        <a:xfrm>
          <a:off x="1444289" y="552338"/>
          <a:ext cx="3687350" cy="3687350"/>
        </a:xfrm>
        <a:prstGeom prst="blockArc">
          <a:avLst>
            <a:gd name="adj1" fmla="val 10800000"/>
            <a:gd name="adj2" fmla="val 16200000"/>
            <a:gd name="adj3" fmla="val 4643"/>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10B36AE-655C-474D-A677-635C9B74C1A3}">
      <dsp:nvSpPr>
        <dsp:cNvPr id="0" name=""/>
        <dsp:cNvSpPr/>
      </dsp:nvSpPr>
      <dsp:spPr>
        <a:xfrm>
          <a:off x="1444289" y="552338"/>
          <a:ext cx="3687350" cy="3687350"/>
        </a:xfrm>
        <a:prstGeom prst="blockArc">
          <a:avLst>
            <a:gd name="adj1" fmla="val 5400000"/>
            <a:gd name="adj2" fmla="val 10800000"/>
            <a:gd name="adj3" fmla="val 4643"/>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1BEBD53-4075-455F-B434-3C8929403F86}">
      <dsp:nvSpPr>
        <dsp:cNvPr id="0" name=""/>
        <dsp:cNvSpPr/>
      </dsp:nvSpPr>
      <dsp:spPr>
        <a:xfrm>
          <a:off x="1444289" y="552338"/>
          <a:ext cx="3687350" cy="3687350"/>
        </a:xfrm>
        <a:prstGeom prst="blockArc">
          <a:avLst>
            <a:gd name="adj1" fmla="val 0"/>
            <a:gd name="adj2" fmla="val 5400000"/>
            <a:gd name="adj3" fmla="val 4643"/>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1314343-3A97-4A1C-AA87-2260CC2D9303}">
      <dsp:nvSpPr>
        <dsp:cNvPr id="0" name=""/>
        <dsp:cNvSpPr/>
      </dsp:nvSpPr>
      <dsp:spPr>
        <a:xfrm>
          <a:off x="1444289" y="552338"/>
          <a:ext cx="3687350" cy="3687350"/>
        </a:xfrm>
        <a:prstGeom prst="blockArc">
          <a:avLst>
            <a:gd name="adj1" fmla="val 16200000"/>
            <a:gd name="adj2" fmla="val 0"/>
            <a:gd name="adj3" fmla="val 4643"/>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72BC4AA-4261-4B5F-9776-354857C3ACC4}">
      <dsp:nvSpPr>
        <dsp:cNvPr id="0" name=""/>
        <dsp:cNvSpPr/>
      </dsp:nvSpPr>
      <dsp:spPr>
        <a:xfrm>
          <a:off x="2438681" y="1546730"/>
          <a:ext cx="1698567" cy="169856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SG" sz="1100" b="1" kern="1200">
              <a:latin typeface="Arial" panose="020B0604020202020204" pitchFamily="34" charset="0"/>
              <a:cs typeface="Arial" panose="020B0604020202020204" pitchFamily="34" charset="0"/>
            </a:rPr>
            <a:t>MODELS FOR CONSIDERATION</a:t>
          </a:r>
        </a:p>
      </dsp:txBody>
      <dsp:txXfrm>
        <a:off x="2687430" y="1795479"/>
        <a:ext cx="1201069" cy="1201069"/>
      </dsp:txXfrm>
    </dsp:sp>
    <dsp:sp modelId="{475BB9F2-C9C5-47B1-8A3D-468137D247FC}">
      <dsp:nvSpPr>
        <dsp:cNvPr id="0" name=""/>
        <dsp:cNvSpPr/>
      </dsp:nvSpPr>
      <dsp:spPr>
        <a:xfrm>
          <a:off x="2693466" y="643"/>
          <a:ext cx="1188997" cy="1188997"/>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rtl="0">
            <a:lnSpc>
              <a:spcPct val="90000"/>
            </a:lnSpc>
            <a:spcBef>
              <a:spcPct val="0"/>
            </a:spcBef>
            <a:spcAft>
              <a:spcPct val="35000"/>
            </a:spcAft>
            <a:buNone/>
          </a:pPr>
          <a:r>
            <a:rPr lang="en-SG" sz="1100" b="1" kern="1200" err="1">
              <a:latin typeface="Arial"/>
              <a:cs typeface="Arial"/>
            </a:rPr>
            <a:t>XGBoost</a:t>
          </a:r>
          <a:r>
            <a:rPr lang="en-SG" sz="1100" b="1" kern="1200">
              <a:latin typeface="Arial"/>
              <a:cs typeface="Arial"/>
            </a:rPr>
            <a:t> (Tabular aggregate features)</a:t>
          </a:r>
          <a:endParaRPr lang="en-SG" sz="1100" b="1" kern="1200"/>
        </a:p>
      </dsp:txBody>
      <dsp:txXfrm>
        <a:off x="2867591" y="174768"/>
        <a:ext cx="840747" cy="840747"/>
      </dsp:txXfrm>
    </dsp:sp>
    <dsp:sp modelId="{6D5A0B58-FDC4-400D-BCF0-A6A355A05036}">
      <dsp:nvSpPr>
        <dsp:cNvPr id="0" name=""/>
        <dsp:cNvSpPr/>
      </dsp:nvSpPr>
      <dsp:spPr>
        <a:xfrm>
          <a:off x="4494337" y="1801515"/>
          <a:ext cx="1188997" cy="1188997"/>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rtl="0">
            <a:lnSpc>
              <a:spcPct val="90000"/>
            </a:lnSpc>
            <a:spcBef>
              <a:spcPct val="0"/>
            </a:spcBef>
            <a:spcAft>
              <a:spcPct val="35000"/>
            </a:spcAft>
            <a:buNone/>
          </a:pPr>
          <a:r>
            <a:rPr lang="en-SG" sz="1100" b="1" kern="1200" err="1">
              <a:latin typeface="Arial"/>
              <a:cs typeface="Arial"/>
            </a:rPr>
            <a:t>MiniRocket</a:t>
          </a:r>
          <a:r>
            <a:rPr lang="en-SG" sz="1100" b="1" kern="1200">
              <a:latin typeface="Arial"/>
              <a:cs typeface="Arial"/>
            </a:rPr>
            <a:t> (Time Series)</a:t>
          </a:r>
          <a:endParaRPr lang="en-SG" sz="1100" b="1" kern="1200"/>
        </a:p>
      </dsp:txBody>
      <dsp:txXfrm>
        <a:off x="4668462" y="1975640"/>
        <a:ext cx="840747" cy="840747"/>
      </dsp:txXfrm>
    </dsp:sp>
    <dsp:sp modelId="{25DC7DA0-CCBA-46F5-A521-0732A02867BD}">
      <dsp:nvSpPr>
        <dsp:cNvPr id="0" name=""/>
        <dsp:cNvSpPr/>
      </dsp:nvSpPr>
      <dsp:spPr>
        <a:xfrm>
          <a:off x="2693466" y="3602386"/>
          <a:ext cx="1188997" cy="1188997"/>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rtl="0">
            <a:lnSpc>
              <a:spcPct val="90000"/>
            </a:lnSpc>
            <a:spcBef>
              <a:spcPct val="0"/>
            </a:spcBef>
            <a:spcAft>
              <a:spcPct val="35000"/>
            </a:spcAft>
            <a:buNone/>
          </a:pPr>
          <a:r>
            <a:rPr lang="en-SG" sz="1100" b="1" kern="1200">
              <a:latin typeface="Arial"/>
              <a:cs typeface="Arial"/>
            </a:rPr>
            <a:t>Inception</a:t>
          </a:r>
          <a:br>
            <a:rPr lang="en-SG" sz="1100" b="1" kern="1200">
              <a:latin typeface="Arial"/>
              <a:cs typeface="Arial"/>
            </a:rPr>
          </a:br>
          <a:r>
            <a:rPr lang="en-SG" sz="1100" b="1" kern="1200">
              <a:latin typeface="Arial"/>
              <a:cs typeface="Arial"/>
            </a:rPr>
            <a:t>Time (1D-CNN) (Time Series)</a:t>
          </a:r>
          <a:endParaRPr lang="en-SG" sz="1100" b="1" kern="1200"/>
        </a:p>
      </dsp:txBody>
      <dsp:txXfrm>
        <a:off x="2867591" y="3776511"/>
        <a:ext cx="840747" cy="840747"/>
      </dsp:txXfrm>
    </dsp:sp>
    <dsp:sp modelId="{A7823E6C-A630-47B9-BB15-C00771475988}">
      <dsp:nvSpPr>
        <dsp:cNvPr id="0" name=""/>
        <dsp:cNvSpPr/>
      </dsp:nvSpPr>
      <dsp:spPr>
        <a:xfrm>
          <a:off x="892594" y="1801515"/>
          <a:ext cx="1188997" cy="1188997"/>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rtl="0">
            <a:lnSpc>
              <a:spcPct val="90000"/>
            </a:lnSpc>
            <a:spcBef>
              <a:spcPct val="0"/>
            </a:spcBef>
            <a:spcAft>
              <a:spcPct val="35000"/>
            </a:spcAft>
            <a:buNone/>
          </a:pPr>
          <a:r>
            <a:rPr lang="en-SG" sz="1100" b="1" kern="1200">
              <a:latin typeface="Arial"/>
              <a:cs typeface="Arial"/>
            </a:rPr>
            <a:t>Time Series </a:t>
          </a:r>
          <a:r>
            <a:rPr lang="en-SG" sz="1050" b="1" kern="1200">
              <a:latin typeface="Arial"/>
              <a:cs typeface="Arial"/>
            </a:rPr>
            <a:t>Transformer</a:t>
          </a:r>
          <a:endParaRPr lang="en-SG" sz="1050" b="1" kern="1200"/>
        </a:p>
      </dsp:txBody>
      <dsp:txXfrm>
        <a:off x="1066719" y="1975640"/>
        <a:ext cx="840747" cy="840747"/>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8E97CD-A5A2-4CD9-AD9C-A3AB4658D76A}" type="datetimeFigureOut">
              <a:rPr lang="en-SG" smtClean="0"/>
              <a:t>30/5/2026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6EB424-D125-4827-9DDD-1C4D210EC92A}" type="slidenum">
              <a:rPr lang="en-SG" smtClean="0"/>
              <a:t>‹#›</a:t>
            </a:fld>
            <a:endParaRPr lang="en-SG"/>
          </a:p>
        </p:txBody>
      </p:sp>
    </p:spTree>
    <p:extLst>
      <p:ext uri="{BB962C8B-B14F-4D97-AF65-F5344CB8AC3E}">
        <p14:creationId xmlns:p14="http://schemas.microsoft.com/office/powerpoint/2010/main" val="3753129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B66EB424-D125-4827-9DDD-1C4D210EC92A}" type="slidenum">
              <a:rPr lang="en-SG" smtClean="0"/>
              <a:t>3</a:t>
            </a:fld>
            <a:endParaRPr lang="en-SG"/>
          </a:p>
        </p:txBody>
      </p:sp>
    </p:spTree>
    <p:extLst>
      <p:ext uri="{BB962C8B-B14F-4D97-AF65-F5344CB8AC3E}">
        <p14:creationId xmlns:p14="http://schemas.microsoft.com/office/powerpoint/2010/main" val="1749939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B66EB424-D125-4827-9DDD-1C4D210EC92A}" type="slidenum">
              <a:rPr lang="en-SG" smtClean="0"/>
              <a:t>4</a:t>
            </a:fld>
            <a:endParaRPr lang="en-SG"/>
          </a:p>
        </p:txBody>
      </p:sp>
    </p:spTree>
    <p:extLst>
      <p:ext uri="{BB962C8B-B14F-4D97-AF65-F5344CB8AC3E}">
        <p14:creationId xmlns:p14="http://schemas.microsoft.com/office/powerpoint/2010/main" val="2299870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45403-1B42-51A8-2F7B-EA913829C1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AC74247C-023C-B1CE-07D6-91346061A4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9EE8FB71-2F52-EA00-C719-D7898FFCB28B}"/>
              </a:ext>
            </a:extLst>
          </p:cNvPr>
          <p:cNvSpPr>
            <a:spLocks noGrp="1"/>
          </p:cNvSpPr>
          <p:nvPr>
            <p:ph type="dt" sz="half" idx="10"/>
          </p:nvPr>
        </p:nvSpPr>
        <p:spPr/>
        <p:txBody>
          <a:bodyPr/>
          <a:lstStyle/>
          <a:p>
            <a:fld id="{475CE1D2-4F44-462E-8C41-1E0EBD0DE6BF}" type="datetimeFigureOut">
              <a:rPr lang="en-SG" smtClean="0"/>
              <a:t>30/5/2026</a:t>
            </a:fld>
            <a:endParaRPr lang="en-SG"/>
          </a:p>
        </p:txBody>
      </p:sp>
      <p:sp>
        <p:nvSpPr>
          <p:cNvPr id="5" name="Footer Placeholder 4">
            <a:extLst>
              <a:ext uri="{FF2B5EF4-FFF2-40B4-BE49-F238E27FC236}">
                <a16:creationId xmlns:a16="http://schemas.microsoft.com/office/drawing/2014/main" id="{16C5F926-E4A4-B28A-394E-50F8D35549F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13D4720-761C-9934-46C4-603A79DC7C57}"/>
              </a:ext>
            </a:extLst>
          </p:cNvPr>
          <p:cNvSpPr>
            <a:spLocks noGrp="1"/>
          </p:cNvSpPr>
          <p:nvPr>
            <p:ph type="sldNum" sz="quarter" idx="12"/>
          </p:nvPr>
        </p:nvSpPr>
        <p:spPr/>
        <p:txBody>
          <a:bodyPr/>
          <a:lstStyle/>
          <a:p>
            <a:fld id="{C2C7F9AA-CA03-41A2-98A1-CACE2F6792FB}" type="slidenum">
              <a:rPr lang="en-SG" smtClean="0"/>
              <a:t>‹#›</a:t>
            </a:fld>
            <a:endParaRPr lang="en-SG"/>
          </a:p>
        </p:txBody>
      </p:sp>
    </p:spTree>
    <p:extLst>
      <p:ext uri="{BB962C8B-B14F-4D97-AF65-F5344CB8AC3E}">
        <p14:creationId xmlns:p14="http://schemas.microsoft.com/office/powerpoint/2010/main" val="3836468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7B30-24D3-2B95-FF75-77C8A203AD2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9726D19E-599D-5A04-D57F-73E5AD641C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CA5F069-5A7B-B937-35E2-7CAC7F2EA571}"/>
              </a:ext>
            </a:extLst>
          </p:cNvPr>
          <p:cNvSpPr>
            <a:spLocks noGrp="1"/>
          </p:cNvSpPr>
          <p:nvPr>
            <p:ph type="dt" sz="half" idx="10"/>
          </p:nvPr>
        </p:nvSpPr>
        <p:spPr/>
        <p:txBody>
          <a:bodyPr/>
          <a:lstStyle/>
          <a:p>
            <a:fld id="{475CE1D2-4F44-462E-8C41-1E0EBD0DE6BF}" type="datetimeFigureOut">
              <a:rPr lang="en-SG" smtClean="0"/>
              <a:t>30/5/2026</a:t>
            </a:fld>
            <a:endParaRPr lang="en-SG"/>
          </a:p>
        </p:txBody>
      </p:sp>
      <p:sp>
        <p:nvSpPr>
          <p:cNvPr id="5" name="Footer Placeholder 4">
            <a:extLst>
              <a:ext uri="{FF2B5EF4-FFF2-40B4-BE49-F238E27FC236}">
                <a16:creationId xmlns:a16="http://schemas.microsoft.com/office/drawing/2014/main" id="{BCCBF8AE-8885-ADD4-FC3B-91E24878C1C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114D369-F808-2AF2-4758-21089A958351}"/>
              </a:ext>
            </a:extLst>
          </p:cNvPr>
          <p:cNvSpPr>
            <a:spLocks noGrp="1"/>
          </p:cNvSpPr>
          <p:nvPr>
            <p:ph type="sldNum" sz="quarter" idx="12"/>
          </p:nvPr>
        </p:nvSpPr>
        <p:spPr/>
        <p:txBody>
          <a:bodyPr/>
          <a:lstStyle/>
          <a:p>
            <a:fld id="{C2C7F9AA-CA03-41A2-98A1-CACE2F6792FB}" type="slidenum">
              <a:rPr lang="en-SG" smtClean="0"/>
              <a:t>‹#›</a:t>
            </a:fld>
            <a:endParaRPr lang="en-SG"/>
          </a:p>
        </p:txBody>
      </p:sp>
    </p:spTree>
    <p:extLst>
      <p:ext uri="{BB962C8B-B14F-4D97-AF65-F5344CB8AC3E}">
        <p14:creationId xmlns:p14="http://schemas.microsoft.com/office/powerpoint/2010/main" val="3185659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8D187-F919-2021-AD3B-D304F91A70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48119223-32F4-0995-5099-63B5EFBEAA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52FB98-D6D1-DE5A-BB84-D7FE5C8706D3}"/>
              </a:ext>
            </a:extLst>
          </p:cNvPr>
          <p:cNvSpPr>
            <a:spLocks noGrp="1"/>
          </p:cNvSpPr>
          <p:nvPr>
            <p:ph type="dt" sz="half" idx="10"/>
          </p:nvPr>
        </p:nvSpPr>
        <p:spPr/>
        <p:txBody>
          <a:bodyPr/>
          <a:lstStyle/>
          <a:p>
            <a:fld id="{475CE1D2-4F44-462E-8C41-1E0EBD0DE6BF}" type="datetimeFigureOut">
              <a:rPr lang="en-SG" smtClean="0"/>
              <a:t>30/5/2026</a:t>
            </a:fld>
            <a:endParaRPr lang="en-SG"/>
          </a:p>
        </p:txBody>
      </p:sp>
      <p:sp>
        <p:nvSpPr>
          <p:cNvPr id="5" name="Footer Placeholder 4">
            <a:extLst>
              <a:ext uri="{FF2B5EF4-FFF2-40B4-BE49-F238E27FC236}">
                <a16:creationId xmlns:a16="http://schemas.microsoft.com/office/drawing/2014/main" id="{82354500-C11C-A1DA-09E7-15F8EB92D96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F365D58-327B-C337-E25F-FADDE9174405}"/>
              </a:ext>
            </a:extLst>
          </p:cNvPr>
          <p:cNvSpPr>
            <a:spLocks noGrp="1"/>
          </p:cNvSpPr>
          <p:nvPr>
            <p:ph type="sldNum" sz="quarter" idx="12"/>
          </p:nvPr>
        </p:nvSpPr>
        <p:spPr/>
        <p:txBody>
          <a:bodyPr/>
          <a:lstStyle/>
          <a:p>
            <a:fld id="{C2C7F9AA-CA03-41A2-98A1-CACE2F6792FB}" type="slidenum">
              <a:rPr lang="en-SG" smtClean="0"/>
              <a:t>‹#›</a:t>
            </a:fld>
            <a:endParaRPr lang="en-SG"/>
          </a:p>
        </p:txBody>
      </p:sp>
    </p:spTree>
    <p:extLst>
      <p:ext uri="{BB962C8B-B14F-4D97-AF65-F5344CB8AC3E}">
        <p14:creationId xmlns:p14="http://schemas.microsoft.com/office/powerpoint/2010/main" val="2210414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E275-9C37-AFF9-9799-DFDC88788C8C}"/>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106E2BF-32AF-32CA-66B5-BB58CAAD56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CBA2292A-821A-AA57-0AEB-84E68D4AC1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412F0255-FD0F-320F-8902-2BDE05350991}"/>
              </a:ext>
            </a:extLst>
          </p:cNvPr>
          <p:cNvSpPr>
            <a:spLocks noGrp="1"/>
          </p:cNvSpPr>
          <p:nvPr>
            <p:ph type="dt" sz="half" idx="10"/>
          </p:nvPr>
        </p:nvSpPr>
        <p:spPr/>
        <p:txBody>
          <a:bodyPr/>
          <a:lstStyle/>
          <a:p>
            <a:fld id="{475CE1D2-4F44-462E-8C41-1E0EBD0DE6BF}" type="datetimeFigureOut">
              <a:rPr lang="en-SG" smtClean="0"/>
              <a:t>30/5/2026</a:t>
            </a:fld>
            <a:endParaRPr lang="en-SG"/>
          </a:p>
        </p:txBody>
      </p:sp>
      <p:sp>
        <p:nvSpPr>
          <p:cNvPr id="6" name="Footer Placeholder 5">
            <a:extLst>
              <a:ext uri="{FF2B5EF4-FFF2-40B4-BE49-F238E27FC236}">
                <a16:creationId xmlns:a16="http://schemas.microsoft.com/office/drawing/2014/main" id="{605E989A-F326-930F-6C1A-E94272F722D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2E33507B-0888-8090-C231-3A65B696353F}"/>
              </a:ext>
            </a:extLst>
          </p:cNvPr>
          <p:cNvSpPr>
            <a:spLocks noGrp="1"/>
          </p:cNvSpPr>
          <p:nvPr>
            <p:ph type="sldNum" sz="quarter" idx="12"/>
          </p:nvPr>
        </p:nvSpPr>
        <p:spPr/>
        <p:txBody>
          <a:bodyPr/>
          <a:lstStyle/>
          <a:p>
            <a:fld id="{C2C7F9AA-CA03-41A2-98A1-CACE2F6792FB}" type="slidenum">
              <a:rPr lang="en-SG" smtClean="0"/>
              <a:t>‹#›</a:t>
            </a:fld>
            <a:endParaRPr lang="en-SG"/>
          </a:p>
        </p:txBody>
      </p:sp>
    </p:spTree>
    <p:extLst>
      <p:ext uri="{BB962C8B-B14F-4D97-AF65-F5344CB8AC3E}">
        <p14:creationId xmlns:p14="http://schemas.microsoft.com/office/powerpoint/2010/main" val="3046573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C1EFF-9E17-FF1D-3F1A-C54822ACAC6A}"/>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F048C15D-4357-1087-3534-90CB00E2FD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D75B06-E8E5-08A6-A6CF-23BC57B8DF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2999799E-0F3F-67B5-1597-74432A55EF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C7CFAA-9248-77A3-308F-768DE7FDF7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8C13389A-ACBE-6256-3A9C-67B706689C75}"/>
              </a:ext>
            </a:extLst>
          </p:cNvPr>
          <p:cNvSpPr>
            <a:spLocks noGrp="1"/>
          </p:cNvSpPr>
          <p:nvPr>
            <p:ph type="dt" sz="half" idx="10"/>
          </p:nvPr>
        </p:nvSpPr>
        <p:spPr/>
        <p:txBody>
          <a:bodyPr/>
          <a:lstStyle/>
          <a:p>
            <a:fld id="{475CE1D2-4F44-462E-8C41-1E0EBD0DE6BF}" type="datetimeFigureOut">
              <a:rPr lang="en-SG" smtClean="0"/>
              <a:t>30/5/2026</a:t>
            </a:fld>
            <a:endParaRPr lang="en-SG"/>
          </a:p>
        </p:txBody>
      </p:sp>
      <p:sp>
        <p:nvSpPr>
          <p:cNvPr id="8" name="Footer Placeholder 7">
            <a:extLst>
              <a:ext uri="{FF2B5EF4-FFF2-40B4-BE49-F238E27FC236}">
                <a16:creationId xmlns:a16="http://schemas.microsoft.com/office/drawing/2014/main" id="{15104E83-178D-4F86-3B38-A2CFA7FFAD0D}"/>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61AE03D-1404-6689-FA01-61B3E909526C}"/>
              </a:ext>
            </a:extLst>
          </p:cNvPr>
          <p:cNvSpPr>
            <a:spLocks noGrp="1"/>
          </p:cNvSpPr>
          <p:nvPr>
            <p:ph type="sldNum" sz="quarter" idx="12"/>
          </p:nvPr>
        </p:nvSpPr>
        <p:spPr/>
        <p:txBody>
          <a:bodyPr/>
          <a:lstStyle/>
          <a:p>
            <a:fld id="{C2C7F9AA-CA03-41A2-98A1-CACE2F6792FB}" type="slidenum">
              <a:rPr lang="en-SG" smtClean="0"/>
              <a:t>‹#›</a:t>
            </a:fld>
            <a:endParaRPr lang="en-SG"/>
          </a:p>
        </p:txBody>
      </p:sp>
    </p:spTree>
    <p:extLst>
      <p:ext uri="{BB962C8B-B14F-4D97-AF65-F5344CB8AC3E}">
        <p14:creationId xmlns:p14="http://schemas.microsoft.com/office/powerpoint/2010/main" val="2641825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CA7B9-FCB8-CC7E-8242-F91654EAAC4D}"/>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8289CB00-3A5A-4427-59C5-5F0060E4FF79}"/>
              </a:ext>
            </a:extLst>
          </p:cNvPr>
          <p:cNvSpPr>
            <a:spLocks noGrp="1"/>
          </p:cNvSpPr>
          <p:nvPr>
            <p:ph type="dt" sz="half" idx="10"/>
          </p:nvPr>
        </p:nvSpPr>
        <p:spPr/>
        <p:txBody>
          <a:bodyPr/>
          <a:lstStyle/>
          <a:p>
            <a:fld id="{475CE1D2-4F44-462E-8C41-1E0EBD0DE6BF}" type="datetimeFigureOut">
              <a:rPr lang="en-SG" smtClean="0"/>
              <a:t>30/5/2026</a:t>
            </a:fld>
            <a:endParaRPr lang="en-SG"/>
          </a:p>
        </p:txBody>
      </p:sp>
      <p:sp>
        <p:nvSpPr>
          <p:cNvPr id="4" name="Footer Placeholder 3">
            <a:extLst>
              <a:ext uri="{FF2B5EF4-FFF2-40B4-BE49-F238E27FC236}">
                <a16:creationId xmlns:a16="http://schemas.microsoft.com/office/drawing/2014/main" id="{9DFF6276-84BD-6459-1C0C-7E7031D562F2}"/>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0802FEB6-AB6F-CE32-C31B-AFB294378E5D}"/>
              </a:ext>
            </a:extLst>
          </p:cNvPr>
          <p:cNvSpPr>
            <a:spLocks noGrp="1"/>
          </p:cNvSpPr>
          <p:nvPr>
            <p:ph type="sldNum" sz="quarter" idx="12"/>
          </p:nvPr>
        </p:nvSpPr>
        <p:spPr/>
        <p:txBody>
          <a:bodyPr/>
          <a:lstStyle/>
          <a:p>
            <a:fld id="{C2C7F9AA-CA03-41A2-98A1-CACE2F6792FB}" type="slidenum">
              <a:rPr lang="en-SG" smtClean="0"/>
              <a:t>‹#›</a:t>
            </a:fld>
            <a:endParaRPr lang="en-SG"/>
          </a:p>
        </p:txBody>
      </p:sp>
    </p:spTree>
    <p:extLst>
      <p:ext uri="{BB962C8B-B14F-4D97-AF65-F5344CB8AC3E}">
        <p14:creationId xmlns:p14="http://schemas.microsoft.com/office/powerpoint/2010/main" val="4170067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05054-BD07-14E8-2FA3-F30471A311D1}"/>
              </a:ext>
            </a:extLst>
          </p:cNvPr>
          <p:cNvSpPr>
            <a:spLocks noGrp="1"/>
          </p:cNvSpPr>
          <p:nvPr>
            <p:ph type="dt" sz="half" idx="10"/>
          </p:nvPr>
        </p:nvSpPr>
        <p:spPr/>
        <p:txBody>
          <a:bodyPr/>
          <a:lstStyle/>
          <a:p>
            <a:fld id="{475CE1D2-4F44-462E-8C41-1E0EBD0DE6BF}" type="datetimeFigureOut">
              <a:rPr lang="en-SG" smtClean="0"/>
              <a:t>30/5/2026</a:t>
            </a:fld>
            <a:endParaRPr lang="en-SG"/>
          </a:p>
        </p:txBody>
      </p:sp>
      <p:sp>
        <p:nvSpPr>
          <p:cNvPr id="3" name="Footer Placeholder 2">
            <a:extLst>
              <a:ext uri="{FF2B5EF4-FFF2-40B4-BE49-F238E27FC236}">
                <a16:creationId xmlns:a16="http://schemas.microsoft.com/office/drawing/2014/main" id="{70BC567A-08AA-1C7D-FD58-7EEF8E885BAE}"/>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EC3D8410-168A-95AF-496E-CFAA1F85F03E}"/>
              </a:ext>
            </a:extLst>
          </p:cNvPr>
          <p:cNvSpPr>
            <a:spLocks noGrp="1"/>
          </p:cNvSpPr>
          <p:nvPr>
            <p:ph type="sldNum" sz="quarter" idx="12"/>
          </p:nvPr>
        </p:nvSpPr>
        <p:spPr/>
        <p:txBody>
          <a:bodyPr/>
          <a:lstStyle/>
          <a:p>
            <a:fld id="{C2C7F9AA-CA03-41A2-98A1-CACE2F6792FB}" type="slidenum">
              <a:rPr lang="en-SG" smtClean="0"/>
              <a:t>‹#›</a:t>
            </a:fld>
            <a:endParaRPr lang="en-SG"/>
          </a:p>
        </p:txBody>
      </p:sp>
    </p:spTree>
    <p:extLst>
      <p:ext uri="{BB962C8B-B14F-4D97-AF65-F5344CB8AC3E}">
        <p14:creationId xmlns:p14="http://schemas.microsoft.com/office/powerpoint/2010/main" val="1464650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2DDF1-8A34-2A40-10C0-6F7A6D5226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2CC355FD-3843-CAEA-FE24-6AD9E2EDA9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519F0CAF-96DD-26A7-9FA2-F203C82E2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49DE89-0285-A4FA-30A0-623475E0949E}"/>
              </a:ext>
            </a:extLst>
          </p:cNvPr>
          <p:cNvSpPr>
            <a:spLocks noGrp="1"/>
          </p:cNvSpPr>
          <p:nvPr>
            <p:ph type="dt" sz="half" idx="10"/>
          </p:nvPr>
        </p:nvSpPr>
        <p:spPr/>
        <p:txBody>
          <a:bodyPr/>
          <a:lstStyle/>
          <a:p>
            <a:fld id="{475CE1D2-4F44-462E-8C41-1E0EBD0DE6BF}" type="datetimeFigureOut">
              <a:rPr lang="en-SG" smtClean="0"/>
              <a:t>30/5/2026</a:t>
            </a:fld>
            <a:endParaRPr lang="en-SG"/>
          </a:p>
        </p:txBody>
      </p:sp>
      <p:sp>
        <p:nvSpPr>
          <p:cNvPr id="6" name="Footer Placeholder 5">
            <a:extLst>
              <a:ext uri="{FF2B5EF4-FFF2-40B4-BE49-F238E27FC236}">
                <a16:creationId xmlns:a16="http://schemas.microsoft.com/office/drawing/2014/main" id="{FB4C46CB-3941-9042-430C-68FC4487C2C6}"/>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C1E00FB-300B-607C-42D3-2798F4775A62}"/>
              </a:ext>
            </a:extLst>
          </p:cNvPr>
          <p:cNvSpPr>
            <a:spLocks noGrp="1"/>
          </p:cNvSpPr>
          <p:nvPr>
            <p:ph type="sldNum" sz="quarter" idx="12"/>
          </p:nvPr>
        </p:nvSpPr>
        <p:spPr/>
        <p:txBody>
          <a:bodyPr/>
          <a:lstStyle/>
          <a:p>
            <a:fld id="{C2C7F9AA-CA03-41A2-98A1-CACE2F6792FB}" type="slidenum">
              <a:rPr lang="en-SG" smtClean="0"/>
              <a:t>‹#›</a:t>
            </a:fld>
            <a:endParaRPr lang="en-SG"/>
          </a:p>
        </p:txBody>
      </p:sp>
    </p:spTree>
    <p:extLst>
      <p:ext uri="{BB962C8B-B14F-4D97-AF65-F5344CB8AC3E}">
        <p14:creationId xmlns:p14="http://schemas.microsoft.com/office/powerpoint/2010/main" val="2755193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7B35A-1D97-DA2C-F73E-8143C5AB72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394D885E-31B1-9D3A-DD9D-4AC8E1141D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6D78745C-8136-6989-DA4E-3B3BFDA24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FDBF8C-8437-5E66-459C-BAE6525F35CF}"/>
              </a:ext>
            </a:extLst>
          </p:cNvPr>
          <p:cNvSpPr>
            <a:spLocks noGrp="1"/>
          </p:cNvSpPr>
          <p:nvPr>
            <p:ph type="dt" sz="half" idx="10"/>
          </p:nvPr>
        </p:nvSpPr>
        <p:spPr/>
        <p:txBody>
          <a:bodyPr/>
          <a:lstStyle/>
          <a:p>
            <a:fld id="{475CE1D2-4F44-462E-8C41-1E0EBD0DE6BF}" type="datetimeFigureOut">
              <a:rPr lang="en-SG" smtClean="0"/>
              <a:t>30/5/2026</a:t>
            </a:fld>
            <a:endParaRPr lang="en-SG"/>
          </a:p>
        </p:txBody>
      </p:sp>
      <p:sp>
        <p:nvSpPr>
          <p:cNvPr id="6" name="Footer Placeholder 5">
            <a:extLst>
              <a:ext uri="{FF2B5EF4-FFF2-40B4-BE49-F238E27FC236}">
                <a16:creationId xmlns:a16="http://schemas.microsoft.com/office/drawing/2014/main" id="{1FBBDF3D-9D61-58DC-36C9-571ABF12CD5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9CD3BC7-921D-B479-1196-2E9D6EC7B34A}"/>
              </a:ext>
            </a:extLst>
          </p:cNvPr>
          <p:cNvSpPr>
            <a:spLocks noGrp="1"/>
          </p:cNvSpPr>
          <p:nvPr>
            <p:ph type="sldNum" sz="quarter" idx="12"/>
          </p:nvPr>
        </p:nvSpPr>
        <p:spPr/>
        <p:txBody>
          <a:bodyPr/>
          <a:lstStyle/>
          <a:p>
            <a:fld id="{C2C7F9AA-CA03-41A2-98A1-CACE2F6792FB}" type="slidenum">
              <a:rPr lang="en-SG" smtClean="0"/>
              <a:t>‹#›</a:t>
            </a:fld>
            <a:endParaRPr lang="en-SG"/>
          </a:p>
        </p:txBody>
      </p:sp>
    </p:spTree>
    <p:extLst>
      <p:ext uri="{BB962C8B-B14F-4D97-AF65-F5344CB8AC3E}">
        <p14:creationId xmlns:p14="http://schemas.microsoft.com/office/powerpoint/2010/main" val="3744929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5263C-2DF5-ECB8-CD20-90A55D9DC841}"/>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919B3A2F-CC93-12DB-DE0E-AE4B13AECF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1653755-C6AF-90F4-5332-7F5E5ED35505}"/>
              </a:ext>
            </a:extLst>
          </p:cNvPr>
          <p:cNvSpPr>
            <a:spLocks noGrp="1"/>
          </p:cNvSpPr>
          <p:nvPr>
            <p:ph type="dt" sz="half" idx="10"/>
          </p:nvPr>
        </p:nvSpPr>
        <p:spPr/>
        <p:txBody>
          <a:bodyPr/>
          <a:lstStyle/>
          <a:p>
            <a:fld id="{475CE1D2-4F44-462E-8C41-1E0EBD0DE6BF}" type="datetimeFigureOut">
              <a:rPr lang="en-SG" smtClean="0"/>
              <a:t>30/5/2026</a:t>
            </a:fld>
            <a:endParaRPr lang="en-SG"/>
          </a:p>
        </p:txBody>
      </p:sp>
      <p:sp>
        <p:nvSpPr>
          <p:cNvPr id="5" name="Footer Placeholder 4">
            <a:extLst>
              <a:ext uri="{FF2B5EF4-FFF2-40B4-BE49-F238E27FC236}">
                <a16:creationId xmlns:a16="http://schemas.microsoft.com/office/drawing/2014/main" id="{C9379EC5-A8E7-E070-DA89-5149C452F2F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70A3EB2-57D4-38BF-FC6F-D099B3715689}"/>
              </a:ext>
            </a:extLst>
          </p:cNvPr>
          <p:cNvSpPr>
            <a:spLocks noGrp="1"/>
          </p:cNvSpPr>
          <p:nvPr>
            <p:ph type="sldNum" sz="quarter" idx="12"/>
          </p:nvPr>
        </p:nvSpPr>
        <p:spPr/>
        <p:txBody>
          <a:bodyPr/>
          <a:lstStyle/>
          <a:p>
            <a:fld id="{C2C7F9AA-CA03-41A2-98A1-CACE2F6792FB}" type="slidenum">
              <a:rPr lang="en-SG" smtClean="0"/>
              <a:t>‹#›</a:t>
            </a:fld>
            <a:endParaRPr lang="en-SG"/>
          </a:p>
        </p:txBody>
      </p:sp>
    </p:spTree>
    <p:extLst>
      <p:ext uri="{BB962C8B-B14F-4D97-AF65-F5344CB8AC3E}">
        <p14:creationId xmlns:p14="http://schemas.microsoft.com/office/powerpoint/2010/main" val="1509705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29F9AC-FD8F-2470-04CB-821780F9E9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D445110-B942-2A42-259B-D3DC481967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3BA9BCE-B82C-081D-BB21-EEC6F4768B79}"/>
              </a:ext>
            </a:extLst>
          </p:cNvPr>
          <p:cNvSpPr>
            <a:spLocks noGrp="1"/>
          </p:cNvSpPr>
          <p:nvPr>
            <p:ph type="dt" sz="half" idx="10"/>
          </p:nvPr>
        </p:nvSpPr>
        <p:spPr/>
        <p:txBody>
          <a:bodyPr/>
          <a:lstStyle/>
          <a:p>
            <a:fld id="{475CE1D2-4F44-462E-8C41-1E0EBD0DE6BF}" type="datetimeFigureOut">
              <a:rPr lang="en-SG" smtClean="0"/>
              <a:t>30/5/2026</a:t>
            </a:fld>
            <a:endParaRPr lang="en-SG"/>
          </a:p>
        </p:txBody>
      </p:sp>
      <p:sp>
        <p:nvSpPr>
          <p:cNvPr id="5" name="Footer Placeholder 4">
            <a:extLst>
              <a:ext uri="{FF2B5EF4-FFF2-40B4-BE49-F238E27FC236}">
                <a16:creationId xmlns:a16="http://schemas.microsoft.com/office/drawing/2014/main" id="{4C39DCFE-E4A8-6A37-9290-971CF8D3385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0A63AD8-75EA-2F1B-C2B0-385750AAD2FE}"/>
              </a:ext>
            </a:extLst>
          </p:cNvPr>
          <p:cNvSpPr>
            <a:spLocks noGrp="1"/>
          </p:cNvSpPr>
          <p:nvPr>
            <p:ph type="sldNum" sz="quarter" idx="12"/>
          </p:nvPr>
        </p:nvSpPr>
        <p:spPr/>
        <p:txBody>
          <a:bodyPr/>
          <a:lstStyle/>
          <a:p>
            <a:fld id="{C2C7F9AA-CA03-41A2-98A1-CACE2F6792FB}" type="slidenum">
              <a:rPr lang="en-SG" smtClean="0"/>
              <a:t>‹#›</a:t>
            </a:fld>
            <a:endParaRPr lang="en-SG"/>
          </a:p>
        </p:txBody>
      </p:sp>
    </p:spTree>
    <p:extLst>
      <p:ext uri="{BB962C8B-B14F-4D97-AF65-F5344CB8AC3E}">
        <p14:creationId xmlns:p14="http://schemas.microsoft.com/office/powerpoint/2010/main" val="321137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8F9D0-B7C4-DF58-BBB0-2D60ED819E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66E9D47-8E47-3638-8924-E0EE0CDA9F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A9E57D3-DE25-5C95-8231-49044C3AD5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5CE1D2-4F44-462E-8C41-1E0EBD0DE6BF}" type="datetimeFigureOut">
              <a:rPr lang="en-SG" smtClean="0"/>
              <a:t>30/5/2026</a:t>
            </a:fld>
            <a:endParaRPr lang="en-SG"/>
          </a:p>
        </p:txBody>
      </p:sp>
      <p:sp>
        <p:nvSpPr>
          <p:cNvPr id="5" name="Footer Placeholder 4">
            <a:extLst>
              <a:ext uri="{FF2B5EF4-FFF2-40B4-BE49-F238E27FC236}">
                <a16:creationId xmlns:a16="http://schemas.microsoft.com/office/drawing/2014/main" id="{CEB66534-7472-D2F6-2F00-7A3583A5AB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C5992219-8D6B-CEAA-95FE-CEC359C29D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C7F9AA-CA03-41A2-98A1-CACE2F6792FB}" type="slidenum">
              <a:rPr lang="en-SG" smtClean="0"/>
              <a:t>‹#›</a:t>
            </a:fld>
            <a:endParaRPr lang="en-SG"/>
          </a:p>
        </p:txBody>
      </p:sp>
    </p:spTree>
    <p:extLst>
      <p:ext uri="{BB962C8B-B14F-4D97-AF65-F5344CB8AC3E}">
        <p14:creationId xmlns:p14="http://schemas.microsoft.com/office/powerpoint/2010/main" val="158504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18/10/relationships/comments" Target="../comments/modernComment_102_4974FF2E.xml"/><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A3BC86F7.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kaggle.com/datasets/hooong/aviation-maintenance-dataset-from-the-ngafid"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microsoft.com/office/2018/10/relationships/comments" Target="../comments/modernComment_104_C9A669BD.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A_D9FBFAB9.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essna 172: Still Relevant Today?">
            <a:extLst>
              <a:ext uri="{FF2B5EF4-FFF2-40B4-BE49-F238E27FC236}">
                <a16:creationId xmlns:a16="http://schemas.microsoft.com/office/drawing/2014/main" id="{DAD0626C-900F-8A5C-0120-F48631D547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9091" r="23298"/>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09B305-7452-788B-D361-82767379A23B}"/>
              </a:ext>
            </a:extLst>
          </p:cNvPr>
          <p:cNvSpPr>
            <a:spLocks noGrp="1"/>
          </p:cNvSpPr>
          <p:nvPr>
            <p:ph type="ctrTitle"/>
          </p:nvPr>
        </p:nvSpPr>
        <p:spPr>
          <a:xfrm>
            <a:off x="477981" y="1122363"/>
            <a:ext cx="4023360" cy="1876869"/>
          </a:xfrm>
        </p:spPr>
        <p:txBody>
          <a:bodyPr anchor="b">
            <a:normAutofit/>
          </a:bodyPr>
          <a:lstStyle/>
          <a:p>
            <a:pPr algn="l"/>
            <a:r>
              <a:rPr lang="en-US" sz="4000" b="1">
                <a:latin typeface="Arial" panose="020B0604020202020204" pitchFamily="34" charset="0"/>
                <a:cs typeface="Arial" panose="020B0604020202020204" pitchFamily="34" charset="0"/>
              </a:rPr>
              <a:t>Aircraft Maintenance Prediction</a:t>
            </a:r>
            <a:endParaRPr lang="en-SG" sz="4000" b="1">
              <a:latin typeface="Arial" panose="020B0604020202020204" pitchFamily="34" charset="0"/>
              <a:cs typeface="Arial" panose="020B0604020202020204" pitchFamily="34" charset="0"/>
            </a:endParaRPr>
          </a:p>
        </p:txBody>
      </p:sp>
      <p:sp>
        <p:nvSpPr>
          <p:cNvPr id="1035" name="Rectangle 103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7" name="Rectangle 103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3">
            <a:extLst>
              <a:ext uri="{FF2B5EF4-FFF2-40B4-BE49-F238E27FC236}">
                <a16:creationId xmlns:a16="http://schemas.microsoft.com/office/drawing/2014/main" id="{E31750C1-F14F-998D-C437-CD9CB40B1567}"/>
              </a:ext>
            </a:extLst>
          </p:cNvPr>
          <p:cNvSpPr txBox="1"/>
          <p:nvPr/>
        </p:nvSpPr>
        <p:spPr>
          <a:xfrm>
            <a:off x="438634" y="4121585"/>
            <a:ext cx="4102053" cy="2031325"/>
          </a:xfrm>
          <a:prstGeom prst="rect">
            <a:avLst/>
          </a:prstGeom>
          <a:solidFill>
            <a:schemeClr val="bg1">
              <a:alpha val="16000"/>
            </a:schemeClr>
          </a:solidFill>
          <a:effectLst>
            <a:softEdge rad="63500"/>
          </a:effectLst>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b="1">
                <a:latin typeface="Arial" panose="020B0604020202020204" pitchFamily="34" charset="0"/>
                <a:cs typeface="Arial" panose="020B0604020202020204" pitchFamily="34" charset="0"/>
              </a:rPr>
              <a:t>Section G2 Group 10</a:t>
            </a:r>
          </a:p>
          <a:p>
            <a:endParaRPr lang="en-SG" b="1" u="sng">
              <a:latin typeface="Arial" panose="020B0604020202020204" pitchFamily="34" charset="0"/>
              <a:cs typeface="Arial" panose="020B0604020202020204" pitchFamily="34" charset="0"/>
            </a:endParaRPr>
          </a:p>
          <a:p>
            <a:r>
              <a:rPr lang="en-SG">
                <a:latin typeface="Arial" panose="020B0604020202020204" pitchFamily="34" charset="0"/>
                <a:cs typeface="Arial" panose="020B0604020202020204" pitchFamily="34" charset="0"/>
              </a:rPr>
              <a:t>Kimberly Bertoli</a:t>
            </a:r>
          </a:p>
          <a:p>
            <a:r>
              <a:rPr lang="en-SG">
                <a:latin typeface="Arial" panose="020B0604020202020204" pitchFamily="34" charset="0"/>
                <a:cs typeface="Arial" panose="020B0604020202020204" pitchFamily="34" charset="0"/>
              </a:rPr>
              <a:t>Do </a:t>
            </a:r>
            <a:r>
              <a:rPr lang="en-SG" err="1">
                <a:latin typeface="Arial" panose="020B0604020202020204" pitchFamily="34" charset="0"/>
                <a:cs typeface="Arial" panose="020B0604020202020204" pitchFamily="34" charset="0"/>
              </a:rPr>
              <a:t>Thi</a:t>
            </a:r>
            <a:r>
              <a:rPr lang="en-SG">
                <a:latin typeface="Arial" panose="020B0604020202020204" pitchFamily="34" charset="0"/>
                <a:cs typeface="Arial" panose="020B0604020202020204" pitchFamily="34" charset="0"/>
              </a:rPr>
              <a:t> Phuong Linh</a:t>
            </a:r>
          </a:p>
          <a:p>
            <a:r>
              <a:rPr lang="en-SG">
                <a:latin typeface="Arial" panose="020B0604020202020204" pitchFamily="34" charset="0"/>
                <a:cs typeface="Arial" panose="020B0604020202020204" pitchFamily="34" charset="0"/>
              </a:rPr>
              <a:t>Nguyen Kim Hau</a:t>
            </a:r>
            <a:br>
              <a:rPr lang="en-SG">
                <a:latin typeface="Arial" panose="020B0604020202020204" pitchFamily="34" charset="0"/>
                <a:cs typeface="Arial" panose="020B0604020202020204" pitchFamily="34" charset="0"/>
              </a:rPr>
            </a:br>
            <a:r>
              <a:rPr lang="en-SG">
                <a:latin typeface="Arial" panose="020B0604020202020204" pitchFamily="34" charset="0"/>
                <a:cs typeface="Arial" panose="020B0604020202020204" pitchFamily="34" charset="0"/>
              </a:rPr>
              <a:t>Tanya Arora</a:t>
            </a:r>
          </a:p>
          <a:p>
            <a:r>
              <a:rPr lang="en-SG">
                <a:latin typeface="Arial" panose="020B0604020202020204" pitchFamily="34" charset="0"/>
                <a:cs typeface="Arial" panose="020B0604020202020204" pitchFamily="34" charset="0"/>
              </a:rPr>
              <a:t>Cheung See Lin</a:t>
            </a:r>
          </a:p>
        </p:txBody>
      </p:sp>
    </p:spTree>
    <p:extLst>
      <p:ext uri="{BB962C8B-B14F-4D97-AF65-F5344CB8AC3E}">
        <p14:creationId xmlns:p14="http://schemas.microsoft.com/office/powerpoint/2010/main" val="3934287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C5E4BF-B8B4-6379-C81C-80BE1B491144}"/>
              </a:ext>
            </a:extLst>
          </p:cNvPr>
          <p:cNvSpPr/>
          <p:nvPr/>
        </p:nvSpPr>
        <p:spPr>
          <a:xfrm>
            <a:off x="0" y="0"/>
            <a:ext cx="12192000" cy="6810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Arial" panose="020B0604020202020204" pitchFamily="34" charset="0"/>
                <a:cs typeface="Arial" panose="020B0604020202020204" pitchFamily="34" charset="0"/>
              </a:rPr>
              <a:t>Business Problem</a:t>
            </a:r>
            <a:endParaRPr lang="en-SG" sz="2800" b="1">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3E20E93D-FFAC-BB14-7BA2-04535E053780}"/>
              </a:ext>
            </a:extLst>
          </p:cNvPr>
          <p:cNvGraphicFramePr>
            <a:graphicFrameLocks noGrp="1"/>
          </p:cNvGraphicFramePr>
          <p:nvPr>
            <p:extLst>
              <p:ext uri="{D42A27DB-BD31-4B8C-83A1-F6EECF244321}">
                <p14:modId xmlns:p14="http://schemas.microsoft.com/office/powerpoint/2010/main" val="3220307932"/>
              </p:ext>
            </p:extLst>
          </p:nvPr>
        </p:nvGraphicFramePr>
        <p:xfrm>
          <a:off x="442722" y="3250080"/>
          <a:ext cx="11123675" cy="2377580"/>
        </p:xfrm>
        <a:graphic>
          <a:graphicData uri="http://schemas.openxmlformats.org/drawingml/2006/table">
            <a:tbl>
              <a:tblPr>
                <a:tableStyleId>{5DA37D80-6434-44D0-A028-1B22A696006F}</a:tableStyleId>
              </a:tblPr>
              <a:tblGrid>
                <a:gridCol w="1956816">
                  <a:extLst>
                    <a:ext uri="{9D8B030D-6E8A-4147-A177-3AD203B41FA5}">
                      <a16:colId xmlns:a16="http://schemas.microsoft.com/office/drawing/2014/main" val="2519045956"/>
                    </a:ext>
                  </a:extLst>
                </a:gridCol>
                <a:gridCol w="4180680">
                  <a:extLst>
                    <a:ext uri="{9D8B030D-6E8A-4147-A177-3AD203B41FA5}">
                      <a16:colId xmlns:a16="http://schemas.microsoft.com/office/drawing/2014/main" val="2227355885"/>
                    </a:ext>
                  </a:extLst>
                </a:gridCol>
                <a:gridCol w="4986179">
                  <a:extLst>
                    <a:ext uri="{9D8B030D-6E8A-4147-A177-3AD203B41FA5}">
                      <a16:colId xmlns:a16="http://schemas.microsoft.com/office/drawing/2014/main" val="2953960710"/>
                    </a:ext>
                  </a:extLst>
                </a:gridCol>
              </a:tblGrid>
              <a:tr h="248992">
                <a:tc>
                  <a:txBody>
                    <a:bodyPr/>
                    <a:lstStyle/>
                    <a:p>
                      <a:pPr algn="ctr">
                        <a:buNone/>
                      </a:pPr>
                      <a:endParaRPr lang="en-SG" sz="1400" b="1">
                        <a:latin typeface="Arial" panose="020B0604020202020204" pitchFamily="34" charset="0"/>
                        <a:cs typeface="Arial" panose="020B0604020202020204" pitchFamily="34" charset="0"/>
                      </a:endParaRPr>
                    </a:p>
                  </a:txBody>
                  <a:tcPr marL="82101" marR="82101" marT="41050" marB="41050" anchor="ctr">
                    <a:lnL w="12700" cmpd="sng">
                      <a:noFill/>
                    </a:lnL>
                    <a:lnR w="12700" cap="flat" cmpd="sng" algn="ctr">
                      <a:solidFill>
                        <a:schemeClr val="bg2">
                          <a:lumMod val="75000"/>
                        </a:schemeClr>
                      </a:solidFill>
                      <a:prstDash val="solid"/>
                      <a:round/>
                      <a:headEnd type="none" w="med" len="med"/>
                      <a:tailEnd type="none" w="med" len="med"/>
                    </a:lnR>
                    <a:lnT w="12700" cmpd="sng">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SG" sz="1400" b="1">
                          <a:latin typeface="Arial" panose="020B0604020202020204" pitchFamily="34" charset="0"/>
                          <a:cs typeface="Arial" panose="020B0604020202020204" pitchFamily="34" charset="0"/>
                        </a:rPr>
                        <a:t>Without ML</a:t>
                      </a:r>
                    </a:p>
                  </a:txBody>
                  <a:tcPr marL="82101" marR="82101" marT="41050" marB="4105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CE4D8"/>
                    </a:solidFill>
                  </a:tcPr>
                </a:tc>
                <a:tc>
                  <a:txBody>
                    <a:bodyPr/>
                    <a:lstStyle/>
                    <a:p>
                      <a:pPr algn="ctr">
                        <a:buNone/>
                      </a:pPr>
                      <a:r>
                        <a:rPr lang="en-SG" sz="1400" b="1">
                          <a:latin typeface="Arial" panose="020B0604020202020204" pitchFamily="34" charset="0"/>
                          <a:cs typeface="Arial" panose="020B0604020202020204" pitchFamily="34" charset="0"/>
                        </a:rPr>
                        <a:t>With ML</a:t>
                      </a:r>
                    </a:p>
                  </a:txBody>
                  <a:tcPr marL="82101" marR="82101" marT="41050" marB="41050" anchor="ctr">
                    <a:lnL w="12700" cap="flat" cmpd="sng" algn="ctr">
                      <a:solidFill>
                        <a:schemeClr val="bg2">
                          <a:lumMod val="75000"/>
                        </a:schemeClr>
                      </a:solidFill>
                      <a:prstDash val="solid"/>
                      <a:round/>
                      <a:headEnd type="none" w="med" len="med"/>
                      <a:tailEnd type="none" w="med" len="med"/>
                    </a:lnL>
                    <a:solidFill>
                      <a:schemeClr val="accent5">
                        <a:lumMod val="20000"/>
                        <a:lumOff val="80000"/>
                      </a:schemeClr>
                    </a:solidFill>
                  </a:tcPr>
                </a:tc>
                <a:extLst>
                  <a:ext uri="{0D108BD9-81ED-4DB2-BD59-A6C34878D82A}">
                    <a16:rowId xmlns:a16="http://schemas.microsoft.com/office/drawing/2014/main" val="3350526634"/>
                  </a:ext>
                </a:extLst>
              </a:tr>
              <a:tr h="309360">
                <a:tc>
                  <a:txBody>
                    <a:bodyPr/>
                    <a:lstStyle/>
                    <a:p>
                      <a:pPr>
                        <a:buNone/>
                      </a:pPr>
                      <a:r>
                        <a:rPr lang="en-SG" sz="1400">
                          <a:latin typeface="Arial" panose="020B0604020202020204" pitchFamily="34" charset="0"/>
                          <a:cs typeface="Arial" panose="020B0604020202020204" pitchFamily="34" charset="0"/>
                        </a:rPr>
                        <a:t>Core Idea</a:t>
                      </a:r>
                    </a:p>
                  </a:txBody>
                  <a:tcPr marL="82101" marR="82101" marT="41050" marB="4105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buNone/>
                      </a:pPr>
                      <a:r>
                        <a:rPr lang="en-US" sz="1400">
                          <a:latin typeface="Arial" panose="020B0604020202020204" pitchFamily="34" charset="0"/>
                          <a:cs typeface="Arial" panose="020B0604020202020204" pitchFamily="34" charset="0"/>
                        </a:rPr>
                        <a:t>Scheduled inspections and manual fault checks</a:t>
                      </a:r>
                    </a:p>
                  </a:txBody>
                  <a:tcPr marL="82101" marR="82101" marT="41050" marB="41050" anchor="ctr">
                    <a:lnL w="12700" cap="flat" cmpd="sng" algn="ctr">
                      <a:solidFill>
                        <a:schemeClr val="bg2">
                          <a:lumMod val="75000"/>
                        </a:schemeClr>
                      </a:solidFill>
                      <a:prstDash val="solid"/>
                      <a:round/>
                      <a:headEnd type="none" w="med" len="med"/>
                      <a:tailEnd type="none" w="med" len="med"/>
                    </a:lnL>
                    <a:lnT w="12700" cap="flat" cmpd="sng" algn="ctr">
                      <a:solidFill>
                        <a:schemeClr val="bg2">
                          <a:lumMod val="75000"/>
                        </a:schemeClr>
                      </a:solidFill>
                      <a:prstDash val="solid"/>
                      <a:round/>
                      <a:headEnd type="none" w="med" len="med"/>
                      <a:tailEnd type="none" w="med" len="med"/>
                    </a:lnT>
                  </a:tcPr>
                </a:tc>
                <a:tc>
                  <a:txBody>
                    <a:bodyPr/>
                    <a:lstStyle/>
                    <a:p>
                      <a:pPr>
                        <a:buNone/>
                      </a:pPr>
                      <a:r>
                        <a:rPr lang="en-US" sz="1400">
                          <a:latin typeface="Arial" panose="020B0604020202020204" pitchFamily="34" charset="0"/>
                          <a:cs typeface="Arial" panose="020B0604020202020204" pitchFamily="34" charset="0"/>
                        </a:rPr>
                        <a:t>Predict maintenance risks using historical flight telemetry</a:t>
                      </a:r>
                    </a:p>
                  </a:txBody>
                  <a:tcPr marL="82101" marR="82101" marT="41050" marB="41050" anchor="ctr"/>
                </a:tc>
                <a:extLst>
                  <a:ext uri="{0D108BD9-81ED-4DB2-BD59-A6C34878D82A}">
                    <a16:rowId xmlns:a16="http://schemas.microsoft.com/office/drawing/2014/main" val="2602110227"/>
                  </a:ext>
                </a:extLst>
              </a:tr>
              <a:tr h="248992">
                <a:tc>
                  <a:txBody>
                    <a:bodyPr/>
                    <a:lstStyle/>
                    <a:p>
                      <a:pPr>
                        <a:buNone/>
                      </a:pPr>
                      <a:r>
                        <a:rPr lang="en-SG" sz="1400">
                          <a:latin typeface="Arial" panose="020B0604020202020204" pitchFamily="34" charset="0"/>
                          <a:cs typeface="Arial" panose="020B0604020202020204" pitchFamily="34" charset="0"/>
                        </a:rPr>
                        <a:t>Pattern Detection</a:t>
                      </a:r>
                    </a:p>
                  </a:txBody>
                  <a:tcPr marL="82101" marR="82101" marT="41050" marB="41050" anchor="ctr">
                    <a:lnT w="12700" cap="flat" cmpd="sng" algn="ctr">
                      <a:solidFill>
                        <a:schemeClr val="bg2">
                          <a:lumMod val="75000"/>
                        </a:schemeClr>
                      </a:solidFill>
                      <a:prstDash val="solid"/>
                      <a:round/>
                      <a:headEnd type="none" w="med" len="med"/>
                      <a:tailEnd type="none" w="med" len="med"/>
                    </a:lnT>
                  </a:tcPr>
                </a:tc>
                <a:tc>
                  <a:txBody>
                    <a:bodyPr/>
                    <a:lstStyle/>
                    <a:p>
                      <a:pPr>
                        <a:buNone/>
                      </a:pPr>
                      <a:r>
                        <a:rPr lang="en-US" sz="1400">
                          <a:latin typeface="Arial" panose="020B0604020202020204" pitchFamily="34" charset="0"/>
                          <a:cs typeface="Arial" panose="020B0604020202020204" pitchFamily="34" charset="0"/>
                        </a:rPr>
                        <a:t>Limited to fixed rules and thresholds</a:t>
                      </a:r>
                    </a:p>
                  </a:txBody>
                  <a:tcPr marL="82101" marR="82101" marT="41050" marB="41050" anchor="ctr"/>
                </a:tc>
                <a:tc>
                  <a:txBody>
                    <a:bodyPr/>
                    <a:lstStyle/>
                    <a:p>
                      <a:pPr>
                        <a:buNone/>
                      </a:pPr>
                      <a:r>
                        <a:rPr lang="en-US" sz="1400">
                          <a:latin typeface="Arial" panose="020B0604020202020204" pitchFamily="34" charset="0"/>
                          <a:cs typeface="Arial" panose="020B0604020202020204" pitchFamily="34" charset="0"/>
                        </a:rPr>
                        <a:t>Learns complex multivariate time-series patterns</a:t>
                      </a:r>
                    </a:p>
                  </a:txBody>
                  <a:tcPr marL="82101" marR="82101" marT="41050" marB="41050" anchor="ctr"/>
                </a:tc>
                <a:extLst>
                  <a:ext uri="{0D108BD9-81ED-4DB2-BD59-A6C34878D82A}">
                    <a16:rowId xmlns:a16="http://schemas.microsoft.com/office/drawing/2014/main" val="3591566692"/>
                  </a:ext>
                </a:extLst>
              </a:tr>
              <a:tr h="248992">
                <a:tc>
                  <a:txBody>
                    <a:bodyPr/>
                    <a:lstStyle/>
                    <a:p>
                      <a:pPr>
                        <a:buNone/>
                      </a:pPr>
                      <a:r>
                        <a:rPr lang="en-SG" sz="1400">
                          <a:latin typeface="Arial" panose="020B0604020202020204" pitchFamily="34" charset="0"/>
                          <a:cs typeface="Arial" panose="020B0604020202020204" pitchFamily="34" charset="0"/>
                        </a:rPr>
                        <a:t>Data Used</a:t>
                      </a:r>
                    </a:p>
                  </a:txBody>
                  <a:tcPr marL="82101" marR="82101" marT="41050" marB="41050" anchor="ctr"/>
                </a:tc>
                <a:tc>
                  <a:txBody>
                    <a:bodyPr/>
                    <a:lstStyle/>
                    <a:p>
                      <a:pPr>
                        <a:buNone/>
                      </a:pPr>
                      <a:r>
                        <a:rPr lang="en-US" sz="1400">
                          <a:latin typeface="Arial" panose="020B0604020202020204" pitchFamily="34" charset="0"/>
                          <a:cs typeface="Arial" panose="020B0604020202020204" pitchFamily="34" charset="0"/>
                        </a:rPr>
                        <a:t>Manual inspections and safety checks</a:t>
                      </a:r>
                    </a:p>
                  </a:txBody>
                  <a:tcPr marL="82101" marR="82101" marT="41050" marB="41050" anchor="ctr"/>
                </a:tc>
                <a:tc>
                  <a:txBody>
                    <a:bodyPr/>
                    <a:lstStyle/>
                    <a:p>
                      <a:pPr>
                        <a:buNone/>
                      </a:pPr>
                      <a:r>
                        <a:rPr lang="en-US" sz="1400">
                          <a:latin typeface="Arial" panose="020B0604020202020204" pitchFamily="34" charset="0"/>
                          <a:cs typeface="Arial" panose="020B0604020202020204" pitchFamily="34" charset="0"/>
                        </a:rPr>
                        <a:t>Per-second aircraft sensor and maintenance data</a:t>
                      </a:r>
                    </a:p>
                  </a:txBody>
                  <a:tcPr marL="82101" marR="82101" marT="41050" marB="41050" anchor="ctr"/>
                </a:tc>
                <a:extLst>
                  <a:ext uri="{0D108BD9-81ED-4DB2-BD59-A6C34878D82A}">
                    <a16:rowId xmlns:a16="http://schemas.microsoft.com/office/drawing/2014/main" val="508516370"/>
                  </a:ext>
                </a:extLst>
              </a:tr>
              <a:tr h="248992">
                <a:tc>
                  <a:txBody>
                    <a:bodyPr/>
                    <a:lstStyle/>
                    <a:p>
                      <a:pPr>
                        <a:buNone/>
                      </a:pPr>
                      <a:r>
                        <a:rPr lang="en-SG" sz="1400">
                          <a:latin typeface="Arial" panose="020B0604020202020204" pitchFamily="34" charset="0"/>
                          <a:cs typeface="Arial" panose="020B0604020202020204" pitchFamily="34" charset="0"/>
                        </a:rPr>
                        <a:t>Adaptability</a:t>
                      </a:r>
                    </a:p>
                  </a:txBody>
                  <a:tcPr marL="82101" marR="82101" marT="41050" marB="41050" anchor="ctr"/>
                </a:tc>
                <a:tc>
                  <a:txBody>
                    <a:bodyPr/>
                    <a:lstStyle/>
                    <a:p>
                      <a:pPr>
                        <a:buNone/>
                      </a:pPr>
                      <a:r>
                        <a:rPr lang="en-SG" sz="1400">
                          <a:latin typeface="Arial" panose="020B0604020202020204" pitchFamily="34" charset="0"/>
                          <a:cs typeface="Arial" panose="020B0604020202020204" pitchFamily="34" charset="0"/>
                        </a:rPr>
                        <a:t>Rules updated manually</a:t>
                      </a:r>
                    </a:p>
                  </a:txBody>
                  <a:tcPr marL="82101" marR="82101" marT="41050" marB="41050" anchor="ctr"/>
                </a:tc>
                <a:tc>
                  <a:txBody>
                    <a:bodyPr/>
                    <a:lstStyle/>
                    <a:p>
                      <a:pPr>
                        <a:buNone/>
                      </a:pPr>
                      <a:r>
                        <a:rPr lang="en-US" sz="1400">
                          <a:latin typeface="Arial" panose="020B0604020202020204" pitchFamily="34" charset="0"/>
                          <a:cs typeface="Arial" panose="020B0604020202020204" pitchFamily="34" charset="0"/>
                        </a:rPr>
                        <a:t>Adapts to changing flight behaviour automatically</a:t>
                      </a:r>
                    </a:p>
                  </a:txBody>
                  <a:tcPr marL="82101" marR="82101" marT="41050" marB="41050" anchor="ctr"/>
                </a:tc>
                <a:extLst>
                  <a:ext uri="{0D108BD9-81ED-4DB2-BD59-A6C34878D82A}">
                    <a16:rowId xmlns:a16="http://schemas.microsoft.com/office/drawing/2014/main" val="3803244903"/>
                  </a:ext>
                </a:extLst>
              </a:tr>
              <a:tr h="248992">
                <a:tc>
                  <a:txBody>
                    <a:bodyPr/>
                    <a:lstStyle/>
                    <a:p>
                      <a:pPr>
                        <a:buNone/>
                      </a:pPr>
                      <a:r>
                        <a:rPr lang="en-SG" sz="1400">
                          <a:latin typeface="Arial" panose="020B0604020202020204" pitchFamily="34" charset="0"/>
                          <a:cs typeface="Arial" panose="020B0604020202020204" pitchFamily="34" charset="0"/>
                        </a:rPr>
                        <a:t>Accuracy</a:t>
                      </a:r>
                    </a:p>
                  </a:txBody>
                  <a:tcPr marL="82101" marR="82101" marT="41050" marB="41050" anchor="ctr"/>
                </a:tc>
                <a:tc>
                  <a:txBody>
                    <a:bodyPr/>
                    <a:lstStyle/>
                    <a:p>
                      <a:pPr>
                        <a:buNone/>
                      </a:pPr>
                      <a:r>
                        <a:rPr lang="en-US" sz="1400">
                          <a:latin typeface="Arial" panose="020B0604020202020204" pitchFamily="34" charset="0"/>
                          <a:cs typeface="Arial" panose="020B0604020202020204" pitchFamily="34" charset="0"/>
                        </a:rPr>
                        <a:t>May miss early warning signs</a:t>
                      </a:r>
                    </a:p>
                  </a:txBody>
                  <a:tcPr marL="82101" marR="82101" marT="41050" marB="41050" anchor="ctr"/>
                </a:tc>
                <a:tc>
                  <a:txBody>
                    <a:bodyPr/>
                    <a:lstStyle/>
                    <a:p>
                      <a:pPr>
                        <a:buNone/>
                      </a:pPr>
                      <a:r>
                        <a:rPr lang="en-US" sz="1400">
                          <a:latin typeface="Arial" panose="020B0604020202020204" pitchFamily="34" charset="0"/>
                          <a:cs typeface="Arial" panose="020B0604020202020204" pitchFamily="34" charset="0"/>
                        </a:rPr>
                        <a:t>Improves anomaly and maintenance prediction</a:t>
                      </a:r>
                    </a:p>
                  </a:txBody>
                  <a:tcPr marL="82101" marR="82101" marT="41050" marB="41050" anchor="ctr"/>
                </a:tc>
                <a:extLst>
                  <a:ext uri="{0D108BD9-81ED-4DB2-BD59-A6C34878D82A}">
                    <a16:rowId xmlns:a16="http://schemas.microsoft.com/office/drawing/2014/main" val="3316806131"/>
                  </a:ext>
                </a:extLst>
              </a:tr>
              <a:tr h="248992">
                <a:tc>
                  <a:txBody>
                    <a:bodyPr/>
                    <a:lstStyle/>
                    <a:p>
                      <a:pPr>
                        <a:buNone/>
                      </a:pPr>
                      <a:r>
                        <a:rPr lang="en-SG" sz="1400">
                          <a:latin typeface="Arial" panose="020B0604020202020204" pitchFamily="34" charset="0"/>
                          <a:cs typeface="Arial" panose="020B0604020202020204" pitchFamily="34" charset="0"/>
                        </a:rPr>
                        <a:t>Scalability</a:t>
                      </a:r>
                    </a:p>
                  </a:txBody>
                  <a:tcPr marL="82101" marR="82101" marT="41050" marB="41050" anchor="ctr"/>
                </a:tc>
                <a:tc>
                  <a:txBody>
                    <a:bodyPr/>
                    <a:lstStyle/>
                    <a:p>
                      <a:pPr>
                        <a:buNone/>
                      </a:pPr>
                      <a:r>
                        <a:rPr lang="en-SG" sz="1400">
                          <a:latin typeface="Arial" panose="020B0604020202020204" pitchFamily="34" charset="0"/>
                          <a:cs typeface="Arial" panose="020B0604020202020204" pitchFamily="34" charset="0"/>
                        </a:rPr>
                        <a:t>Difficult across large fleets</a:t>
                      </a:r>
                    </a:p>
                  </a:txBody>
                  <a:tcPr marL="82101" marR="82101" marT="41050" marB="41050" anchor="ctr"/>
                </a:tc>
                <a:tc>
                  <a:txBody>
                    <a:bodyPr/>
                    <a:lstStyle/>
                    <a:p>
                      <a:pPr>
                        <a:buNone/>
                      </a:pPr>
                      <a:r>
                        <a:rPr lang="en-US" sz="1400">
                          <a:latin typeface="Arial" panose="020B0604020202020204" pitchFamily="34" charset="0"/>
                          <a:cs typeface="Arial" panose="020B0604020202020204" pitchFamily="34" charset="0"/>
                        </a:rPr>
                        <a:t>Scales across thousands of flights</a:t>
                      </a:r>
                    </a:p>
                  </a:txBody>
                  <a:tcPr marL="82101" marR="82101" marT="41050" marB="41050" anchor="ctr"/>
                </a:tc>
                <a:extLst>
                  <a:ext uri="{0D108BD9-81ED-4DB2-BD59-A6C34878D82A}">
                    <a16:rowId xmlns:a16="http://schemas.microsoft.com/office/drawing/2014/main" val="3858604922"/>
                  </a:ext>
                </a:extLst>
              </a:tr>
              <a:tr h="248992">
                <a:tc>
                  <a:txBody>
                    <a:bodyPr/>
                    <a:lstStyle/>
                    <a:p>
                      <a:pPr>
                        <a:buNone/>
                      </a:pPr>
                      <a:r>
                        <a:rPr lang="en-SG" sz="1400">
                          <a:latin typeface="Arial" panose="020B0604020202020204" pitchFamily="34" charset="0"/>
                          <a:cs typeface="Arial" panose="020B0604020202020204" pitchFamily="34" charset="0"/>
                        </a:rPr>
                        <a:t>Output</a:t>
                      </a:r>
                    </a:p>
                  </a:txBody>
                  <a:tcPr marL="82101" marR="82101" marT="41050" marB="41050" anchor="ctr"/>
                </a:tc>
                <a:tc>
                  <a:txBody>
                    <a:bodyPr/>
                    <a:lstStyle/>
                    <a:p>
                      <a:pPr>
                        <a:buNone/>
                      </a:pPr>
                      <a:r>
                        <a:rPr lang="en-SG" sz="1400">
                          <a:latin typeface="Arial" panose="020B0604020202020204" pitchFamily="34" charset="0"/>
                          <a:cs typeface="Arial" panose="020B0604020202020204" pitchFamily="34" charset="0"/>
                        </a:rPr>
                        <a:t>Reactive maintenance actions</a:t>
                      </a:r>
                    </a:p>
                  </a:txBody>
                  <a:tcPr marL="82101" marR="82101" marT="41050" marB="41050" anchor="ctr"/>
                </a:tc>
                <a:tc>
                  <a:txBody>
                    <a:bodyPr/>
                    <a:lstStyle/>
                    <a:p>
                      <a:pPr>
                        <a:buNone/>
                      </a:pPr>
                      <a:r>
                        <a:rPr lang="en-US" sz="1400">
                          <a:latin typeface="Arial" panose="020B0604020202020204" pitchFamily="34" charset="0"/>
                          <a:cs typeface="Arial" panose="020B0604020202020204" pitchFamily="34" charset="0"/>
                        </a:rPr>
                        <a:t>Predictive maintenance alerts and early warnings</a:t>
                      </a:r>
                    </a:p>
                  </a:txBody>
                  <a:tcPr marL="82101" marR="82101" marT="41050" marB="41050" anchor="ctr"/>
                </a:tc>
                <a:extLst>
                  <a:ext uri="{0D108BD9-81ED-4DB2-BD59-A6C34878D82A}">
                    <a16:rowId xmlns:a16="http://schemas.microsoft.com/office/drawing/2014/main" val="2757982572"/>
                  </a:ext>
                </a:extLst>
              </a:tr>
            </a:tbl>
          </a:graphicData>
        </a:graphic>
      </p:graphicFrame>
      <p:sp>
        <p:nvSpPr>
          <p:cNvPr id="13" name="TextBox 12">
            <a:extLst>
              <a:ext uri="{FF2B5EF4-FFF2-40B4-BE49-F238E27FC236}">
                <a16:creationId xmlns:a16="http://schemas.microsoft.com/office/drawing/2014/main" id="{2436593D-3AA7-0604-A206-498A03F7FED0}"/>
              </a:ext>
            </a:extLst>
          </p:cNvPr>
          <p:cNvSpPr txBox="1"/>
          <p:nvPr/>
        </p:nvSpPr>
        <p:spPr>
          <a:xfrm>
            <a:off x="1276116" y="5892506"/>
            <a:ext cx="9800358" cy="627887"/>
          </a:xfrm>
          <a:prstGeom prst="rect">
            <a:avLst/>
          </a:prstGeom>
          <a:solidFill>
            <a:srgbClr val="FFFFCC"/>
          </a:solidFill>
        </p:spPr>
        <p:txBody>
          <a:bodyPr wrap="square">
            <a:spAutoFit/>
          </a:bodyPr>
          <a:lstStyle/>
          <a:p>
            <a:pPr algn="ctr">
              <a:lnSpc>
                <a:spcPct val="107000"/>
              </a:lnSpc>
              <a:spcAft>
                <a:spcPts val="800"/>
              </a:spcAft>
              <a:buNone/>
            </a:pPr>
            <a:r>
              <a:rPr lang="en-SG" sz="1600" i="1" kern="100">
                <a:effectLst/>
                <a:latin typeface="Arial" panose="020B0604020202020204" pitchFamily="34" charset="0"/>
                <a:ea typeface="Aptos" panose="020B0004020202020204" pitchFamily="34" charset="0"/>
                <a:cs typeface="Times New Roman" panose="02020603050405020304" pitchFamily="18" charset="0"/>
              </a:rPr>
              <a:t>Predictive maintenance model enables the airline to proactively address fleet maintenance needs, reduced inventory cost, prevent potential flight delays and optimise engineering productivity</a:t>
            </a:r>
            <a:endParaRPr lang="en-SG" sz="1600" i="1"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9D0DFA55-50CE-47D6-7514-EBAEF75D0E52}"/>
              </a:ext>
            </a:extLst>
          </p:cNvPr>
          <p:cNvPicPr>
            <a:picLocks noChangeAspect="1"/>
          </p:cNvPicPr>
          <p:nvPr/>
        </p:nvPicPr>
        <p:blipFill>
          <a:blip r:embed="rId2"/>
          <a:stretch>
            <a:fillRect/>
          </a:stretch>
        </p:blipFill>
        <p:spPr>
          <a:xfrm>
            <a:off x="908586" y="5900928"/>
            <a:ext cx="413879" cy="359796"/>
          </a:xfrm>
          <a:prstGeom prst="rect">
            <a:avLst/>
          </a:prstGeom>
        </p:spPr>
      </p:pic>
      <p:grpSp>
        <p:nvGrpSpPr>
          <p:cNvPr id="5" name="Group 4">
            <a:extLst>
              <a:ext uri="{FF2B5EF4-FFF2-40B4-BE49-F238E27FC236}">
                <a16:creationId xmlns:a16="http://schemas.microsoft.com/office/drawing/2014/main" id="{F4500EBC-9EF0-F1EF-5821-33FBEEEE5088}"/>
              </a:ext>
            </a:extLst>
          </p:cNvPr>
          <p:cNvGrpSpPr/>
          <p:nvPr/>
        </p:nvGrpSpPr>
        <p:grpSpPr>
          <a:xfrm>
            <a:off x="66675" y="872589"/>
            <a:ext cx="10153650" cy="2104223"/>
            <a:chOff x="-109728" y="760811"/>
            <a:chExt cx="10122408" cy="2104223"/>
          </a:xfrm>
        </p:grpSpPr>
        <p:sp>
          <p:nvSpPr>
            <p:cNvPr id="11" name="Rectangle 10">
              <a:extLst>
                <a:ext uri="{FF2B5EF4-FFF2-40B4-BE49-F238E27FC236}">
                  <a16:creationId xmlns:a16="http://schemas.microsoft.com/office/drawing/2014/main" id="{1945A0D5-751E-634C-E8D5-E9B699D7A24F}"/>
                </a:ext>
              </a:extLst>
            </p:cNvPr>
            <p:cNvSpPr/>
            <p:nvPr/>
          </p:nvSpPr>
          <p:spPr>
            <a:xfrm>
              <a:off x="387096" y="760811"/>
              <a:ext cx="9625584" cy="12874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r>
                <a:rPr lang="en-US" sz="1600" u="sng">
                  <a:solidFill>
                    <a:schemeClr val="tx1"/>
                  </a:solidFill>
                  <a:latin typeface="Arial" panose="020B0604020202020204" pitchFamily="34" charset="0"/>
                  <a:cs typeface="Arial" panose="020B0604020202020204" pitchFamily="34" charset="0"/>
                </a:rPr>
                <a:t>Problem Statement</a:t>
              </a:r>
              <a:r>
                <a:rPr lang="en-US" sz="1600">
                  <a:solidFill>
                    <a:schemeClr val="tx1"/>
                  </a:solidFill>
                  <a:latin typeface="Arial" panose="020B0604020202020204" pitchFamily="34" charset="0"/>
                  <a:cs typeface="Arial" panose="020B0604020202020204" pitchFamily="34" charset="0"/>
                </a:rPr>
                <a:t>:</a:t>
              </a:r>
            </a:p>
            <a:p>
              <a:pPr algn="just"/>
              <a:r>
                <a:rPr lang="en-US" sz="1600">
                  <a:solidFill>
                    <a:schemeClr val="tx1"/>
                  </a:solidFill>
                  <a:latin typeface="Arial"/>
                  <a:cs typeface="Arial"/>
                </a:rPr>
                <a:t>A good maintenance plan is one of the key drivers to ensuring an aircraft is fit for function.</a:t>
              </a:r>
            </a:p>
            <a:p>
              <a:pPr algn="just"/>
              <a:r>
                <a:rPr lang="en-US" sz="1600">
                  <a:solidFill>
                    <a:schemeClr val="tx1"/>
                  </a:solidFill>
                  <a:latin typeface="Arial"/>
                  <a:cs typeface="Arial"/>
                </a:rPr>
                <a:t>Maintenance can be largely categorized into two:</a:t>
              </a:r>
            </a:p>
            <a:p>
              <a:pPr marL="742950" lvl="1" indent="-285750" algn="just">
                <a:buFont typeface="Arial" panose="020B0604020202020204" pitchFamily="34" charset="0"/>
                <a:buChar char="•"/>
              </a:pPr>
              <a:r>
                <a:rPr lang="en-US" sz="1600" i="1">
                  <a:solidFill>
                    <a:schemeClr val="tx1"/>
                  </a:solidFill>
                  <a:latin typeface="Arial"/>
                  <a:cs typeface="Arial"/>
                </a:rPr>
                <a:t>Planned maintenance</a:t>
              </a:r>
              <a:r>
                <a:rPr lang="en-US" sz="1600">
                  <a:solidFill>
                    <a:schemeClr val="tx1"/>
                  </a:solidFill>
                  <a:latin typeface="Arial"/>
                  <a:cs typeface="Arial"/>
                </a:rPr>
                <a:t> </a:t>
              </a:r>
            </a:p>
            <a:p>
              <a:pPr marL="742950" lvl="1" indent="-285750" algn="just">
                <a:buFont typeface="Arial" panose="020B0604020202020204" pitchFamily="34" charset="0"/>
                <a:buChar char="•"/>
              </a:pPr>
              <a:r>
                <a:rPr lang="en-US" sz="1600" i="1">
                  <a:solidFill>
                    <a:schemeClr val="tx1"/>
                  </a:solidFill>
                  <a:latin typeface="Arial"/>
                  <a:cs typeface="Arial"/>
                </a:rPr>
                <a:t>Unplanned maintenance </a:t>
              </a:r>
              <a:endParaRPr lang="en-US" i="1">
                <a:solidFill>
                  <a:schemeClr val="tx1"/>
                </a:solidFill>
                <a:latin typeface="Aptos"/>
                <a:cs typeface="Arial"/>
              </a:endParaRPr>
            </a:p>
          </p:txBody>
        </p:sp>
        <p:sp>
          <p:nvSpPr>
            <p:cNvPr id="3" name="TextBox 2">
              <a:extLst>
                <a:ext uri="{FF2B5EF4-FFF2-40B4-BE49-F238E27FC236}">
                  <a16:creationId xmlns:a16="http://schemas.microsoft.com/office/drawing/2014/main" id="{C94FBA34-5872-5B21-101E-3E625C216D55}"/>
                </a:ext>
              </a:extLst>
            </p:cNvPr>
            <p:cNvSpPr txBox="1"/>
            <p:nvPr/>
          </p:nvSpPr>
          <p:spPr>
            <a:xfrm>
              <a:off x="-109728" y="2034037"/>
              <a:ext cx="9454895" cy="830997"/>
            </a:xfrm>
            <a:prstGeom prst="rect">
              <a:avLst/>
            </a:prstGeom>
            <a:noFill/>
          </p:spPr>
          <p:txBody>
            <a:bodyPr wrap="square">
              <a:spAutoFit/>
            </a:bodyPr>
            <a:lstStyle/>
            <a:p>
              <a:pPr lvl="1"/>
              <a:r>
                <a:rPr lang="en-US" sz="1600">
                  <a:solidFill>
                    <a:schemeClr val="tx1"/>
                  </a:solidFill>
                  <a:latin typeface="Arial"/>
                  <a:cs typeface="Arial"/>
                </a:rPr>
                <a:t>Predictive maintenance can allow for accurate lifetime prediction of components therefore pre-emptively replacing components that will be damaged in between maintenance cycles potentially shifting the maintenance time spent in the unplanned region, over to the planned region.</a:t>
              </a:r>
            </a:p>
          </p:txBody>
        </p:sp>
      </p:grpSp>
      <p:pic>
        <p:nvPicPr>
          <p:cNvPr id="19" name="Picture 18">
            <a:extLst>
              <a:ext uri="{FF2B5EF4-FFF2-40B4-BE49-F238E27FC236}">
                <a16:creationId xmlns:a16="http://schemas.microsoft.com/office/drawing/2014/main" id="{263F2E85-B5F1-483C-921F-3410D8720A5E}"/>
              </a:ext>
            </a:extLst>
          </p:cNvPr>
          <p:cNvPicPr>
            <a:picLocks noChangeAspect="1"/>
          </p:cNvPicPr>
          <p:nvPr/>
        </p:nvPicPr>
        <p:blipFill>
          <a:blip r:embed="rId3"/>
          <a:stretch>
            <a:fillRect/>
          </a:stretch>
        </p:blipFill>
        <p:spPr>
          <a:xfrm>
            <a:off x="9782175" y="872589"/>
            <a:ext cx="2112645" cy="2112645"/>
          </a:xfrm>
          <a:prstGeom prst="rect">
            <a:avLst/>
          </a:prstGeom>
        </p:spPr>
      </p:pic>
    </p:spTree>
    <p:extLst>
      <p:ext uri="{BB962C8B-B14F-4D97-AF65-F5344CB8AC3E}">
        <p14:creationId xmlns:p14="http://schemas.microsoft.com/office/powerpoint/2010/main" val="1506164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B387E-A142-56E6-7BA9-4BE6DE8A40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0971011-9579-1BF6-3AB0-75E702E2526D}"/>
              </a:ext>
            </a:extLst>
          </p:cNvPr>
          <p:cNvSpPr/>
          <p:nvPr/>
        </p:nvSpPr>
        <p:spPr>
          <a:xfrm>
            <a:off x="0" y="0"/>
            <a:ext cx="12192000" cy="6810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Arial" panose="020B0604020202020204" pitchFamily="34" charset="0"/>
                <a:cs typeface="Arial" panose="020B0604020202020204" pitchFamily="34" charset="0"/>
              </a:rPr>
              <a:t>Methodology</a:t>
            </a:r>
            <a:endParaRPr lang="en-SG" sz="2800" b="1">
              <a:latin typeface="Arial" panose="020B0604020202020204" pitchFamily="34" charset="0"/>
              <a:cs typeface="Arial" panose="020B0604020202020204" pitchFamily="34" charset="0"/>
            </a:endParaRPr>
          </a:p>
        </p:txBody>
      </p:sp>
      <p:grpSp>
        <p:nvGrpSpPr>
          <p:cNvPr id="31" name="Group 30">
            <a:extLst>
              <a:ext uri="{FF2B5EF4-FFF2-40B4-BE49-F238E27FC236}">
                <a16:creationId xmlns:a16="http://schemas.microsoft.com/office/drawing/2014/main" id="{8ABF7CFC-6BA2-F1B8-DA64-395DEECA4413}"/>
              </a:ext>
            </a:extLst>
          </p:cNvPr>
          <p:cNvGrpSpPr/>
          <p:nvPr/>
        </p:nvGrpSpPr>
        <p:grpSpPr>
          <a:xfrm>
            <a:off x="261239" y="771002"/>
            <a:ext cx="11669522" cy="4568223"/>
            <a:chOff x="261239" y="1061098"/>
            <a:chExt cx="11669522" cy="4568223"/>
          </a:xfrm>
        </p:grpSpPr>
        <p:graphicFrame>
          <p:nvGraphicFramePr>
            <p:cNvPr id="3" name="Diagram 2">
              <a:extLst>
                <a:ext uri="{FF2B5EF4-FFF2-40B4-BE49-F238E27FC236}">
                  <a16:creationId xmlns:a16="http://schemas.microsoft.com/office/drawing/2014/main" id="{7D402E28-A130-C6AC-8A33-EB8EB6B7B4BE}"/>
                </a:ext>
              </a:extLst>
            </p:cNvPr>
            <p:cNvGraphicFramePr/>
            <p:nvPr>
              <p:extLst>
                <p:ext uri="{D42A27DB-BD31-4B8C-83A1-F6EECF244321}">
                  <p14:modId xmlns:p14="http://schemas.microsoft.com/office/powerpoint/2010/main" val="1389961057"/>
                </p:ext>
              </p:extLst>
            </p:nvPr>
          </p:nvGraphicFramePr>
          <p:xfrm>
            <a:off x="261239" y="1061098"/>
            <a:ext cx="11669522" cy="45682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Arrow: U-Turn 8">
              <a:extLst>
                <a:ext uri="{FF2B5EF4-FFF2-40B4-BE49-F238E27FC236}">
                  <a16:creationId xmlns:a16="http://schemas.microsoft.com/office/drawing/2014/main" id="{CC69109D-8D24-6776-B6EC-4067CA48FE45}"/>
                </a:ext>
              </a:extLst>
            </p:cNvPr>
            <p:cNvSpPr/>
            <p:nvPr/>
          </p:nvSpPr>
          <p:spPr>
            <a:xfrm flipH="1">
              <a:off x="3052423" y="1440081"/>
              <a:ext cx="5358614" cy="311373"/>
            </a:xfrm>
            <a:prstGeom prst="uturnArrow">
              <a:avLst>
                <a:gd name="adj1" fmla="val 25000"/>
                <a:gd name="adj2" fmla="val 25000"/>
                <a:gd name="adj3" fmla="val 25000"/>
                <a:gd name="adj4" fmla="val 43750"/>
                <a:gd name="adj5" fmla="val 100000"/>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12" name="TextBox 11">
              <a:extLst>
                <a:ext uri="{FF2B5EF4-FFF2-40B4-BE49-F238E27FC236}">
                  <a16:creationId xmlns:a16="http://schemas.microsoft.com/office/drawing/2014/main" id="{67EC88C4-8B8B-E959-E29C-C16EC235986B}"/>
                </a:ext>
              </a:extLst>
            </p:cNvPr>
            <p:cNvSpPr txBox="1"/>
            <p:nvPr/>
          </p:nvSpPr>
          <p:spPr>
            <a:xfrm>
              <a:off x="4116705" y="1086744"/>
              <a:ext cx="2914650" cy="338554"/>
            </a:xfrm>
            <a:prstGeom prst="rect">
              <a:avLst/>
            </a:prstGeom>
            <a:noFill/>
          </p:spPr>
          <p:txBody>
            <a:bodyPr wrap="square" rtlCol="0">
              <a:spAutoFit/>
            </a:bodyPr>
            <a:lstStyle/>
            <a:p>
              <a:pPr algn="ctr"/>
              <a:r>
                <a:rPr lang="en-SG" sz="1600" i="1">
                  <a:latin typeface="Arial" panose="020B0604020202020204" pitchFamily="34" charset="0"/>
                  <a:cs typeface="Arial" panose="020B0604020202020204" pitchFamily="34" charset="0"/>
                </a:rPr>
                <a:t>Repeat if necessary</a:t>
              </a:r>
            </a:p>
          </p:txBody>
        </p:sp>
      </p:grpSp>
      <p:sp>
        <p:nvSpPr>
          <p:cNvPr id="16" name="TextBox 15">
            <a:extLst>
              <a:ext uri="{FF2B5EF4-FFF2-40B4-BE49-F238E27FC236}">
                <a16:creationId xmlns:a16="http://schemas.microsoft.com/office/drawing/2014/main" id="{8551C4B4-68A3-55AF-FC5B-C06ECAAEEDC6}"/>
              </a:ext>
            </a:extLst>
          </p:cNvPr>
          <p:cNvSpPr txBox="1"/>
          <p:nvPr/>
        </p:nvSpPr>
        <p:spPr>
          <a:xfrm>
            <a:off x="510709" y="5624113"/>
            <a:ext cx="11262170" cy="738664"/>
          </a:xfrm>
          <a:prstGeom prst="rect">
            <a:avLst/>
          </a:prstGeom>
          <a:solidFill>
            <a:schemeClr val="bg2"/>
          </a:solidFill>
        </p:spPr>
        <p:txBody>
          <a:bodyPr wrap="square" lIns="91440" tIns="45720" rIns="91440" bIns="45720" rtlCol="0" anchor="t">
            <a:spAutoFit/>
          </a:bodyPr>
          <a:lstStyle/>
          <a:p>
            <a:r>
              <a:rPr lang="en-SG" sz="1400">
                <a:latin typeface="Arial"/>
                <a:cs typeface="Arial"/>
              </a:rPr>
              <a:t>Goal is to predict maintenance required based on a fixed set of labels, the ML approach will be that of a classification problem. </a:t>
            </a:r>
            <a:r>
              <a:rPr lang="en-US" sz="1400">
                <a:latin typeface="Arial"/>
                <a:cs typeface="Arial"/>
              </a:rPr>
              <a:t>By analyzing flight sensor patterns before and after maintenance events, the model will predict maintenance-related risk states, helping airlines enable earlier inspections and proactive maintenance planning.</a:t>
            </a:r>
            <a:endParaRPr lang="en-SG" sz="1400">
              <a:latin typeface="Arial"/>
              <a:cs typeface="Arial"/>
            </a:endParaRPr>
          </a:p>
        </p:txBody>
      </p:sp>
      <p:grpSp>
        <p:nvGrpSpPr>
          <p:cNvPr id="17" name="Group 16">
            <a:extLst>
              <a:ext uri="{FF2B5EF4-FFF2-40B4-BE49-F238E27FC236}">
                <a16:creationId xmlns:a16="http://schemas.microsoft.com/office/drawing/2014/main" id="{4A0EA199-2EC5-C013-0E17-D7A4C0D49D56}"/>
              </a:ext>
            </a:extLst>
          </p:cNvPr>
          <p:cNvGrpSpPr/>
          <p:nvPr/>
        </p:nvGrpSpPr>
        <p:grpSpPr>
          <a:xfrm>
            <a:off x="510709" y="4962568"/>
            <a:ext cx="11262170" cy="351467"/>
            <a:chOff x="340994" y="1299210"/>
            <a:chExt cx="11069955" cy="502920"/>
          </a:xfrm>
        </p:grpSpPr>
        <p:grpSp>
          <p:nvGrpSpPr>
            <p:cNvPr id="20" name="Group 19">
              <a:extLst>
                <a:ext uri="{FF2B5EF4-FFF2-40B4-BE49-F238E27FC236}">
                  <a16:creationId xmlns:a16="http://schemas.microsoft.com/office/drawing/2014/main" id="{61E5357E-1CCE-291E-EEF5-0E1AED9E6C99}"/>
                </a:ext>
              </a:extLst>
            </p:cNvPr>
            <p:cNvGrpSpPr/>
            <p:nvPr/>
          </p:nvGrpSpPr>
          <p:grpSpPr>
            <a:xfrm>
              <a:off x="340994" y="1299210"/>
              <a:ext cx="11069955" cy="502920"/>
              <a:chOff x="274320" y="1280160"/>
              <a:chExt cx="8595360" cy="502920"/>
            </a:xfrm>
          </p:grpSpPr>
          <p:sp>
            <p:nvSpPr>
              <p:cNvPr id="23" name="Shape 5">
                <a:extLst>
                  <a:ext uri="{FF2B5EF4-FFF2-40B4-BE49-F238E27FC236}">
                    <a16:creationId xmlns:a16="http://schemas.microsoft.com/office/drawing/2014/main" id="{00ECB24B-0C8E-DFCC-4D07-FF26C48B3EBF}"/>
                  </a:ext>
                </a:extLst>
              </p:cNvPr>
              <p:cNvSpPr/>
              <p:nvPr/>
            </p:nvSpPr>
            <p:spPr>
              <a:xfrm>
                <a:off x="274320" y="1280160"/>
                <a:ext cx="6029581" cy="502920"/>
              </a:xfrm>
              <a:prstGeom prst="rect">
                <a:avLst/>
              </a:prstGeom>
              <a:solidFill>
                <a:srgbClr val="2E86C1"/>
              </a:solidFill>
              <a:ln w="12700">
                <a:solidFill>
                  <a:srgbClr val="2E86C1"/>
                </a:solidFill>
                <a:prstDash val="solid"/>
              </a:ln>
            </p:spPr>
            <p:txBody>
              <a:bodyPr/>
              <a:lstStyle/>
              <a:p>
                <a:pPr algn="ctr"/>
                <a:endParaRPr lang="en-SG" sz="1600" b="1">
                  <a:solidFill>
                    <a:schemeClr val="bg1"/>
                  </a:solidFill>
                  <a:latin typeface="Arial" panose="020B0604020202020204" pitchFamily="34" charset="0"/>
                  <a:cs typeface="Arial" panose="020B0604020202020204" pitchFamily="34" charset="0"/>
                </a:endParaRPr>
              </a:p>
            </p:txBody>
          </p:sp>
          <p:sp>
            <p:nvSpPr>
              <p:cNvPr id="24" name="Text 8">
                <a:extLst>
                  <a:ext uri="{FF2B5EF4-FFF2-40B4-BE49-F238E27FC236}">
                    <a16:creationId xmlns:a16="http://schemas.microsoft.com/office/drawing/2014/main" id="{5C4CD69E-94EC-CCFB-5C8D-F06D310D5F35}"/>
                  </a:ext>
                </a:extLst>
              </p:cNvPr>
              <p:cNvSpPr/>
              <p:nvPr/>
            </p:nvSpPr>
            <p:spPr>
              <a:xfrm>
                <a:off x="6303901" y="1280160"/>
                <a:ext cx="1282890" cy="502920"/>
              </a:xfrm>
              <a:prstGeom prst="rect">
                <a:avLst/>
              </a:prstGeom>
              <a:solidFill>
                <a:srgbClr val="FFC000"/>
              </a:solidFill>
              <a:ln/>
            </p:spPr>
            <p:txBody>
              <a:bodyPr wrap="square" lIns="0" tIns="0" rIns="0" bIns="0" rtlCol="0" anchor="ctr"/>
              <a:lstStyle/>
              <a:p>
                <a:pPr marL="0" indent="0" algn="ctr">
                  <a:buNone/>
                </a:pPr>
                <a:r>
                  <a:rPr lang="en-US" sz="1400" b="1">
                    <a:solidFill>
                      <a:srgbClr val="FFFFFF"/>
                    </a:solidFill>
                    <a:latin typeface="Arial" panose="020B0604020202020204" pitchFamily="34" charset="0"/>
                    <a:cs typeface="Arial" panose="020B0604020202020204" pitchFamily="34" charset="0"/>
                  </a:rPr>
                  <a:t>Validation / 15%</a:t>
                </a:r>
                <a:endParaRPr lang="en-US" sz="1400">
                  <a:latin typeface="Arial" panose="020B0604020202020204" pitchFamily="34" charset="0"/>
                  <a:cs typeface="Arial" panose="020B0604020202020204" pitchFamily="34" charset="0"/>
                </a:endParaRPr>
              </a:p>
            </p:txBody>
          </p:sp>
          <p:sp>
            <p:nvSpPr>
              <p:cNvPr id="25" name="Shape 9">
                <a:extLst>
                  <a:ext uri="{FF2B5EF4-FFF2-40B4-BE49-F238E27FC236}">
                    <a16:creationId xmlns:a16="http://schemas.microsoft.com/office/drawing/2014/main" id="{2BACC36F-AA04-6AAE-E70D-F2EA5D919F46}"/>
                  </a:ext>
                </a:extLst>
              </p:cNvPr>
              <p:cNvSpPr/>
              <p:nvPr/>
            </p:nvSpPr>
            <p:spPr>
              <a:xfrm>
                <a:off x="7586790" y="1280160"/>
                <a:ext cx="1282890" cy="502920"/>
              </a:xfrm>
              <a:prstGeom prst="rect">
                <a:avLst/>
              </a:prstGeom>
              <a:solidFill>
                <a:srgbClr val="1ABC9C"/>
              </a:solidFill>
              <a:ln w="12700">
                <a:solidFill>
                  <a:srgbClr val="1ABC9C"/>
                </a:solidFill>
                <a:prstDash val="solid"/>
              </a:ln>
            </p:spPr>
            <p:txBody>
              <a:bodyPr/>
              <a:lstStyle/>
              <a:p>
                <a:endParaRPr lang="en-SG"/>
              </a:p>
            </p:txBody>
          </p:sp>
        </p:grpSp>
        <p:sp>
          <p:nvSpPr>
            <p:cNvPr id="21" name="TextBox 20">
              <a:extLst>
                <a:ext uri="{FF2B5EF4-FFF2-40B4-BE49-F238E27FC236}">
                  <a16:creationId xmlns:a16="http://schemas.microsoft.com/office/drawing/2014/main" id="{929D2B70-D36A-A0C7-5BED-90E6DC3CBA28}"/>
                </a:ext>
              </a:extLst>
            </p:cNvPr>
            <p:cNvSpPr txBox="1"/>
            <p:nvPr/>
          </p:nvSpPr>
          <p:spPr>
            <a:xfrm>
              <a:off x="3581400" y="1331516"/>
              <a:ext cx="1447800" cy="338553"/>
            </a:xfrm>
            <a:prstGeom prst="rect">
              <a:avLst/>
            </a:prstGeom>
            <a:noFill/>
          </p:spPr>
          <p:txBody>
            <a:bodyPr wrap="square" rtlCol="0">
              <a:spAutoFit/>
            </a:bodyPr>
            <a:lstStyle/>
            <a:p>
              <a:r>
                <a:rPr lang="en-US" sz="1600" b="1">
                  <a:solidFill>
                    <a:srgbClr val="FFFFFF"/>
                  </a:solidFill>
                  <a:latin typeface="Arial" panose="020B0604020202020204" pitchFamily="34" charset="0"/>
                  <a:cs typeface="Arial" panose="020B0604020202020204" pitchFamily="34" charset="0"/>
                </a:rPr>
                <a:t>Train / 70%</a:t>
              </a:r>
              <a:endParaRPr lang="en-US" sz="160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2FAA3BAE-2001-63B0-1E0A-E05B019442F2}"/>
                </a:ext>
              </a:extLst>
            </p:cNvPr>
            <p:cNvSpPr txBox="1"/>
            <p:nvPr/>
          </p:nvSpPr>
          <p:spPr>
            <a:xfrm>
              <a:off x="10083876" y="1331516"/>
              <a:ext cx="1178484" cy="338553"/>
            </a:xfrm>
            <a:prstGeom prst="rect">
              <a:avLst/>
            </a:prstGeom>
            <a:noFill/>
          </p:spPr>
          <p:txBody>
            <a:bodyPr wrap="square" rtlCol="0">
              <a:spAutoFit/>
            </a:bodyPr>
            <a:lstStyle/>
            <a:p>
              <a:r>
                <a:rPr lang="en-US" sz="1600" b="1">
                  <a:solidFill>
                    <a:srgbClr val="FFFFFF"/>
                  </a:solidFill>
                  <a:latin typeface="Arial" panose="020B0604020202020204" pitchFamily="34" charset="0"/>
                  <a:cs typeface="Arial" panose="020B0604020202020204" pitchFamily="34" charset="0"/>
                </a:rPr>
                <a:t>Test / 15%</a:t>
              </a:r>
              <a:endParaRPr lang="en-US" sz="160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32404270"/>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06DE3-D230-5AF9-F18D-6F5B27186E15}"/>
            </a:ext>
          </a:extLst>
        </p:cNvPr>
        <p:cNvGrpSpPr/>
        <p:nvPr/>
      </p:nvGrpSpPr>
      <p:grpSpPr>
        <a:xfrm>
          <a:off x="0" y="0"/>
          <a:ext cx="0" cy="0"/>
          <a:chOff x="0" y="0"/>
          <a:chExt cx="0" cy="0"/>
        </a:xfrm>
      </p:grpSpPr>
      <p:cxnSp>
        <p:nvCxnSpPr>
          <p:cNvPr id="45" name="Connector: Elbow 44">
            <a:extLst>
              <a:ext uri="{FF2B5EF4-FFF2-40B4-BE49-F238E27FC236}">
                <a16:creationId xmlns:a16="http://schemas.microsoft.com/office/drawing/2014/main" id="{9436B721-B347-994C-9A56-F53DA5D13CAA}"/>
              </a:ext>
            </a:extLst>
          </p:cNvPr>
          <p:cNvCxnSpPr>
            <a:cxnSpLocks/>
            <a:endCxn id="16" idx="3"/>
          </p:cNvCxnSpPr>
          <p:nvPr/>
        </p:nvCxnSpPr>
        <p:spPr>
          <a:xfrm rot="5400000">
            <a:off x="9631329" y="4762327"/>
            <a:ext cx="1000081" cy="946271"/>
          </a:xfrm>
          <a:prstGeom prst="bentConnector2">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0F89A456-BEFB-7E05-4623-6FDCAB3F5AA6}"/>
              </a:ext>
            </a:extLst>
          </p:cNvPr>
          <p:cNvSpPr/>
          <p:nvPr/>
        </p:nvSpPr>
        <p:spPr>
          <a:xfrm>
            <a:off x="0" y="0"/>
            <a:ext cx="12192000" cy="6810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Arial" panose="020B0604020202020204" pitchFamily="34" charset="0"/>
                <a:cs typeface="Arial" panose="020B0604020202020204" pitchFamily="34" charset="0"/>
              </a:rPr>
              <a:t>Dataset and Proposed ML Solution</a:t>
            </a:r>
            <a:endParaRPr lang="en-SG" sz="2800" b="1">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C60247FD-2E40-D7A0-461E-35E32BEF3027}"/>
              </a:ext>
            </a:extLst>
          </p:cNvPr>
          <p:cNvSpPr/>
          <p:nvPr/>
        </p:nvSpPr>
        <p:spPr>
          <a:xfrm>
            <a:off x="380214" y="1314064"/>
            <a:ext cx="2073799" cy="995076"/>
          </a:xfrm>
          <a:prstGeom prst="rect">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G" sz="3200" b="1">
                <a:solidFill>
                  <a:schemeClr val="tx1"/>
                </a:solidFill>
                <a:latin typeface="Arial" panose="020B0604020202020204" pitchFamily="34" charset="0"/>
                <a:cs typeface="Arial" panose="020B0604020202020204" pitchFamily="34" charset="0"/>
              </a:rPr>
              <a:t>29k</a:t>
            </a:r>
          </a:p>
          <a:p>
            <a:pPr algn="ctr"/>
            <a:r>
              <a:rPr lang="en-SG" sz="1400" i="1">
                <a:solidFill>
                  <a:schemeClr val="tx1"/>
                </a:solidFill>
                <a:latin typeface="Arial"/>
                <a:cs typeface="Arial"/>
              </a:rPr>
              <a:t>flights</a:t>
            </a:r>
            <a:endParaRPr lang="en-SG"/>
          </a:p>
        </p:txBody>
      </p:sp>
      <p:sp>
        <p:nvSpPr>
          <p:cNvPr id="6" name="Rectangle 5">
            <a:extLst>
              <a:ext uri="{FF2B5EF4-FFF2-40B4-BE49-F238E27FC236}">
                <a16:creationId xmlns:a16="http://schemas.microsoft.com/office/drawing/2014/main" id="{88E50CA5-F347-F6BE-FADD-19FAEFD3CC80}"/>
              </a:ext>
            </a:extLst>
          </p:cNvPr>
          <p:cNvSpPr/>
          <p:nvPr/>
        </p:nvSpPr>
        <p:spPr>
          <a:xfrm>
            <a:off x="9795946" y="1309942"/>
            <a:ext cx="1937824" cy="995076"/>
          </a:xfrm>
          <a:prstGeom prst="rect">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G" sz="3200" b="1">
                <a:solidFill>
                  <a:schemeClr val="tx1"/>
                </a:solidFill>
                <a:latin typeface="Arial" panose="020B0604020202020204" pitchFamily="34" charset="0"/>
                <a:cs typeface="Arial" panose="020B0604020202020204" pitchFamily="34" charset="0"/>
              </a:rPr>
              <a:t>23</a:t>
            </a:r>
          </a:p>
          <a:p>
            <a:pPr algn="ctr"/>
            <a:r>
              <a:rPr lang="en-SG" sz="1400" i="1">
                <a:solidFill>
                  <a:schemeClr val="tx1"/>
                </a:solidFill>
                <a:latin typeface="Arial"/>
                <a:cs typeface="Arial"/>
              </a:rPr>
              <a:t>Sensor data </a:t>
            </a:r>
          </a:p>
          <a:p>
            <a:pPr algn="ctr"/>
            <a:r>
              <a:rPr lang="en-SG" sz="1400" i="1">
                <a:solidFill>
                  <a:schemeClr val="tx1"/>
                </a:solidFill>
                <a:latin typeface="Arial"/>
                <a:cs typeface="Arial"/>
              </a:rPr>
              <a:t>+ 7 Metadata columns</a:t>
            </a:r>
            <a:endParaRPr lang="en-SG" sz="1400" i="1">
              <a:solidFill>
                <a:schemeClr val="tx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CB87C701-CDE2-5E82-31E3-DEC018B902FF}"/>
              </a:ext>
            </a:extLst>
          </p:cNvPr>
          <p:cNvSpPr/>
          <p:nvPr/>
        </p:nvSpPr>
        <p:spPr>
          <a:xfrm>
            <a:off x="7548464" y="1316889"/>
            <a:ext cx="1936800" cy="995076"/>
          </a:xfrm>
          <a:prstGeom prst="rect">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3200" b="1">
                <a:solidFill>
                  <a:schemeClr val="tx1"/>
                </a:solidFill>
                <a:latin typeface="Arial" panose="020B0604020202020204" pitchFamily="34" charset="0"/>
                <a:cs typeface="Arial" panose="020B0604020202020204" pitchFamily="34" charset="0"/>
              </a:rPr>
              <a:t>36</a:t>
            </a:r>
          </a:p>
          <a:p>
            <a:pPr algn="ctr"/>
            <a:r>
              <a:rPr lang="en-SG" sz="1400" i="1">
                <a:solidFill>
                  <a:schemeClr val="tx1"/>
                </a:solidFill>
                <a:latin typeface="Arial" panose="020B0604020202020204" pitchFamily="34" charset="0"/>
                <a:cs typeface="Arial" panose="020B0604020202020204" pitchFamily="34" charset="0"/>
              </a:rPr>
              <a:t>Unique maintenance label type</a:t>
            </a:r>
          </a:p>
        </p:txBody>
      </p:sp>
      <p:sp>
        <p:nvSpPr>
          <p:cNvPr id="9" name="TextBox 8">
            <a:extLst>
              <a:ext uri="{FF2B5EF4-FFF2-40B4-BE49-F238E27FC236}">
                <a16:creationId xmlns:a16="http://schemas.microsoft.com/office/drawing/2014/main" id="{8D1A9AF6-1F52-DCA8-F296-B6815E279F6F}"/>
              </a:ext>
            </a:extLst>
          </p:cNvPr>
          <p:cNvSpPr txBox="1"/>
          <p:nvPr/>
        </p:nvSpPr>
        <p:spPr>
          <a:xfrm>
            <a:off x="120991" y="2313488"/>
            <a:ext cx="1479821" cy="307777"/>
          </a:xfrm>
          <a:prstGeom prst="rect">
            <a:avLst/>
          </a:prstGeom>
          <a:noFill/>
        </p:spPr>
        <p:txBody>
          <a:bodyPr wrap="square" rtlCol="0">
            <a:spAutoFit/>
          </a:bodyPr>
          <a:lstStyle/>
          <a:p>
            <a:r>
              <a:rPr lang="en-SG" sz="1400" u="sng">
                <a:latin typeface="Arial" panose="020B0604020202020204" pitchFamily="34" charset="0"/>
                <a:cs typeface="Arial" panose="020B0604020202020204" pitchFamily="34" charset="0"/>
              </a:rPr>
              <a:t>Sensor Data</a:t>
            </a:r>
          </a:p>
        </p:txBody>
      </p:sp>
      <p:sp>
        <p:nvSpPr>
          <p:cNvPr id="12" name="TextBox 11">
            <a:extLst>
              <a:ext uri="{FF2B5EF4-FFF2-40B4-BE49-F238E27FC236}">
                <a16:creationId xmlns:a16="http://schemas.microsoft.com/office/drawing/2014/main" id="{B070B489-8412-41D6-96D4-5A7DF88A8A89}"/>
              </a:ext>
            </a:extLst>
          </p:cNvPr>
          <p:cNvSpPr txBox="1"/>
          <p:nvPr/>
        </p:nvSpPr>
        <p:spPr>
          <a:xfrm>
            <a:off x="7548464" y="2366390"/>
            <a:ext cx="1479821" cy="307777"/>
          </a:xfrm>
          <a:prstGeom prst="rect">
            <a:avLst/>
          </a:prstGeom>
          <a:noFill/>
        </p:spPr>
        <p:txBody>
          <a:bodyPr wrap="square" lIns="91440" tIns="45720" rIns="91440" bIns="45720" rtlCol="0" anchor="t">
            <a:spAutoFit/>
          </a:bodyPr>
          <a:lstStyle/>
          <a:p>
            <a:r>
              <a:rPr lang="en-SG" sz="1400" u="sng">
                <a:latin typeface="Arial"/>
                <a:cs typeface="Arial"/>
              </a:rPr>
              <a:t>Flight Metadata</a:t>
            </a:r>
            <a:endParaRPr lang="en-SG" sz="1400" u="sng">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ADCFAE7D-7748-9F7D-4AAF-B4606827BC87}"/>
              </a:ext>
            </a:extLst>
          </p:cNvPr>
          <p:cNvSpPr txBox="1"/>
          <p:nvPr/>
        </p:nvSpPr>
        <p:spPr>
          <a:xfrm>
            <a:off x="999362" y="677541"/>
            <a:ext cx="10531221" cy="584775"/>
          </a:xfrm>
          <a:prstGeom prst="rect">
            <a:avLst/>
          </a:prstGeom>
          <a:noFill/>
        </p:spPr>
        <p:txBody>
          <a:bodyPr wrap="square">
            <a:spAutoFit/>
          </a:bodyPr>
          <a:lstStyle/>
          <a:p>
            <a:pPr algn="ctr"/>
            <a:r>
              <a:rPr lang="en-US" sz="1600">
                <a:highlight>
                  <a:srgbClr val="FFFFCC"/>
                </a:highlight>
                <a:latin typeface="Arial" panose="020B0604020202020204" pitchFamily="34" charset="0"/>
                <a:cs typeface="Arial" panose="020B0604020202020204" pitchFamily="34" charset="0"/>
              </a:rPr>
              <a:t>This dataset uses flight records and unplanned maintenance logs from a Cessna 172 aircraft, sourced from the National General Aviation Flight Information Database (NGAFID)</a:t>
            </a:r>
            <a:endParaRPr lang="en-SG" sz="1600">
              <a:highlight>
                <a:srgbClr val="FFFFCC"/>
              </a:highlight>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DB8FAF9-8D4B-215F-1DA7-5B42C9CF0C4D}"/>
              </a:ext>
            </a:extLst>
          </p:cNvPr>
          <p:cNvSpPr/>
          <p:nvPr/>
        </p:nvSpPr>
        <p:spPr>
          <a:xfrm>
            <a:off x="6033152" y="5290546"/>
            <a:ext cx="3625081" cy="88991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SG" sz="1600">
                <a:solidFill>
                  <a:schemeClr val="tx1"/>
                </a:solidFill>
                <a:latin typeface="Arial"/>
                <a:ea typeface="+mn-lt"/>
                <a:cs typeface="Arial"/>
              </a:rPr>
              <a:t>Target: P(RUL &gt; t days), binary, </a:t>
            </a:r>
            <a:br>
              <a:rPr lang="en-SG" sz="1600">
                <a:solidFill>
                  <a:schemeClr val="tx1"/>
                </a:solidFill>
                <a:latin typeface="Arial"/>
                <a:ea typeface="+mn-lt"/>
                <a:cs typeface="Arial"/>
              </a:rPr>
            </a:br>
            <a:r>
              <a:rPr lang="en-SG" sz="1600">
                <a:solidFill>
                  <a:schemeClr val="tx1"/>
                </a:solidFill>
                <a:latin typeface="Arial"/>
                <a:ea typeface="+mn-lt"/>
                <a:cs typeface="Arial"/>
              </a:rPr>
              <a:t>from </a:t>
            </a:r>
            <a:r>
              <a:rPr lang="en-SG" sz="1600" err="1">
                <a:solidFill>
                  <a:schemeClr val="tx1"/>
                </a:solidFill>
                <a:latin typeface="Arial"/>
                <a:ea typeface="+mn-lt"/>
                <a:cs typeface="Arial"/>
              </a:rPr>
              <a:t>before_after</a:t>
            </a:r>
            <a:r>
              <a:rPr lang="en-SG" sz="1600">
                <a:solidFill>
                  <a:schemeClr val="tx1"/>
                </a:solidFill>
                <a:latin typeface="Arial"/>
                <a:ea typeface="+mn-lt"/>
                <a:cs typeface="Arial"/>
              </a:rPr>
              <a:t> + </a:t>
            </a:r>
            <a:r>
              <a:rPr lang="en-SG" sz="1600" err="1">
                <a:solidFill>
                  <a:schemeClr val="tx1"/>
                </a:solidFill>
                <a:latin typeface="Arial"/>
                <a:ea typeface="+mn-lt"/>
                <a:cs typeface="Arial"/>
              </a:rPr>
              <a:t>date_diff</a:t>
            </a:r>
            <a:endParaRPr lang="en-US">
              <a:solidFill>
                <a:schemeClr val="tx1"/>
              </a:solidFill>
              <a:latin typeface="Arial"/>
              <a:cs typeface="Arial"/>
            </a:endParaRPr>
          </a:p>
        </p:txBody>
      </p:sp>
      <p:sp>
        <p:nvSpPr>
          <p:cNvPr id="17" name="Rectangle 16">
            <a:extLst>
              <a:ext uri="{FF2B5EF4-FFF2-40B4-BE49-F238E27FC236}">
                <a16:creationId xmlns:a16="http://schemas.microsoft.com/office/drawing/2014/main" id="{6F75345D-5329-F232-39E1-189B13CAC751}"/>
              </a:ext>
            </a:extLst>
          </p:cNvPr>
          <p:cNvSpPr/>
          <p:nvPr/>
        </p:nvSpPr>
        <p:spPr>
          <a:xfrm>
            <a:off x="5001219" y="1316889"/>
            <a:ext cx="2247520" cy="995076"/>
          </a:xfrm>
          <a:prstGeom prst="rect">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G" b="1">
                <a:solidFill>
                  <a:schemeClr val="tx1"/>
                </a:solidFill>
                <a:latin typeface="Arial"/>
                <a:cs typeface="Arial"/>
              </a:rPr>
              <a:t>Multivariate time series </a:t>
            </a:r>
            <a:r>
              <a:rPr lang="en-SG" sz="1400" i="1">
                <a:solidFill>
                  <a:schemeClr val="tx1"/>
                </a:solidFill>
                <a:latin typeface="Arial"/>
                <a:cs typeface="Arial"/>
              </a:rPr>
              <a:t>of sensor/flight </a:t>
            </a:r>
            <a:br>
              <a:rPr lang="en-SG" sz="1400" i="1">
                <a:solidFill>
                  <a:schemeClr val="tx1"/>
                </a:solidFill>
                <a:latin typeface="Arial"/>
                <a:cs typeface="Arial"/>
              </a:rPr>
            </a:br>
            <a:r>
              <a:rPr lang="en-SG" sz="1400" i="1">
                <a:solidFill>
                  <a:schemeClr val="tx1"/>
                </a:solidFill>
                <a:latin typeface="Arial"/>
                <a:cs typeface="Arial"/>
              </a:rPr>
              <a:t>⇒ 113 million records</a:t>
            </a:r>
            <a:endParaRPr lang="en-US">
              <a:solidFill>
                <a:schemeClr val="tx1"/>
              </a:solidFill>
              <a:latin typeface="Aptos" panose="02110004020202020204"/>
              <a:cs typeface="Arial"/>
            </a:endParaRPr>
          </a:p>
        </p:txBody>
      </p:sp>
      <p:grpSp>
        <p:nvGrpSpPr>
          <p:cNvPr id="28" name="Group 27">
            <a:extLst>
              <a:ext uri="{FF2B5EF4-FFF2-40B4-BE49-F238E27FC236}">
                <a16:creationId xmlns:a16="http://schemas.microsoft.com/office/drawing/2014/main" id="{58E90770-3781-BEEE-AF13-3164C40BA974}"/>
              </a:ext>
            </a:extLst>
          </p:cNvPr>
          <p:cNvGrpSpPr/>
          <p:nvPr/>
        </p:nvGrpSpPr>
        <p:grpSpPr>
          <a:xfrm>
            <a:off x="4385518" y="3531998"/>
            <a:ext cx="3162946" cy="1043775"/>
            <a:chOff x="4131553" y="3251913"/>
            <a:chExt cx="3886742" cy="979364"/>
          </a:xfrm>
        </p:grpSpPr>
        <p:sp>
          <p:nvSpPr>
            <p:cNvPr id="26" name="Rectangle 25">
              <a:extLst>
                <a:ext uri="{FF2B5EF4-FFF2-40B4-BE49-F238E27FC236}">
                  <a16:creationId xmlns:a16="http://schemas.microsoft.com/office/drawing/2014/main" id="{AD74382A-8E8C-F5D1-D221-A742764853CC}"/>
                </a:ext>
              </a:extLst>
            </p:cNvPr>
            <p:cNvSpPr/>
            <p:nvPr/>
          </p:nvSpPr>
          <p:spPr>
            <a:xfrm>
              <a:off x="4131553" y="3493864"/>
              <a:ext cx="3886742" cy="7374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a:solidFill>
                    <a:schemeClr val="tx1"/>
                  </a:solidFill>
                  <a:latin typeface="Arial" panose="020B0604020202020204" pitchFamily="34" charset="0"/>
                  <a:cs typeface="Arial" panose="020B0604020202020204" pitchFamily="34" charset="0"/>
                </a:rPr>
                <a:t>23-channel multivariate time series (engine, fuel, electrical, flight performance)</a:t>
              </a:r>
              <a:endParaRPr lang="en-SG" sz="1600">
                <a:solidFill>
                  <a:schemeClr val="tx1"/>
                </a:solidFill>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CD11E0CF-E064-90AB-1098-8BBE6FFCFF5B}"/>
                </a:ext>
              </a:extLst>
            </p:cNvPr>
            <p:cNvSpPr/>
            <p:nvPr/>
          </p:nvSpPr>
          <p:spPr>
            <a:xfrm>
              <a:off x="4131553" y="3251913"/>
              <a:ext cx="3886742" cy="24195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600">
                  <a:solidFill>
                    <a:schemeClr val="tx1"/>
                  </a:solidFill>
                  <a:latin typeface="Arial" panose="020B0604020202020204" pitchFamily="34" charset="0"/>
                  <a:cs typeface="Arial" panose="020B0604020202020204" pitchFamily="34" charset="0"/>
                </a:rPr>
                <a:t>Input Features </a:t>
              </a:r>
              <a:r>
                <a:rPr lang="en-SG" sz="1600" b="1">
                  <a:solidFill>
                    <a:schemeClr val="tx1"/>
                  </a:solidFill>
                  <a:latin typeface="Arial" panose="020B0604020202020204" pitchFamily="34" charset="0"/>
                  <a:cs typeface="Arial" panose="020B0604020202020204" pitchFamily="34" charset="0"/>
                </a:rPr>
                <a:t>(X)</a:t>
              </a:r>
            </a:p>
          </p:txBody>
        </p:sp>
      </p:grpSp>
      <p:cxnSp>
        <p:nvCxnSpPr>
          <p:cNvPr id="30" name="Connector: Elbow 29">
            <a:extLst>
              <a:ext uri="{FF2B5EF4-FFF2-40B4-BE49-F238E27FC236}">
                <a16:creationId xmlns:a16="http://schemas.microsoft.com/office/drawing/2014/main" id="{FD38D81C-B726-24C8-D067-312E48C88691}"/>
              </a:ext>
            </a:extLst>
          </p:cNvPr>
          <p:cNvCxnSpPr>
            <a:cxnSpLocks/>
            <a:endCxn id="27" idx="0"/>
          </p:cNvCxnSpPr>
          <p:nvPr/>
        </p:nvCxnSpPr>
        <p:spPr>
          <a:xfrm>
            <a:off x="4215831" y="3234735"/>
            <a:ext cx="1751160" cy="29726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Rectangle 36">
            <a:extLst>
              <a:ext uri="{FF2B5EF4-FFF2-40B4-BE49-F238E27FC236}">
                <a16:creationId xmlns:a16="http://schemas.microsoft.com/office/drawing/2014/main" id="{6D3A05B6-8339-FEAA-F90C-0C73B253C920}"/>
              </a:ext>
            </a:extLst>
          </p:cNvPr>
          <p:cNvSpPr/>
          <p:nvPr/>
        </p:nvSpPr>
        <p:spPr>
          <a:xfrm>
            <a:off x="4242107" y="5014339"/>
            <a:ext cx="1357453" cy="3770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i="1">
                <a:solidFill>
                  <a:schemeClr val="tx1"/>
                </a:solidFill>
                <a:highlight>
                  <a:srgbClr val="FFFFCC"/>
                </a:highlight>
                <a:latin typeface="Arial" panose="020B0604020202020204" pitchFamily="34" charset="0"/>
                <a:cs typeface="Arial" panose="020B0604020202020204" pitchFamily="34" charset="0"/>
              </a:rPr>
              <a:t>Binary</a:t>
            </a:r>
          </a:p>
          <a:p>
            <a:r>
              <a:rPr lang="en-SG" sz="1400" b="1" i="1">
                <a:solidFill>
                  <a:schemeClr val="tx1"/>
                </a:solidFill>
                <a:highlight>
                  <a:srgbClr val="FFFFCC"/>
                </a:highlight>
                <a:latin typeface="Arial" panose="020B0604020202020204" pitchFamily="34" charset="0"/>
                <a:cs typeface="Arial" panose="020B0604020202020204" pitchFamily="34" charset="0"/>
              </a:rPr>
              <a:t>Classification Problem</a:t>
            </a:r>
          </a:p>
        </p:txBody>
      </p:sp>
      <p:sp>
        <p:nvSpPr>
          <p:cNvPr id="40" name="Rectangle 39">
            <a:extLst>
              <a:ext uri="{FF2B5EF4-FFF2-40B4-BE49-F238E27FC236}">
                <a16:creationId xmlns:a16="http://schemas.microsoft.com/office/drawing/2014/main" id="{70F73C56-0342-15A2-4801-B08F420098F7}"/>
              </a:ext>
            </a:extLst>
          </p:cNvPr>
          <p:cNvSpPr/>
          <p:nvPr/>
        </p:nvSpPr>
        <p:spPr>
          <a:xfrm>
            <a:off x="6033150" y="5014339"/>
            <a:ext cx="3625081" cy="28313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600">
                <a:solidFill>
                  <a:schemeClr val="tx1"/>
                </a:solidFill>
                <a:latin typeface="Arial" panose="020B0604020202020204" pitchFamily="34" charset="0"/>
                <a:cs typeface="Arial" panose="020B0604020202020204" pitchFamily="34" charset="0"/>
              </a:rPr>
              <a:t>Target Output </a:t>
            </a:r>
            <a:r>
              <a:rPr lang="en-SG" sz="1600" b="1">
                <a:solidFill>
                  <a:schemeClr val="tx1"/>
                </a:solidFill>
                <a:latin typeface="Arial" panose="020B0604020202020204" pitchFamily="34" charset="0"/>
                <a:cs typeface="Arial" panose="020B0604020202020204" pitchFamily="34" charset="0"/>
              </a:rPr>
              <a:t>(Y)</a:t>
            </a:r>
          </a:p>
        </p:txBody>
      </p:sp>
      <p:cxnSp>
        <p:nvCxnSpPr>
          <p:cNvPr id="43" name="Connector: Elbow 42">
            <a:extLst>
              <a:ext uri="{FF2B5EF4-FFF2-40B4-BE49-F238E27FC236}">
                <a16:creationId xmlns:a16="http://schemas.microsoft.com/office/drawing/2014/main" id="{789343B7-C67D-845C-C2E9-ED2748087975}"/>
              </a:ext>
            </a:extLst>
          </p:cNvPr>
          <p:cNvCxnSpPr>
            <a:cxnSpLocks/>
            <a:endCxn id="16" idx="1"/>
          </p:cNvCxnSpPr>
          <p:nvPr/>
        </p:nvCxnSpPr>
        <p:spPr>
          <a:xfrm rot="16200000" flipH="1">
            <a:off x="5257982" y="4960333"/>
            <a:ext cx="1159730" cy="39061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B6A4E5C2-E7FB-633E-450D-043662435DAE}"/>
              </a:ext>
            </a:extLst>
          </p:cNvPr>
          <p:cNvSpPr txBox="1"/>
          <p:nvPr/>
        </p:nvSpPr>
        <p:spPr>
          <a:xfrm>
            <a:off x="4276851" y="6363109"/>
            <a:ext cx="8023045" cy="307777"/>
          </a:xfrm>
          <a:prstGeom prst="rect">
            <a:avLst/>
          </a:prstGeom>
          <a:noFill/>
        </p:spPr>
        <p:txBody>
          <a:bodyPr wrap="square" lIns="91440" tIns="45720" rIns="91440" bIns="45720" anchor="t">
            <a:spAutoFit/>
          </a:bodyPr>
          <a:lstStyle/>
          <a:p>
            <a:r>
              <a:rPr lang="en-US" sz="1400">
                <a:latin typeface="Arial"/>
                <a:cs typeface="Arial"/>
              </a:rPr>
              <a:t>Dataset: </a:t>
            </a:r>
            <a:r>
              <a:rPr lang="en-US" sz="1400">
                <a:solidFill>
                  <a:schemeClr val="accent1"/>
                </a:solidFill>
                <a:latin typeface="Arial"/>
                <a:cs typeface="Arial"/>
                <a:hlinkClick r:id="rId4">
                  <a:extLst>
                    <a:ext uri="{A12FA001-AC4F-418D-AE19-62706E023703}">
                      <ahyp:hlinkClr xmlns:ahyp="http://schemas.microsoft.com/office/drawing/2018/hyperlinkcolor" val="tx"/>
                    </a:ext>
                  </a:extLst>
                </a:hlinkClick>
              </a:rPr>
              <a:t>https://www.kaggle.com/datasets/hooong/aviation-maintenance-dataset-from-the-ngafid</a:t>
            </a:r>
            <a:endParaRPr lang="en-SG" sz="1400">
              <a:solidFill>
                <a:schemeClr val="accent1"/>
              </a:solidFill>
              <a:latin typeface="Arial"/>
              <a:cs typeface="Arial"/>
              <a:hlinkClick r:id="" action="ppaction://noaction">
                <a:extLst>
                  <a:ext uri="{A12FA001-AC4F-418D-AE19-62706E023703}">
                    <ahyp:hlinkClr xmlns:ahyp="http://schemas.microsoft.com/office/drawing/2018/hyperlinkcolor" val="tx"/>
                  </a:ext>
                </a:extLst>
              </a:hlinkClick>
            </a:endParaRPr>
          </a:p>
        </p:txBody>
      </p:sp>
      <p:graphicFrame>
        <p:nvGraphicFramePr>
          <p:cNvPr id="11" name="Table 10">
            <a:extLst>
              <a:ext uri="{FF2B5EF4-FFF2-40B4-BE49-F238E27FC236}">
                <a16:creationId xmlns:a16="http://schemas.microsoft.com/office/drawing/2014/main" id="{4AD2C286-1F34-D0E4-9B89-158F560EB334}"/>
              </a:ext>
            </a:extLst>
          </p:cNvPr>
          <p:cNvGraphicFramePr>
            <a:graphicFrameLocks noGrp="1"/>
          </p:cNvGraphicFramePr>
          <p:nvPr>
            <p:extLst>
              <p:ext uri="{D42A27DB-BD31-4B8C-83A1-F6EECF244321}">
                <p14:modId xmlns:p14="http://schemas.microsoft.com/office/powerpoint/2010/main" val="808244358"/>
              </p:ext>
            </p:extLst>
          </p:nvPr>
        </p:nvGraphicFramePr>
        <p:xfrm>
          <a:off x="187903" y="2628129"/>
          <a:ext cx="4011223" cy="3920688"/>
        </p:xfrm>
        <a:graphic>
          <a:graphicData uri="http://schemas.openxmlformats.org/drawingml/2006/table">
            <a:tbl>
              <a:tblPr>
                <a:tableStyleId>{793D81CF-94F2-401A-BA57-92F5A7B2D0C5}</a:tableStyleId>
              </a:tblPr>
              <a:tblGrid>
                <a:gridCol w="936682">
                  <a:extLst>
                    <a:ext uri="{9D8B030D-6E8A-4147-A177-3AD203B41FA5}">
                      <a16:colId xmlns:a16="http://schemas.microsoft.com/office/drawing/2014/main" val="76035629"/>
                    </a:ext>
                  </a:extLst>
                </a:gridCol>
                <a:gridCol w="3074541">
                  <a:extLst>
                    <a:ext uri="{9D8B030D-6E8A-4147-A177-3AD203B41FA5}">
                      <a16:colId xmlns:a16="http://schemas.microsoft.com/office/drawing/2014/main" val="914781174"/>
                    </a:ext>
                  </a:extLst>
                </a:gridCol>
              </a:tblGrid>
              <a:tr h="111605">
                <a:tc>
                  <a:txBody>
                    <a:bodyPr/>
                    <a:lstStyle/>
                    <a:p>
                      <a:pPr>
                        <a:buNone/>
                      </a:pPr>
                      <a:r>
                        <a:rPr lang="en-SG" sz="800">
                          <a:latin typeface="Arial" panose="020B0604020202020204" pitchFamily="34" charset="0"/>
                          <a:cs typeface="Arial" panose="020B0604020202020204" pitchFamily="34" charset="0"/>
                        </a:rPr>
                        <a:t>Column Name</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Description</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17047108"/>
                  </a:ext>
                </a:extLst>
              </a:tr>
              <a:tr h="111605">
                <a:tc>
                  <a:txBody>
                    <a:bodyPr/>
                    <a:lstStyle/>
                    <a:p>
                      <a:pPr>
                        <a:buNone/>
                      </a:pPr>
                      <a:r>
                        <a:rPr lang="en-SG" sz="800">
                          <a:latin typeface="Arial" panose="020B0604020202020204" pitchFamily="34" charset="0"/>
                          <a:cs typeface="Arial" panose="020B0604020202020204" pitchFamily="34" charset="0"/>
                        </a:rPr>
                        <a:t>volt1</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a:latin typeface="Arial" panose="020B0604020202020204" pitchFamily="34" charset="0"/>
                          <a:cs typeface="Arial" panose="020B0604020202020204" pitchFamily="34" charset="0"/>
                        </a:rPr>
                        <a:t>Main electrical system bus voltage (alternators and main battery)</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100525494"/>
                  </a:ext>
                </a:extLst>
              </a:tr>
              <a:tr h="111605">
                <a:tc>
                  <a:txBody>
                    <a:bodyPr/>
                    <a:lstStyle/>
                    <a:p>
                      <a:pPr>
                        <a:buNone/>
                      </a:pPr>
                      <a:r>
                        <a:rPr lang="en-SG" sz="800">
                          <a:latin typeface="Arial" panose="020B0604020202020204" pitchFamily="34" charset="0"/>
                          <a:cs typeface="Arial" panose="020B0604020202020204" pitchFamily="34" charset="0"/>
                        </a:rPr>
                        <a:t>volt2</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a:latin typeface="Arial" panose="020B0604020202020204" pitchFamily="34" charset="0"/>
                          <a:cs typeface="Arial" panose="020B0604020202020204" pitchFamily="34" charset="0"/>
                        </a:rPr>
                        <a:t>Essential bus (standby battery) bus voltage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605773"/>
                  </a:ext>
                </a:extLst>
              </a:tr>
              <a:tr h="111605">
                <a:tc>
                  <a:txBody>
                    <a:bodyPr/>
                    <a:lstStyle/>
                    <a:p>
                      <a:pPr>
                        <a:buNone/>
                      </a:pPr>
                      <a:r>
                        <a:rPr lang="en-SG" sz="800">
                          <a:latin typeface="Arial" panose="020B0604020202020204" pitchFamily="34" charset="0"/>
                          <a:cs typeface="Arial" panose="020B0604020202020204" pitchFamily="34" charset="0"/>
                        </a:rPr>
                        <a:t>amp1</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a:latin typeface="Arial" panose="020B0604020202020204" pitchFamily="34" charset="0"/>
                          <a:cs typeface="Arial" panose="020B0604020202020204" pitchFamily="34" charset="0"/>
                        </a:rPr>
                        <a:t>Ammeter on the main battery (+ charging, - discharging)</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98028355"/>
                  </a:ext>
                </a:extLst>
              </a:tr>
              <a:tr h="111605">
                <a:tc>
                  <a:txBody>
                    <a:bodyPr/>
                    <a:lstStyle/>
                    <a:p>
                      <a:pPr>
                        <a:buNone/>
                      </a:pPr>
                      <a:r>
                        <a:rPr lang="en-SG" sz="800">
                          <a:latin typeface="Arial" panose="020B0604020202020204" pitchFamily="34" charset="0"/>
                          <a:cs typeface="Arial" panose="020B0604020202020204" pitchFamily="34" charset="0"/>
                        </a:rPr>
                        <a:t>amp2</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a:latin typeface="Arial" panose="020B0604020202020204" pitchFamily="34" charset="0"/>
                          <a:cs typeface="Arial" panose="020B0604020202020204" pitchFamily="34" charset="0"/>
                        </a:rPr>
                        <a:t>Ammeter on the standby battery (+ charging, - discharging)</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67426669"/>
                  </a:ext>
                </a:extLst>
              </a:tr>
              <a:tr h="111605">
                <a:tc>
                  <a:txBody>
                    <a:bodyPr/>
                    <a:lstStyle/>
                    <a:p>
                      <a:pPr>
                        <a:buNone/>
                      </a:pPr>
                      <a:r>
                        <a:rPr lang="en-SG" sz="800" err="1">
                          <a:latin typeface="Arial" panose="020B0604020202020204" pitchFamily="34" charset="0"/>
                          <a:cs typeface="Arial" panose="020B0604020202020204" pitchFamily="34" charset="0"/>
                        </a:rPr>
                        <a:t>FQyL</a:t>
                      </a:r>
                      <a:endParaRPr lang="en-SG" sz="800">
                        <a:latin typeface="Arial" panose="020B0604020202020204" pitchFamily="34" charset="0"/>
                        <a:cs typeface="Arial" panose="020B0604020202020204" pitchFamily="34" charset="0"/>
                      </a:endParaRP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Fuel quantity left</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005027343"/>
                  </a:ext>
                </a:extLst>
              </a:tr>
              <a:tr h="111605">
                <a:tc>
                  <a:txBody>
                    <a:bodyPr/>
                    <a:lstStyle/>
                    <a:p>
                      <a:pPr>
                        <a:buNone/>
                      </a:pPr>
                      <a:r>
                        <a:rPr lang="en-SG" sz="800" err="1">
                          <a:latin typeface="Arial" panose="020B0604020202020204" pitchFamily="34" charset="0"/>
                          <a:cs typeface="Arial" panose="020B0604020202020204" pitchFamily="34" charset="0"/>
                        </a:rPr>
                        <a:t>FQyR</a:t>
                      </a:r>
                      <a:endParaRPr lang="en-SG" sz="800">
                        <a:latin typeface="Arial" panose="020B0604020202020204" pitchFamily="34" charset="0"/>
                        <a:cs typeface="Arial" panose="020B0604020202020204" pitchFamily="34" charset="0"/>
                      </a:endParaRP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Fuel quantity right</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5176184"/>
                  </a:ext>
                </a:extLst>
              </a:tr>
              <a:tr h="111605">
                <a:tc>
                  <a:txBody>
                    <a:bodyPr/>
                    <a:lstStyle/>
                    <a:p>
                      <a:pPr>
                        <a:buNone/>
                      </a:pPr>
                      <a:r>
                        <a:rPr lang="en-SG" sz="800">
                          <a:latin typeface="Arial" panose="020B0604020202020204" pitchFamily="34" charset="0"/>
                          <a:cs typeface="Arial" panose="020B0604020202020204" pitchFamily="34" charset="0"/>
                        </a:rPr>
                        <a:t>E1FFlow</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Engine fuel flow rate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12403206"/>
                  </a:ext>
                </a:extLst>
              </a:tr>
              <a:tr h="111605">
                <a:tc>
                  <a:txBody>
                    <a:bodyPr/>
                    <a:lstStyle/>
                    <a:p>
                      <a:pPr>
                        <a:buNone/>
                      </a:pPr>
                      <a:r>
                        <a:rPr lang="en-SG" sz="800">
                          <a:latin typeface="Arial" panose="020B0604020202020204" pitchFamily="34" charset="0"/>
                          <a:cs typeface="Arial" panose="020B0604020202020204" pitchFamily="34" charset="0"/>
                        </a:rPr>
                        <a:t>E1 OiIT</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Engine oil temperature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89248333"/>
                  </a:ext>
                </a:extLst>
              </a:tr>
              <a:tr h="111605">
                <a:tc>
                  <a:txBody>
                    <a:bodyPr/>
                    <a:lstStyle/>
                    <a:p>
                      <a:pPr>
                        <a:buNone/>
                      </a:pPr>
                      <a:r>
                        <a:rPr lang="en-SG" sz="800">
                          <a:latin typeface="Arial" panose="020B0604020202020204" pitchFamily="34" charset="0"/>
                          <a:cs typeface="Arial" panose="020B0604020202020204" pitchFamily="34" charset="0"/>
                        </a:rPr>
                        <a:t>E1 OiIP</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Engine oil pressure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3607825"/>
                  </a:ext>
                </a:extLst>
              </a:tr>
              <a:tr h="111605">
                <a:tc>
                  <a:txBody>
                    <a:bodyPr/>
                    <a:lstStyle/>
                    <a:p>
                      <a:pPr>
                        <a:buNone/>
                      </a:pPr>
                      <a:r>
                        <a:rPr lang="en-SG" sz="800">
                          <a:latin typeface="Arial" panose="020B0604020202020204" pitchFamily="34" charset="0"/>
                          <a:cs typeface="Arial" panose="020B0604020202020204" pitchFamily="34" charset="0"/>
                        </a:rPr>
                        <a:t>E1 RPM</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Engine rotations per minute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88052022"/>
                  </a:ext>
                </a:extLst>
              </a:tr>
              <a:tr h="111605">
                <a:tc>
                  <a:txBody>
                    <a:bodyPr/>
                    <a:lstStyle/>
                    <a:p>
                      <a:pPr>
                        <a:buNone/>
                      </a:pPr>
                      <a:r>
                        <a:rPr lang="en-SG" sz="800">
                          <a:latin typeface="Arial" panose="020B0604020202020204" pitchFamily="34" charset="0"/>
                          <a:cs typeface="Arial" panose="020B0604020202020204" pitchFamily="34" charset="0"/>
                        </a:rPr>
                        <a:t>E1 CHT1</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1st cylinder head temperature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98864085"/>
                  </a:ext>
                </a:extLst>
              </a:tr>
              <a:tr h="111605">
                <a:tc>
                  <a:txBody>
                    <a:bodyPr/>
                    <a:lstStyle/>
                    <a:p>
                      <a:pPr>
                        <a:buNone/>
                      </a:pPr>
                      <a:r>
                        <a:rPr lang="en-SG" sz="800">
                          <a:latin typeface="Arial" panose="020B0604020202020204" pitchFamily="34" charset="0"/>
                          <a:cs typeface="Arial" panose="020B0604020202020204" pitchFamily="34" charset="0"/>
                        </a:rPr>
                        <a:t>E1 CHT2</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2nd cylinder head temperature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18585107"/>
                  </a:ext>
                </a:extLst>
              </a:tr>
              <a:tr h="111605">
                <a:tc>
                  <a:txBody>
                    <a:bodyPr/>
                    <a:lstStyle/>
                    <a:p>
                      <a:pPr>
                        <a:buNone/>
                      </a:pPr>
                      <a:r>
                        <a:rPr lang="en-SG" sz="800">
                          <a:latin typeface="Arial" panose="020B0604020202020204" pitchFamily="34" charset="0"/>
                          <a:cs typeface="Arial" panose="020B0604020202020204" pitchFamily="34" charset="0"/>
                        </a:rPr>
                        <a:t>E1 CHT3</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3rd cylinder head temperature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68011617"/>
                  </a:ext>
                </a:extLst>
              </a:tr>
              <a:tr h="111605">
                <a:tc>
                  <a:txBody>
                    <a:bodyPr/>
                    <a:lstStyle/>
                    <a:p>
                      <a:pPr>
                        <a:buNone/>
                      </a:pPr>
                      <a:r>
                        <a:rPr lang="en-SG" sz="800">
                          <a:latin typeface="Arial" panose="020B0604020202020204" pitchFamily="34" charset="0"/>
                          <a:cs typeface="Arial" panose="020B0604020202020204" pitchFamily="34" charset="0"/>
                        </a:rPr>
                        <a:t>E1 CHT4</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4th cylinder head temperature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055294452"/>
                  </a:ext>
                </a:extLst>
              </a:tr>
              <a:tr h="111605">
                <a:tc>
                  <a:txBody>
                    <a:bodyPr/>
                    <a:lstStyle/>
                    <a:p>
                      <a:pPr>
                        <a:buNone/>
                      </a:pPr>
                      <a:r>
                        <a:rPr lang="en-SG" sz="800">
                          <a:latin typeface="Arial" panose="020B0604020202020204" pitchFamily="34" charset="0"/>
                          <a:cs typeface="Arial" panose="020B0604020202020204" pitchFamily="34" charset="0"/>
                        </a:rPr>
                        <a:t>E1 EGT1</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1st Exhaust gas temperature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879694467"/>
                  </a:ext>
                </a:extLst>
              </a:tr>
              <a:tr h="111605">
                <a:tc>
                  <a:txBody>
                    <a:bodyPr/>
                    <a:lstStyle/>
                    <a:p>
                      <a:pPr>
                        <a:buNone/>
                      </a:pPr>
                      <a:r>
                        <a:rPr lang="en-SG" sz="800">
                          <a:latin typeface="Arial" panose="020B0604020202020204" pitchFamily="34" charset="0"/>
                          <a:cs typeface="Arial" panose="020B0604020202020204" pitchFamily="34" charset="0"/>
                        </a:rPr>
                        <a:t>E1 EGT2</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2nd Exhaust gas temperature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93291003"/>
                  </a:ext>
                </a:extLst>
              </a:tr>
              <a:tr h="111605">
                <a:tc>
                  <a:txBody>
                    <a:bodyPr/>
                    <a:lstStyle/>
                    <a:p>
                      <a:pPr>
                        <a:buNone/>
                      </a:pPr>
                      <a:r>
                        <a:rPr lang="en-SG" sz="800">
                          <a:latin typeface="Arial" panose="020B0604020202020204" pitchFamily="34" charset="0"/>
                          <a:cs typeface="Arial" panose="020B0604020202020204" pitchFamily="34" charset="0"/>
                        </a:rPr>
                        <a:t>E1 EGT3</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3rd Exhaust gas temperature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45592447"/>
                  </a:ext>
                </a:extLst>
              </a:tr>
              <a:tr h="111605">
                <a:tc>
                  <a:txBody>
                    <a:bodyPr/>
                    <a:lstStyle/>
                    <a:p>
                      <a:pPr>
                        <a:buNone/>
                      </a:pPr>
                      <a:r>
                        <a:rPr lang="en-SG" sz="800">
                          <a:latin typeface="Arial" panose="020B0604020202020204" pitchFamily="34" charset="0"/>
                          <a:cs typeface="Arial" panose="020B0604020202020204" pitchFamily="34" charset="0"/>
                        </a:rPr>
                        <a:t>E1 EGT4</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4th Exhaust gas temperature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333645761"/>
                  </a:ext>
                </a:extLst>
              </a:tr>
              <a:tr h="111605">
                <a:tc>
                  <a:txBody>
                    <a:bodyPr/>
                    <a:lstStyle/>
                    <a:p>
                      <a:pPr>
                        <a:buNone/>
                      </a:pPr>
                      <a:r>
                        <a:rPr lang="en-SG" sz="800">
                          <a:latin typeface="Arial" panose="020B0604020202020204" pitchFamily="34" charset="0"/>
                          <a:cs typeface="Arial" panose="020B0604020202020204" pitchFamily="34" charset="0"/>
                        </a:rPr>
                        <a:t>OAT</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Outside air temperature</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75969050"/>
                  </a:ext>
                </a:extLst>
              </a:tr>
              <a:tr h="111605">
                <a:tc>
                  <a:txBody>
                    <a:bodyPr/>
                    <a:lstStyle/>
                    <a:p>
                      <a:pPr>
                        <a:buNone/>
                      </a:pPr>
                      <a:r>
                        <a:rPr lang="en-SG" sz="800">
                          <a:latin typeface="Arial" panose="020B0604020202020204" pitchFamily="34" charset="0"/>
                          <a:cs typeface="Arial" panose="020B0604020202020204" pitchFamily="34" charset="0"/>
                        </a:rPr>
                        <a:t>IAS</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Indicated air speed</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07361751"/>
                  </a:ext>
                </a:extLst>
              </a:tr>
              <a:tr h="111605">
                <a:tc>
                  <a:txBody>
                    <a:bodyPr/>
                    <a:lstStyle/>
                    <a:p>
                      <a:pPr>
                        <a:buNone/>
                      </a:pPr>
                      <a:r>
                        <a:rPr lang="en-SG" sz="800">
                          <a:latin typeface="Arial" panose="020B0604020202020204" pitchFamily="34" charset="0"/>
                          <a:cs typeface="Arial" panose="020B0604020202020204" pitchFamily="34" charset="0"/>
                        </a:rPr>
                        <a:t>VSpd</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Vertical speed</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86351895"/>
                  </a:ext>
                </a:extLst>
              </a:tr>
              <a:tr h="111605">
                <a:tc>
                  <a:txBody>
                    <a:bodyPr/>
                    <a:lstStyle/>
                    <a:p>
                      <a:pPr>
                        <a:buNone/>
                      </a:pPr>
                      <a:r>
                        <a:rPr lang="en-SG" sz="800" err="1">
                          <a:latin typeface="Arial" panose="020B0604020202020204" pitchFamily="34" charset="0"/>
                          <a:cs typeface="Arial" panose="020B0604020202020204" pitchFamily="34" charset="0"/>
                        </a:rPr>
                        <a:t>NormAc</a:t>
                      </a:r>
                      <a:endParaRPr lang="en-SG" sz="800">
                        <a:latin typeface="Arial" panose="020B0604020202020204" pitchFamily="34" charset="0"/>
                        <a:cs typeface="Arial" panose="020B0604020202020204" pitchFamily="34" charset="0"/>
                      </a:endParaRP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SG" sz="800">
                          <a:latin typeface="Arial" panose="020B0604020202020204" pitchFamily="34" charset="0"/>
                          <a:cs typeface="Arial" panose="020B0604020202020204" pitchFamily="34" charset="0"/>
                        </a:rPr>
                        <a:t>Normal acceleration</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864993767"/>
                  </a:ext>
                </a:extLst>
              </a:tr>
              <a:tr h="111605">
                <a:tc>
                  <a:txBody>
                    <a:bodyPr/>
                    <a:lstStyle/>
                    <a:p>
                      <a:pPr>
                        <a:buNone/>
                      </a:pPr>
                      <a:r>
                        <a:rPr lang="en-SG" sz="800" err="1">
                          <a:latin typeface="Arial" panose="020B0604020202020204" pitchFamily="34" charset="0"/>
                          <a:cs typeface="Arial" panose="020B0604020202020204" pitchFamily="34" charset="0"/>
                        </a:rPr>
                        <a:t>AltMSL</a:t>
                      </a:r>
                      <a:endParaRPr lang="en-SG" sz="800">
                        <a:latin typeface="Arial" panose="020B0604020202020204" pitchFamily="34" charset="0"/>
                        <a:cs typeface="Arial" panose="020B0604020202020204" pitchFamily="34" charset="0"/>
                      </a:endParaRP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a:latin typeface="Arial" panose="020B0604020202020204" pitchFamily="34" charset="0"/>
                          <a:cs typeface="Arial" panose="020B0604020202020204" pitchFamily="34" charset="0"/>
                        </a:rPr>
                        <a:t>Altitude miles above sea level</a:t>
                      </a:r>
                    </a:p>
                  </a:txBody>
                  <a:tcPr marL="41441" marR="41441" marT="20721" marB="20721"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18461513"/>
                  </a:ext>
                </a:extLst>
              </a:tr>
            </a:tbl>
          </a:graphicData>
        </a:graphic>
      </p:graphicFrame>
      <p:graphicFrame>
        <p:nvGraphicFramePr>
          <p:cNvPr id="20" name="Table 19">
            <a:extLst>
              <a:ext uri="{FF2B5EF4-FFF2-40B4-BE49-F238E27FC236}">
                <a16:creationId xmlns:a16="http://schemas.microsoft.com/office/drawing/2014/main" id="{304FF7CC-4771-5A6B-8957-D9F4605D4398}"/>
              </a:ext>
            </a:extLst>
          </p:cNvPr>
          <p:cNvGraphicFramePr>
            <a:graphicFrameLocks noGrp="1"/>
          </p:cNvGraphicFramePr>
          <p:nvPr>
            <p:extLst>
              <p:ext uri="{D42A27DB-BD31-4B8C-83A1-F6EECF244321}">
                <p14:modId xmlns:p14="http://schemas.microsoft.com/office/powerpoint/2010/main" val="1210247349"/>
              </p:ext>
            </p:extLst>
          </p:nvPr>
        </p:nvGraphicFramePr>
        <p:xfrm>
          <a:off x="7640038" y="2733338"/>
          <a:ext cx="4140239" cy="1991294"/>
        </p:xfrm>
        <a:graphic>
          <a:graphicData uri="http://schemas.openxmlformats.org/drawingml/2006/table">
            <a:tbl>
              <a:tblPr/>
              <a:tblGrid>
                <a:gridCol w="691827">
                  <a:extLst>
                    <a:ext uri="{9D8B030D-6E8A-4147-A177-3AD203B41FA5}">
                      <a16:colId xmlns:a16="http://schemas.microsoft.com/office/drawing/2014/main" val="1229744415"/>
                    </a:ext>
                  </a:extLst>
                </a:gridCol>
                <a:gridCol w="3448412">
                  <a:extLst>
                    <a:ext uri="{9D8B030D-6E8A-4147-A177-3AD203B41FA5}">
                      <a16:colId xmlns:a16="http://schemas.microsoft.com/office/drawing/2014/main" val="1612075412"/>
                    </a:ext>
                  </a:extLst>
                </a:gridCol>
              </a:tblGrid>
              <a:tr h="257361">
                <a:tc>
                  <a:txBody>
                    <a:bodyPr/>
                    <a:lstStyle/>
                    <a:p>
                      <a:pPr>
                        <a:buNone/>
                      </a:pPr>
                      <a:r>
                        <a:rPr lang="en-SG" sz="900">
                          <a:latin typeface="Arial" panose="020B0604020202020204" pitchFamily="34" charset="0"/>
                          <a:cs typeface="Arial" panose="020B0604020202020204" pitchFamily="34" charset="0"/>
                        </a:rPr>
                        <a:t>Column Name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SG" sz="900">
                          <a:latin typeface="Arial" panose="020B0604020202020204" pitchFamily="34" charset="0"/>
                          <a:cs typeface="Arial" panose="020B0604020202020204" pitchFamily="34" charset="0"/>
                        </a:rPr>
                        <a:t>Description</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1031922"/>
                  </a:ext>
                </a:extLst>
              </a:tr>
              <a:tr h="257361">
                <a:tc>
                  <a:txBody>
                    <a:bodyPr/>
                    <a:lstStyle/>
                    <a:p>
                      <a:pPr>
                        <a:buNone/>
                      </a:pPr>
                      <a:r>
                        <a:rPr lang="en-SG" sz="900">
                          <a:latin typeface="Arial" panose="020B0604020202020204" pitchFamily="34" charset="0"/>
                          <a:cs typeface="Arial" panose="020B0604020202020204" pitchFamily="34" charset="0"/>
                        </a:rPr>
                        <a:t>Master Index</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900">
                          <a:latin typeface="Arial" panose="020B0604020202020204" pitchFamily="34" charset="0"/>
                          <a:cs typeface="Arial" panose="020B0604020202020204" pitchFamily="34" charset="0"/>
                        </a:rPr>
                        <a:t>Primary Key to link to the flight records</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4969703"/>
                  </a:ext>
                </a:extLst>
              </a:tr>
              <a:tr h="257361">
                <a:tc>
                  <a:txBody>
                    <a:bodyPr/>
                    <a:lstStyle/>
                    <a:p>
                      <a:pPr>
                        <a:buNone/>
                      </a:pPr>
                      <a:r>
                        <a:rPr lang="en-SG" sz="900">
                          <a:latin typeface="Arial" panose="020B0604020202020204" pitchFamily="34" charset="0"/>
                          <a:cs typeface="Arial" panose="020B0604020202020204" pitchFamily="34" charset="0"/>
                        </a:rPr>
                        <a:t>Before After</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900">
                          <a:latin typeface="Arial" panose="020B0604020202020204" pitchFamily="34" charset="0"/>
                          <a:cs typeface="Arial" panose="020B0604020202020204" pitchFamily="34" charset="0"/>
                        </a:rPr>
                        <a:t>Whether or not a flight occurred before or after maintenance. Some flights occurred during maintenance (generally test flights)</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863192441"/>
                  </a:ext>
                </a:extLst>
              </a:tr>
              <a:tr h="172687">
                <a:tc>
                  <a:txBody>
                    <a:bodyPr/>
                    <a:lstStyle/>
                    <a:p>
                      <a:pPr>
                        <a:buNone/>
                      </a:pPr>
                      <a:r>
                        <a:rPr lang="en-SG" sz="900">
                          <a:latin typeface="Arial" panose="020B0604020202020204" pitchFamily="34" charset="0"/>
                          <a:cs typeface="Arial" panose="020B0604020202020204" pitchFamily="34" charset="0"/>
                        </a:rPr>
                        <a:t>Date Diff</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900">
                          <a:latin typeface="Arial" panose="020B0604020202020204" pitchFamily="34" charset="0"/>
                          <a:cs typeface="Arial" panose="020B0604020202020204" pitchFamily="34" charset="0"/>
                        </a:rPr>
                        <a:t>Days before or after the maintenance period</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634190504"/>
                  </a:ext>
                </a:extLst>
              </a:tr>
              <a:tr h="257361">
                <a:tc>
                  <a:txBody>
                    <a:bodyPr/>
                    <a:lstStyle/>
                    <a:p>
                      <a:pPr>
                        <a:buNone/>
                      </a:pPr>
                      <a:r>
                        <a:rPr lang="en-SG" sz="900">
                          <a:latin typeface="Arial" panose="020B0604020202020204" pitchFamily="34" charset="0"/>
                          <a:cs typeface="Arial" panose="020B0604020202020204" pitchFamily="34" charset="0"/>
                        </a:rPr>
                        <a:t>Flight Length</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900">
                          <a:latin typeface="Arial" panose="020B0604020202020204" pitchFamily="34" charset="0"/>
                          <a:cs typeface="Arial" panose="020B0604020202020204" pitchFamily="34" charset="0"/>
                        </a:rPr>
                        <a:t>Number of flight recordings for the whole flight (duration of flight in seconds)</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1717396"/>
                  </a:ext>
                </a:extLst>
              </a:tr>
              <a:tr h="128681">
                <a:tc>
                  <a:txBody>
                    <a:bodyPr/>
                    <a:lstStyle/>
                    <a:p>
                      <a:pPr>
                        <a:buNone/>
                      </a:pPr>
                      <a:r>
                        <a:rPr lang="en-SG" sz="900">
                          <a:latin typeface="Arial" panose="020B0604020202020204" pitchFamily="34" charset="0"/>
                          <a:cs typeface="Arial" panose="020B0604020202020204" pitchFamily="34" charset="0"/>
                        </a:rPr>
                        <a:t>Label</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SG" sz="900">
                          <a:latin typeface="Arial" panose="020B0604020202020204" pitchFamily="34" charset="0"/>
                          <a:cs typeface="Arial" panose="020B0604020202020204" pitchFamily="34" charset="0"/>
                        </a:rPr>
                        <a:t>Maintenance Issue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21741"/>
                  </a:ext>
                </a:extLst>
              </a:tr>
              <a:tr h="172687">
                <a:tc>
                  <a:txBody>
                    <a:bodyPr/>
                    <a:lstStyle/>
                    <a:p>
                      <a:pPr>
                        <a:buNone/>
                      </a:pPr>
                      <a:r>
                        <a:rPr lang="en-SG" sz="900">
                          <a:latin typeface="Arial" panose="020B0604020202020204" pitchFamily="34" charset="0"/>
                          <a:cs typeface="Arial" panose="020B0604020202020204" pitchFamily="34" charset="0"/>
                        </a:rPr>
                        <a:t>Hierarchy</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900">
                          <a:latin typeface="Arial" panose="020B0604020202020204" pitchFamily="34" charset="0"/>
                          <a:cs typeface="Arial" panose="020B0604020202020204" pitchFamily="34" charset="0"/>
                        </a:rPr>
                        <a:t>Maintenance Issue Hierarchy, if </a:t>
                      </a:r>
                      <a:r>
                        <a:rPr lang="en-US" sz="900" err="1">
                          <a:latin typeface="Arial" panose="020B0604020202020204" pitchFamily="34" charset="0"/>
                          <a:cs typeface="Arial" panose="020B0604020202020204" pitchFamily="34" charset="0"/>
                        </a:rPr>
                        <a:t>NaN</a:t>
                      </a:r>
                      <a:r>
                        <a:rPr lang="en-US" sz="900">
                          <a:latin typeface="Arial" panose="020B0604020202020204" pitchFamily="34" charset="0"/>
                          <a:cs typeface="Arial" panose="020B0604020202020204" pitchFamily="34" charset="0"/>
                        </a:rPr>
                        <a:t> then Other.</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7940902"/>
                  </a:ext>
                </a:extLst>
              </a:tr>
              <a:tr h="386042">
                <a:tc>
                  <a:txBody>
                    <a:bodyPr/>
                    <a:lstStyle/>
                    <a:p>
                      <a:pPr>
                        <a:buNone/>
                      </a:pPr>
                      <a:r>
                        <a:rPr lang="en-SG" sz="900">
                          <a:latin typeface="Arial" panose="020B0604020202020204" pitchFamily="34" charset="0"/>
                          <a:cs typeface="Arial" panose="020B0604020202020204" pitchFamily="34" charset="0"/>
                        </a:rPr>
                        <a:t>Number of Flights Before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900">
                          <a:latin typeface="Arial" panose="020B0604020202020204" pitchFamily="34" charset="0"/>
                          <a:cs typeface="Arial" panose="020B0604020202020204" pitchFamily="34" charset="0"/>
                        </a:rPr>
                        <a:t>The Nth flight before maintenance, with 0 representing the flight immediately before and -1 representing not applicable.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3551913"/>
                  </a:ext>
                </a:extLst>
              </a:tr>
            </a:tbl>
          </a:graphicData>
        </a:graphic>
      </p:graphicFrame>
      <p:sp>
        <p:nvSpPr>
          <p:cNvPr id="8" name="TextBox 7">
            <a:extLst>
              <a:ext uri="{FF2B5EF4-FFF2-40B4-BE49-F238E27FC236}">
                <a16:creationId xmlns:a16="http://schemas.microsoft.com/office/drawing/2014/main" id="{91B90A88-8D46-BA2A-5F6A-A7631C225411}"/>
              </a:ext>
            </a:extLst>
          </p:cNvPr>
          <p:cNvSpPr txBox="1"/>
          <p:nvPr/>
        </p:nvSpPr>
        <p:spPr>
          <a:xfrm>
            <a:off x="5995981" y="6004108"/>
            <a:ext cx="4768877"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latin typeface="Arial" panose="020B0604020202020204" pitchFamily="34" charset="0"/>
                <a:cs typeface="Arial" panose="020B0604020202020204" pitchFamily="34" charset="0"/>
              </a:rPr>
              <a:t>RUL = Remaining Useful Life</a:t>
            </a:r>
          </a:p>
        </p:txBody>
      </p:sp>
      <p:sp>
        <p:nvSpPr>
          <p:cNvPr id="10" name="TextBox 9">
            <a:extLst>
              <a:ext uri="{FF2B5EF4-FFF2-40B4-BE49-F238E27FC236}">
                <a16:creationId xmlns:a16="http://schemas.microsoft.com/office/drawing/2014/main" id="{FF949939-B389-A856-1938-030FCA053544}"/>
              </a:ext>
            </a:extLst>
          </p:cNvPr>
          <p:cNvSpPr txBox="1"/>
          <p:nvPr/>
        </p:nvSpPr>
        <p:spPr>
          <a:xfrm>
            <a:off x="2450379" y="1619766"/>
            <a:ext cx="1534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X</a:t>
            </a:r>
          </a:p>
        </p:txBody>
      </p:sp>
      <p:sp>
        <p:nvSpPr>
          <p:cNvPr id="15" name="TextBox 14">
            <a:extLst>
              <a:ext uri="{FF2B5EF4-FFF2-40B4-BE49-F238E27FC236}">
                <a16:creationId xmlns:a16="http://schemas.microsoft.com/office/drawing/2014/main" id="{F70C5666-BB06-DF5F-EC82-F24CF2C25986}"/>
              </a:ext>
            </a:extLst>
          </p:cNvPr>
          <p:cNvSpPr txBox="1"/>
          <p:nvPr/>
        </p:nvSpPr>
        <p:spPr>
          <a:xfrm>
            <a:off x="4669729" y="1622814"/>
            <a:ext cx="1534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a:t>
            </a:r>
          </a:p>
        </p:txBody>
      </p:sp>
      <p:sp>
        <p:nvSpPr>
          <p:cNvPr id="18" name="Rectangle 17">
            <a:extLst>
              <a:ext uri="{FF2B5EF4-FFF2-40B4-BE49-F238E27FC236}">
                <a16:creationId xmlns:a16="http://schemas.microsoft.com/office/drawing/2014/main" id="{A513BFAC-FF31-7D92-9226-81BC264529D0}"/>
              </a:ext>
            </a:extLst>
          </p:cNvPr>
          <p:cNvSpPr/>
          <p:nvPr/>
        </p:nvSpPr>
        <p:spPr>
          <a:xfrm>
            <a:off x="2713236" y="1306894"/>
            <a:ext cx="1937824" cy="995076"/>
          </a:xfrm>
          <a:prstGeom prst="rect">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G" sz="3200" b="1">
                <a:solidFill>
                  <a:schemeClr val="tx1"/>
                </a:solidFill>
                <a:latin typeface="Arial" panose="020B0604020202020204" pitchFamily="34" charset="0"/>
                <a:cs typeface="Arial" panose="020B0604020202020204" pitchFamily="34" charset="0"/>
              </a:rPr>
              <a:t>4,400</a:t>
            </a:r>
          </a:p>
          <a:p>
            <a:pPr algn="ctr"/>
            <a:r>
              <a:rPr lang="en-SG" sz="1400" i="1">
                <a:solidFill>
                  <a:schemeClr val="tx1"/>
                </a:solidFill>
                <a:latin typeface="Arial"/>
                <a:cs typeface="Arial"/>
              </a:rPr>
              <a:t>Median timesteps per flight</a:t>
            </a:r>
            <a:endParaRPr lang="en-SG" sz="1400" i="1">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7041527"/>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081B4D1-FB23-523A-AEBE-41800C7F4ECD}"/>
              </a:ext>
            </a:extLst>
          </p:cNvPr>
          <p:cNvSpPr/>
          <p:nvPr/>
        </p:nvSpPr>
        <p:spPr>
          <a:xfrm>
            <a:off x="0" y="0"/>
            <a:ext cx="12192000" cy="6810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Arial" panose="020B0604020202020204" pitchFamily="34" charset="0"/>
                <a:cs typeface="Arial" panose="020B0604020202020204" pitchFamily="34" charset="0"/>
              </a:rPr>
              <a:t>EDA Summary </a:t>
            </a:r>
            <a:endParaRPr lang="en-SG" sz="2800" b="1">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A307B80-1FBE-8825-FBEB-223D8591E9BC}"/>
              </a:ext>
            </a:extLst>
          </p:cNvPr>
          <p:cNvPicPr>
            <a:picLocks noChangeAspect="1"/>
          </p:cNvPicPr>
          <p:nvPr/>
        </p:nvPicPr>
        <p:blipFill>
          <a:blip r:embed="rId2"/>
          <a:stretch>
            <a:fillRect/>
          </a:stretch>
        </p:blipFill>
        <p:spPr>
          <a:xfrm>
            <a:off x="3525354" y="2904046"/>
            <a:ext cx="4009452" cy="2318719"/>
          </a:xfrm>
          <a:prstGeom prst="rect">
            <a:avLst/>
          </a:prstGeom>
        </p:spPr>
      </p:pic>
      <p:sp>
        <p:nvSpPr>
          <p:cNvPr id="8" name="TextBox 7">
            <a:extLst>
              <a:ext uri="{FF2B5EF4-FFF2-40B4-BE49-F238E27FC236}">
                <a16:creationId xmlns:a16="http://schemas.microsoft.com/office/drawing/2014/main" id="{6911A9FB-677A-B600-3395-C99A8BBEA7F0}"/>
              </a:ext>
            </a:extLst>
          </p:cNvPr>
          <p:cNvSpPr txBox="1"/>
          <p:nvPr/>
        </p:nvSpPr>
        <p:spPr>
          <a:xfrm>
            <a:off x="2158890" y="5468442"/>
            <a:ext cx="7475303" cy="1200329"/>
          </a:xfrm>
          <a:prstGeom prst="rect">
            <a:avLst/>
          </a:prstGeom>
          <a:solidFill>
            <a:schemeClr val="bg2"/>
          </a:solid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Arial"/>
                <a:ea typeface="+mn-lt"/>
                <a:cs typeface="Arial"/>
              </a:rPr>
              <a:t>Dataset spans 28,935 flights across 36 distinct maintenance event types, concentrated 35% on intake gasket leaks alone, showing maintenance burden is unevenly distributed</a:t>
            </a:r>
          </a:p>
          <a:p>
            <a:pPr marL="285750" lvl="0" indent="-285750">
              <a:buFont typeface="Arial" panose="020B0604020202020204" pitchFamily="34" charset="0"/>
              <a:buChar char="•"/>
              <a:defRPr/>
            </a:pPr>
            <a:r>
              <a:rPr lang="en-SG" sz="1200">
                <a:latin typeface="Arial"/>
                <a:ea typeface="+mn-lt"/>
                <a:cs typeface="Arial"/>
              </a:rPr>
              <a:t>Before/ After/ Same label distribution is 42% / 36% / 22% </a:t>
            </a:r>
            <a:r>
              <a:rPr lang="en-SG" sz="1200">
                <a:latin typeface="Arial"/>
                <a:ea typeface="+mn-lt"/>
                <a:cs typeface="Arial"/>
                <a:sym typeface="Wingdings" panose="05000000000000000000" pitchFamily="2" charset="2"/>
              </a:rPr>
              <a:t> mild imbalance (class ratio 1.87x)</a:t>
            </a:r>
          </a:p>
          <a:p>
            <a:pPr marL="285750" indent="-285750">
              <a:buFont typeface="Arial" panose="020B0604020202020204" pitchFamily="34" charset="0"/>
              <a:buChar char="•"/>
              <a:defRPr/>
            </a:pPr>
            <a:r>
              <a:rPr lang="en-US" sz="1200">
                <a:latin typeface="Arial"/>
                <a:ea typeface="+mn-lt"/>
                <a:cs typeface="Arial"/>
              </a:rPr>
              <a:t>Severe long tail in 36-class label (Gini 0.686) </a:t>
            </a:r>
            <a:r>
              <a:rPr lang="en-US" sz="1200">
                <a:latin typeface="Arial"/>
                <a:ea typeface="+mn-lt"/>
                <a:cs typeface="Arial"/>
                <a:sym typeface="Wingdings" panose="05000000000000000000" pitchFamily="2" charset="2"/>
              </a:rPr>
              <a:t> </a:t>
            </a:r>
            <a:r>
              <a:rPr lang="en-US" sz="1200">
                <a:latin typeface="Arial"/>
                <a:ea typeface="+mn-lt"/>
                <a:cs typeface="Arial"/>
              </a:rPr>
              <a:t>&gt; 0.6 is severe, &gt; 0.7 is extreme long-tail</a:t>
            </a:r>
          </a:p>
          <a:p>
            <a:pPr marL="285750" lvl="0" indent="-285750">
              <a:buFont typeface="Arial" panose="020B0604020202020204" pitchFamily="34" charset="0"/>
              <a:buChar char="•"/>
              <a:defRPr/>
            </a:pPr>
            <a:r>
              <a:rPr lang="en-US" sz="1200">
                <a:latin typeface="Arial"/>
                <a:ea typeface="+mn-lt"/>
                <a:cs typeface="Arial"/>
              </a:rPr>
              <a:t>63.4% of rows have no hierarchy value. Hierarchical multi-task learning is not feasible with this label</a:t>
            </a:r>
          </a:p>
          <a:p>
            <a:pPr marL="285750" lvl="0" indent="-285750">
              <a:buFont typeface="Arial" panose="020B0604020202020204" pitchFamily="34" charset="0"/>
              <a:buChar char="•"/>
              <a:defRPr/>
            </a:pPr>
            <a:r>
              <a:rPr lang="en-US" sz="1200">
                <a:latin typeface="Arial"/>
                <a:ea typeface="+mn-lt"/>
                <a:cs typeface="Arial"/>
              </a:rPr>
              <a:t>Correlation analysis suggests sensor redundancy: 23 channels </a:t>
            </a:r>
            <a:r>
              <a:rPr lang="en-US" sz="1200">
                <a:latin typeface="Arial"/>
                <a:ea typeface="+mn-lt"/>
                <a:cs typeface="Arial"/>
                <a:sym typeface="Wingdings" panose="05000000000000000000" pitchFamily="2" charset="2"/>
              </a:rPr>
              <a:t> </a:t>
            </a:r>
            <a:r>
              <a:rPr lang="en-US" sz="1200">
                <a:latin typeface="Arial"/>
                <a:ea typeface="+mn-lt"/>
                <a:cs typeface="Arial"/>
              </a:rPr>
              <a:t>11 after deduplication</a:t>
            </a:r>
          </a:p>
        </p:txBody>
      </p:sp>
      <p:pic>
        <p:nvPicPr>
          <p:cNvPr id="10" name="Picture 9">
            <a:extLst>
              <a:ext uri="{FF2B5EF4-FFF2-40B4-BE49-F238E27FC236}">
                <a16:creationId xmlns:a16="http://schemas.microsoft.com/office/drawing/2014/main" id="{330116AA-5BFB-2B25-EDCE-FFD3E32805D3}"/>
              </a:ext>
            </a:extLst>
          </p:cNvPr>
          <p:cNvPicPr>
            <a:picLocks noChangeAspect="1"/>
          </p:cNvPicPr>
          <p:nvPr/>
        </p:nvPicPr>
        <p:blipFill>
          <a:blip r:embed="rId3"/>
          <a:stretch>
            <a:fillRect/>
          </a:stretch>
        </p:blipFill>
        <p:spPr>
          <a:xfrm>
            <a:off x="235658" y="788264"/>
            <a:ext cx="4771262" cy="1693940"/>
          </a:xfrm>
          <a:prstGeom prst="rect">
            <a:avLst/>
          </a:prstGeom>
        </p:spPr>
      </p:pic>
      <p:pic>
        <p:nvPicPr>
          <p:cNvPr id="12" name="Picture 11">
            <a:extLst>
              <a:ext uri="{FF2B5EF4-FFF2-40B4-BE49-F238E27FC236}">
                <a16:creationId xmlns:a16="http://schemas.microsoft.com/office/drawing/2014/main" id="{AA910EC0-4B3F-816F-0073-D5E8BB521AF8}"/>
              </a:ext>
            </a:extLst>
          </p:cNvPr>
          <p:cNvPicPr>
            <a:picLocks noChangeAspect="1"/>
          </p:cNvPicPr>
          <p:nvPr/>
        </p:nvPicPr>
        <p:blipFill>
          <a:blip r:embed="rId4"/>
          <a:stretch>
            <a:fillRect/>
          </a:stretch>
        </p:blipFill>
        <p:spPr>
          <a:xfrm>
            <a:off x="7534806" y="757565"/>
            <a:ext cx="4453131" cy="4259809"/>
          </a:xfrm>
          <a:prstGeom prst="rect">
            <a:avLst/>
          </a:prstGeom>
        </p:spPr>
      </p:pic>
      <p:pic>
        <p:nvPicPr>
          <p:cNvPr id="14" name="Picture 13">
            <a:extLst>
              <a:ext uri="{FF2B5EF4-FFF2-40B4-BE49-F238E27FC236}">
                <a16:creationId xmlns:a16="http://schemas.microsoft.com/office/drawing/2014/main" id="{1C6ADE6C-5323-E21C-176D-9BFCAA35F3AF}"/>
              </a:ext>
            </a:extLst>
          </p:cNvPr>
          <p:cNvPicPr>
            <a:picLocks noChangeAspect="1"/>
          </p:cNvPicPr>
          <p:nvPr/>
        </p:nvPicPr>
        <p:blipFill>
          <a:blip r:embed="rId5"/>
          <a:stretch>
            <a:fillRect/>
          </a:stretch>
        </p:blipFill>
        <p:spPr>
          <a:xfrm>
            <a:off x="294976" y="2887470"/>
            <a:ext cx="3087272" cy="2429893"/>
          </a:xfrm>
          <a:prstGeom prst="rect">
            <a:avLst/>
          </a:prstGeom>
        </p:spPr>
      </p:pic>
      <p:pic>
        <p:nvPicPr>
          <p:cNvPr id="16" name="Picture 15">
            <a:extLst>
              <a:ext uri="{FF2B5EF4-FFF2-40B4-BE49-F238E27FC236}">
                <a16:creationId xmlns:a16="http://schemas.microsoft.com/office/drawing/2014/main" id="{D38740F3-FEED-9114-5B6B-FCA3EC2A497B}"/>
              </a:ext>
            </a:extLst>
          </p:cNvPr>
          <p:cNvPicPr>
            <a:picLocks noChangeAspect="1"/>
          </p:cNvPicPr>
          <p:nvPr/>
        </p:nvPicPr>
        <p:blipFill>
          <a:blip r:embed="rId6"/>
          <a:stretch>
            <a:fillRect/>
          </a:stretch>
        </p:blipFill>
        <p:spPr>
          <a:xfrm>
            <a:off x="5079544" y="840093"/>
            <a:ext cx="2672558" cy="1612885"/>
          </a:xfrm>
          <a:prstGeom prst="rect">
            <a:avLst/>
          </a:prstGeom>
        </p:spPr>
      </p:pic>
      <p:pic>
        <p:nvPicPr>
          <p:cNvPr id="18" name="Picture 17">
            <a:extLst>
              <a:ext uri="{FF2B5EF4-FFF2-40B4-BE49-F238E27FC236}">
                <a16:creationId xmlns:a16="http://schemas.microsoft.com/office/drawing/2014/main" id="{5CB427F0-0074-2122-ED31-DF513E7D3C11}"/>
              </a:ext>
            </a:extLst>
          </p:cNvPr>
          <p:cNvPicPr>
            <a:picLocks noChangeAspect="1"/>
          </p:cNvPicPr>
          <p:nvPr/>
        </p:nvPicPr>
        <p:blipFill>
          <a:blip r:embed="rId7"/>
          <a:srcRect t="18446"/>
          <a:stretch>
            <a:fillRect/>
          </a:stretch>
        </p:blipFill>
        <p:spPr>
          <a:xfrm>
            <a:off x="294976" y="2472694"/>
            <a:ext cx="4366915" cy="264697"/>
          </a:xfrm>
          <a:prstGeom prst="rect">
            <a:avLst/>
          </a:prstGeom>
        </p:spPr>
      </p:pic>
    </p:spTree>
    <p:extLst>
      <p:ext uri="{BB962C8B-B14F-4D97-AF65-F5344CB8AC3E}">
        <p14:creationId xmlns:p14="http://schemas.microsoft.com/office/powerpoint/2010/main" val="328212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0681F-8E80-E811-171B-2CF464038CE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A7C021B-F442-C30C-7C28-3707B0476615}"/>
              </a:ext>
            </a:extLst>
          </p:cNvPr>
          <p:cNvSpPr/>
          <p:nvPr/>
        </p:nvSpPr>
        <p:spPr>
          <a:xfrm>
            <a:off x="0" y="0"/>
            <a:ext cx="12192000" cy="6810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Arial" panose="020B0604020202020204" pitchFamily="34" charset="0"/>
                <a:cs typeface="Arial" panose="020B0604020202020204" pitchFamily="34" charset="0"/>
              </a:rPr>
              <a:t>ML Models and Performance Evaluation</a:t>
            </a:r>
            <a:endParaRPr lang="en-SG" sz="2800" b="1">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E9054C49-7A44-BFE2-5099-FF7F86641E2D}"/>
              </a:ext>
            </a:extLst>
          </p:cNvPr>
          <p:cNvGrpSpPr/>
          <p:nvPr/>
        </p:nvGrpSpPr>
        <p:grpSpPr>
          <a:xfrm>
            <a:off x="-320039" y="1357757"/>
            <a:ext cx="6575930" cy="4792028"/>
            <a:chOff x="4953000" y="1134687"/>
            <a:chExt cx="7289183" cy="5307806"/>
          </a:xfrm>
        </p:grpSpPr>
        <p:grpSp>
          <p:nvGrpSpPr>
            <p:cNvPr id="6" name="Group 5">
              <a:extLst>
                <a:ext uri="{FF2B5EF4-FFF2-40B4-BE49-F238E27FC236}">
                  <a16:creationId xmlns:a16="http://schemas.microsoft.com/office/drawing/2014/main" id="{97EB598E-DF83-4537-5586-B7861F59F96B}"/>
                </a:ext>
              </a:extLst>
            </p:cNvPr>
            <p:cNvGrpSpPr/>
            <p:nvPr/>
          </p:nvGrpSpPr>
          <p:grpSpPr>
            <a:xfrm>
              <a:off x="6574491" y="1772162"/>
              <a:ext cx="3996018" cy="4019037"/>
              <a:chOff x="6574491" y="1772162"/>
              <a:chExt cx="3996018" cy="4019037"/>
            </a:xfrm>
          </p:grpSpPr>
          <p:sp>
            <p:nvSpPr>
              <p:cNvPr id="8" name="Oval 7">
                <a:extLst>
                  <a:ext uri="{FF2B5EF4-FFF2-40B4-BE49-F238E27FC236}">
                    <a16:creationId xmlns:a16="http://schemas.microsoft.com/office/drawing/2014/main" id="{BCE70AA7-2AF8-8631-7E23-8821ED87F2EA}"/>
                  </a:ext>
                </a:extLst>
              </p:cNvPr>
              <p:cNvSpPr/>
              <p:nvPr/>
            </p:nvSpPr>
            <p:spPr>
              <a:xfrm>
                <a:off x="6574491" y="1772162"/>
                <a:ext cx="3996018" cy="4019037"/>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FFF03F8-2DEB-F06F-D216-D018A6E54592}"/>
                  </a:ext>
                </a:extLst>
              </p:cNvPr>
              <p:cNvSpPr txBox="1"/>
              <p:nvPr/>
            </p:nvSpPr>
            <p:spPr>
              <a:xfrm>
                <a:off x="7750175" y="2419350"/>
                <a:ext cx="1644650" cy="369332"/>
              </a:xfrm>
              <a:prstGeom prst="rect">
                <a:avLst/>
              </a:prstGeom>
              <a:noFill/>
            </p:spPr>
            <p:txBody>
              <a:bodyPr wrap="square" rtlCol="0">
                <a:spAutoFit/>
              </a:bodyPr>
              <a:lstStyle/>
              <a:p>
                <a:pPr algn="ctr"/>
                <a:r>
                  <a:rPr lang="en-SG">
                    <a:latin typeface="Arial" panose="020B0604020202020204" pitchFamily="34" charset="0"/>
                    <a:cs typeface="Arial" panose="020B0604020202020204" pitchFamily="34" charset="0"/>
                  </a:rPr>
                  <a:t>Ensemble</a:t>
                </a:r>
              </a:p>
            </p:txBody>
          </p:sp>
          <p:sp>
            <p:nvSpPr>
              <p:cNvPr id="10" name="TextBox 9">
                <a:extLst>
                  <a:ext uri="{FF2B5EF4-FFF2-40B4-BE49-F238E27FC236}">
                    <a16:creationId xmlns:a16="http://schemas.microsoft.com/office/drawing/2014/main" id="{13331C34-93B6-B1D6-F709-52B451237B48}"/>
                  </a:ext>
                </a:extLst>
              </p:cNvPr>
              <p:cNvSpPr txBox="1"/>
              <p:nvPr/>
            </p:nvSpPr>
            <p:spPr>
              <a:xfrm>
                <a:off x="7750175" y="4826000"/>
                <a:ext cx="1644650" cy="369332"/>
              </a:xfrm>
              <a:prstGeom prst="rect">
                <a:avLst/>
              </a:prstGeom>
              <a:noFill/>
            </p:spPr>
            <p:txBody>
              <a:bodyPr wrap="square" rtlCol="0">
                <a:spAutoFit/>
              </a:bodyPr>
              <a:lstStyle/>
              <a:p>
                <a:pPr algn="ctr"/>
                <a:r>
                  <a:rPr lang="en-SG">
                    <a:latin typeface="Arial" panose="020B0604020202020204" pitchFamily="34" charset="0"/>
                    <a:cs typeface="Arial" panose="020B0604020202020204" pitchFamily="34" charset="0"/>
                  </a:rPr>
                  <a:t>Stacking</a:t>
                </a:r>
              </a:p>
            </p:txBody>
          </p:sp>
        </p:grpSp>
        <p:graphicFrame>
          <p:nvGraphicFramePr>
            <p:cNvPr id="7" name="Diagram 6">
              <a:extLst>
                <a:ext uri="{FF2B5EF4-FFF2-40B4-BE49-F238E27FC236}">
                  <a16:creationId xmlns:a16="http://schemas.microsoft.com/office/drawing/2014/main" id="{AB88FF72-38B2-6BDB-C2E9-CAB59B76F730}"/>
                </a:ext>
              </a:extLst>
            </p:cNvPr>
            <p:cNvGraphicFramePr/>
            <p:nvPr>
              <p:extLst>
                <p:ext uri="{D42A27DB-BD31-4B8C-83A1-F6EECF244321}">
                  <p14:modId xmlns:p14="http://schemas.microsoft.com/office/powerpoint/2010/main" val="763638141"/>
                </p:ext>
              </p:extLst>
            </p:nvPr>
          </p:nvGraphicFramePr>
          <p:xfrm>
            <a:off x="4953000" y="1134687"/>
            <a:ext cx="7289183" cy="53078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grpSp>
        <p:nvGrpSpPr>
          <p:cNvPr id="34" name="Group 33">
            <a:extLst>
              <a:ext uri="{FF2B5EF4-FFF2-40B4-BE49-F238E27FC236}">
                <a16:creationId xmlns:a16="http://schemas.microsoft.com/office/drawing/2014/main" id="{7BD0335C-CCA7-F9E1-6EB2-130C08C0E95F}"/>
              </a:ext>
            </a:extLst>
          </p:cNvPr>
          <p:cNvGrpSpPr/>
          <p:nvPr/>
        </p:nvGrpSpPr>
        <p:grpSpPr>
          <a:xfrm>
            <a:off x="6466935" y="1266253"/>
            <a:ext cx="5043233" cy="5269358"/>
            <a:chOff x="408432" y="999211"/>
            <a:chExt cx="5043233" cy="5269358"/>
          </a:xfrm>
        </p:grpSpPr>
        <p:grpSp>
          <p:nvGrpSpPr>
            <p:cNvPr id="16" name="Group 15">
              <a:extLst>
                <a:ext uri="{FF2B5EF4-FFF2-40B4-BE49-F238E27FC236}">
                  <a16:creationId xmlns:a16="http://schemas.microsoft.com/office/drawing/2014/main" id="{AA566260-AED4-159D-F1E2-21AE1A61A143}"/>
                </a:ext>
              </a:extLst>
            </p:cNvPr>
            <p:cNvGrpSpPr/>
            <p:nvPr/>
          </p:nvGrpSpPr>
          <p:grpSpPr>
            <a:xfrm>
              <a:off x="414528" y="999211"/>
              <a:ext cx="2401824" cy="1893046"/>
              <a:chOff x="533400" y="850392"/>
              <a:chExt cx="2401824" cy="1893046"/>
            </a:xfrm>
          </p:grpSpPr>
          <p:sp>
            <p:nvSpPr>
              <p:cNvPr id="12" name="Rectangle 11">
                <a:extLst>
                  <a:ext uri="{FF2B5EF4-FFF2-40B4-BE49-F238E27FC236}">
                    <a16:creationId xmlns:a16="http://schemas.microsoft.com/office/drawing/2014/main" id="{885C515D-C266-2632-FCAC-28722CEDD461}"/>
                  </a:ext>
                </a:extLst>
              </p:cNvPr>
              <p:cNvSpPr/>
              <p:nvPr/>
            </p:nvSpPr>
            <p:spPr>
              <a:xfrm>
                <a:off x="539496" y="850392"/>
                <a:ext cx="2395728" cy="2926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Recall (Sensitivity)</a:t>
                </a:r>
              </a:p>
            </p:txBody>
          </p:sp>
          <p:sp>
            <p:nvSpPr>
              <p:cNvPr id="15" name="TextBox 14">
                <a:extLst>
                  <a:ext uri="{FF2B5EF4-FFF2-40B4-BE49-F238E27FC236}">
                    <a16:creationId xmlns:a16="http://schemas.microsoft.com/office/drawing/2014/main" id="{D11E1C22-C663-3EBD-3C5E-5C76451D4792}"/>
                  </a:ext>
                </a:extLst>
              </p:cNvPr>
              <p:cNvSpPr txBox="1"/>
              <p:nvPr/>
            </p:nvSpPr>
            <p:spPr>
              <a:xfrm>
                <a:off x="533400" y="1143000"/>
                <a:ext cx="2395728" cy="1600438"/>
              </a:xfrm>
              <a:prstGeom prst="rect">
                <a:avLst/>
              </a:prstGeom>
              <a:solidFill>
                <a:schemeClr val="bg1">
                  <a:lumMod val="95000"/>
                </a:schemeClr>
              </a:solidFill>
            </p:spPr>
            <p:txBody>
              <a:bodyPr wrap="square" lIns="91440" tIns="45720" rIns="91440" bIns="45720" anchor="t">
                <a:spAutoFit/>
              </a:bodyPr>
              <a:lstStyle/>
              <a:p>
                <a:r>
                  <a:rPr lang="en-US" sz="1400">
                    <a:solidFill>
                      <a:srgbClr val="2C3E50"/>
                    </a:solidFill>
                    <a:latin typeface="Arial"/>
                    <a:ea typeface="+mn-lt"/>
                    <a:cs typeface="Arial"/>
                  </a:rPr>
                  <a:t>A false negative clears an at-risk aircraft to fly again, so the failure risk falls on the next sortie. High recall minimizes this safety-critical miss.</a:t>
                </a:r>
                <a:br>
                  <a:rPr lang="en-US" sz="1400">
                    <a:solidFill>
                      <a:srgbClr val="2C3E50"/>
                    </a:solidFill>
                    <a:latin typeface="Arial"/>
                    <a:ea typeface="+mn-lt"/>
                    <a:cs typeface="Arial"/>
                  </a:rPr>
                </a:br>
                <a:endParaRPr lang="en-US" sz="1400">
                  <a:solidFill>
                    <a:srgbClr val="2C3E50"/>
                  </a:solidFill>
                  <a:latin typeface="Arial"/>
                  <a:cs typeface="Arial"/>
                </a:endParaRPr>
              </a:p>
            </p:txBody>
          </p:sp>
        </p:grpSp>
        <p:grpSp>
          <p:nvGrpSpPr>
            <p:cNvPr id="17" name="Group 16">
              <a:extLst>
                <a:ext uri="{FF2B5EF4-FFF2-40B4-BE49-F238E27FC236}">
                  <a16:creationId xmlns:a16="http://schemas.microsoft.com/office/drawing/2014/main" id="{3CB73CBC-CBFE-3892-8100-F99D271AAFA6}"/>
                </a:ext>
              </a:extLst>
            </p:cNvPr>
            <p:cNvGrpSpPr/>
            <p:nvPr/>
          </p:nvGrpSpPr>
          <p:grpSpPr>
            <a:xfrm>
              <a:off x="3035808" y="999211"/>
              <a:ext cx="2401824" cy="1677603"/>
              <a:chOff x="533400" y="850392"/>
              <a:chExt cx="2401824" cy="1677603"/>
            </a:xfrm>
          </p:grpSpPr>
          <p:sp>
            <p:nvSpPr>
              <p:cNvPr id="18" name="Rectangle 17">
                <a:extLst>
                  <a:ext uri="{FF2B5EF4-FFF2-40B4-BE49-F238E27FC236}">
                    <a16:creationId xmlns:a16="http://schemas.microsoft.com/office/drawing/2014/main" id="{46F97E6C-DED3-919D-FCD0-53072A151F6E}"/>
                  </a:ext>
                </a:extLst>
              </p:cNvPr>
              <p:cNvSpPr/>
              <p:nvPr/>
            </p:nvSpPr>
            <p:spPr>
              <a:xfrm>
                <a:off x="539496" y="850392"/>
                <a:ext cx="2395728" cy="2926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Precision</a:t>
                </a:r>
              </a:p>
            </p:txBody>
          </p:sp>
          <p:sp>
            <p:nvSpPr>
              <p:cNvPr id="19" name="TextBox 18">
                <a:extLst>
                  <a:ext uri="{FF2B5EF4-FFF2-40B4-BE49-F238E27FC236}">
                    <a16:creationId xmlns:a16="http://schemas.microsoft.com/office/drawing/2014/main" id="{3D71363C-E838-264D-C57E-D73114C434ED}"/>
                  </a:ext>
                </a:extLst>
              </p:cNvPr>
              <p:cNvSpPr txBox="1"/>
              <p:nvPr/>
            </p:nvSpPr>
            <p:spPr>
              <a:xfrm>
                <a:off x="533400" y="1143000"/>
                <a:ext cx="2395728" cy="1384995"/>
              </a:xfrm>
              <a:prstGeom prst="rect">
                <a:avLst/>
              </a:prstGeom>
              <a:solidFill>
                <a:schemeClr val="bg1">
                  <a:lumMod val="95000"/>
                </a:schemeClr>
              </a:solidFill>
            </p:spPr>
            <p:txBody>
              <a:bodyPr wrap="square" lIns="91440" tIns="45720" rIns="91440" bIns="45720" anchor="t">
                <a:spAutoFit/>
              </a:bodyPr>
              <a:lstStyle/>
              <a:p>
                <a:r>
                  <a:rPr lang="en-US" sz="1400">
                    <a:solidFill>
                      <a:srgbClr val="2C3E50"/>
                    </a:solidFill>
                    <a:latin typeface="Arial"/>
                    <a:ea typeface="+mn-lt"/>
                    <a:cs typeface="Arial"/>
                  </a:rPr>
                  <a:t>Avoids too many unnecessary maintenance calls (false positives), which are costly and reduce fleet availability.</a:t>
                </a:r>
                <a:br>
                  <a:rPr lang="en-US" sz="1400">
                    <a:solidFill>
                      <a:srgbClr val="2C3E50"/>
                    </a:solidFill>
                    <a:latin typeface="Arial"/>
                    <a:ea typeface="+mn-lt"/>
                    <a:cs typeface="Arial"/>
                  </a:rPr>
                </a:br>
                <a:endParaRPr lang="en-US" sz="1400">
                  <a:solidFill>
                    <a:srgbClr val="2C3E50"/>
                  </a:solidFill>
                  <a:latin typeface="Arial"/>
                  <a:cs typeface="Arial"/>
                </a:endParaRPr>
              </a:p>
            </p:txBody>
          </p:sp>
        </p:grpSp>
        <p:grpSp>
          <p:nvGrpSpPr>
            <p:cNvPr id="20" name="Group 19">
              <a:extLst>
                <a:ext uri="{FF2B5EF4-FFF2-40B4-BE49-F238E27FC236}">
                  <a16:creationId xmlns:a16="http://schemas.microsoft.com/office/drawing/2014/main" id="{6F26CDCB-7960-5FB3-B63F-7B6E86560B7A}"/>
                </a:ext>
              </a:extLst>
            </p:cNvPr>
            <p:cNvGrpSpPr/>
            <p:nvPr/>
          </p:nvGrpSpPr>
          <p:grpSpPr>
            <a:xfrm>
              <a:off x="408432" y="2697920"/>
              <a:ext cx="2401824" cy="1677603"/>
              <a:chOff x="533400" y="850392"/>
              <a:chExt cx="2401824" cy="1677603"/>
            </a:xfrm>
          </p:grpSpPr>
          <p:sp>
            <p:nvSpPr>
              <p:cNvPr id="21" name="Rectangle 20">
                <a:extLst>
                  <a:ext uri="{FF2B5EF4-FFF2-40B4-BE49-F238E27FC236}">
                    <a16:creationId xmlns:a16="http://schemas.microsoft.com/office/drawing/2014/main" id="{732E0AB3-4BE8-BC4E-0857-D9AC29CD9A3A}"/>
                  </a:ext>
                </a:extLst>
              </p:cNvPr>
              <p:cNvSpPr/>
              <p:nvPr/>
            </p:nvSpPr>
            <p:spPr>
              <a:xfrm>
                <a:off x="539496" y="850392"/>
                <a:ext cx="2395728" cy="2926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F1-Score</a:t>
                </a:r>
              </a:p>
            </p:txBody>
          </p:sp>
          <p:sp>
            <p:nvSpPr>
              <p:cNvPr id="22" name="TextBox 21">
                <a:extLst>
                  <a:ext uri="{FF2B5EF4-FFF2-40B4-BE49-F238E27FC236}">
                    <a16:creationId xmlns:a16="http://schemas.microsoft.com/office/drawing/2014/main" id="{6C2CBE39-C016-666F-92B8-96A52650D56F}"/>
                  </a:ext>
                </a:extLst>
              </p:cNvPr>
              <p:cNvSpPr txBox="1"/>
              <p:nvPr/>
            </p:nvSpPr>
            <p:spPr>
              <a:xfrm>
                <a:off x="533400" y="1143000"/>
                <a:ext cx="2395728" cy="1384995"/>
              </a:xfrm>
              <a:prstGeom prst="rect">
                <a:avLst/>
              </a:prstGeom>
              <a:solidFill>
                <a:schemeClr val="bg1">
                  <a:lumMod val="95000"/>
                </a:schemeClr>
              </a:solidFill>
            </p:spPr>
            <p:txBody>
              <a:bodyPr wrap="square" lIns="91440" tIns="45720" rIns="91440" bIns="45720" anchor="t">
                <a:spAutoFit/>
              </a:bodyPr>
              <a:lstStyle/>
              <a:p>
                <a:r>
                  <a:rPr lang="en-US" sz="1400">
                    <a:solidFill>
                      <a:srgbClr val="2C3E50"/>
                    </a:solidFill>
                    <a:latin typeface="Arial"/>
                    <a:ea typeface="+mn-lt"/>
                    <a:cs typeface="Arial"/>
                  </a:rPr>
                  <a:t>Harmonic mean of Precision and Recall. Penalizes models that sacrifice one for the other, balancing safety against operational disruption.</a:t>
                </a:r>
                <a:endParaRPr lang="en-US" sz="1400">
                  <a:latin typeface="Arial"/>
                  <a:ea typeface="+mn-lt"/>
                  <a:cs typeface="Arial"/>
                </a:endParaRPr>
              </a:p>
            </p:txBody>
          </p:sp>
        </p:grpSp>
        <p:grpSp>
          <p:nvGrpSpPr>
            <p:cNvPr id="23" name="Group 22">
              <a:extLst>
                <a:ext uri="{FF2B5EF4-FFF2-40B4-BE49-F238E27FC236}">
                  <a16:creationId xmlns:a16="http://schemas.microsoft.com/office/drawing/2014/main" id="{06B24674-676F-5F45-92FC-DCD13D9C2766}"/>
                </a:ext>
              </a:extLst>
            </p:cNvPr>
            <p:cNvGrpSpPr/>
            <p:nvPr/>
          </p:nvGrpSpPr>
          <p:grpSpPr>
            <a:xfrm>
              <a:off x="3041904" y="2697920"/>
              <a:ext cx="2401824" cy="1893046"/>
              <a:chOff x="533400" y="850392"/>
              <a:chExt cx="2401824" cy="1893046"/>
            </a:xfrm>
          </p:grpSpPr>
          <p:sp>
            <p:nvSpPr>
              <p:cNvPr id="24" name="Rectangle 23">
                <a:extLst>
                  <a:ext uri="{FF2B5EF4-FFF2-40B4-BE49-F238E27FC236}">
                    <a16:creationId xmlns:a16="http://schemas.microsoft.com/office/drawing/2014/main" id="{5E51C3D7-0554-EE02-D5EB-DC45C68DB816}"/>
                  </a:ext>
                </a:extLst>
              </p:cNvPr>
              <p:cNvSpPr/>
              <p:nvPr/>
            </p:nvSpPr>
            <p:spPr>
              <a:xfrm>
                <a:off x="539496" y="850392"/>
                <a:ext cx="2395728" cy="2926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G" sz="1400" b="1">
                    <a:latin typeface="Arial"/>
                    <a:cs typeface="Arial"/>
                  </a:rPr>
                  <a:t>ROC-AUC / PR-AUC</a:t>
                </a:r>
                <a:endParaRPr lang="en-SG" sz="1400" b="1">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7CC56A89-DCDB-7703-4751-8FE352C06D4C}"/>
                  </a:ext>
                </a:extLst>
              </p:cNvPr>
              <p:cNvSpPr txBox="1"/>
              <p:nvPr/>
            </p:nvSpPr>
            <p:spPr>
              <a:xfrm>
                <a:off x="533400" y="1143000"/>
                <a:ext cx="2395728" cy="1600438"/>
              </a:xfrm>
              <a:prstGeom prst="rect">
                <a:avLst/>
              </a:prstGeom>
              <a:solidFill>
                <a:schemeClr val="bg1">
                  <a:lumMod val="95000"/>
                </a:schemeClr>
              </a:solidFill>
            </p:spPr>
            <p:txBody>
              <a:bodyPr wrap="square" lIns="91440" tIns="45720" rIns="91440" bIns="45720" anchor="t">
                <a:spAutoFit/>
              </a:bodyPr>
              <a:lstStyle/>
              <a:p>
                <a:r>
                  <a:rPr lang="en-US" sz="1400">
                    <a:solidFill>
                      <a:srgbClr val="2C3E50"/>
                    </a:solidFill>
                    <a:latin typeface="Arial"/>
                    <a:ea typeface="+mn-lt"/>
                    <a:cs typeface="Arial"/>
                  </a:rPr>
                  <a:t>Threshold-independent measures for comparing all models fairly. PR-AUC supplements ROC-AUC when class distribution is imbalanced.</a:t>
                </a:r>
                <a:br>
                  <a:rPr lang="en-US" sz="1400">
                    <a:solidFill>
                      <a:srgbClr val="2C3E50"/>
                    </a:solidFill>
                    <a:latin typeface="Arial"/>
                    <a:ea typeface="+mn-lt"/>
                    <a:cs typeface="Arial"/>
                  </a:rPr>
                </a:br>
                <a:endParaRPr lang="en-US" sz="1400">
                  <a:solidFill>
                    <a:srgbClr val="2C3E50"/>
                  </a:solidFill>
                  <a:latin typeface="Arial"/>
                  <a:cs typeface="Arial"/>
                </a:endParaRPr>
              </a:p>
            </p:txBody>
          </p:sp>
        </p:grpSp>
        <p:grpSp>
          <p:nvGrpSpPr>
            <p:cNvPr id="26" name="Group 25">
              <a:extLst>
                <a:ext uri="{FF2B5EF4-FFF2-40B4-BE49-F238E27FC236}">
                  <a16:creationId xmlns:a16="http://schemas.microsoft.com/office/drawing/2014/main" id="{7D3748C7-CCD7-839E-A9FC-4AB07DFB35E3}"/>
                </a:ext>
              </a:extLst>
            </p:cNvPr>
            <p:cNvGrpSpPr/>
            <p:nvPr/>
          </p:nvGrpSpPr>
          <p:grpSpPr>
            <a:xfrm>
              <a:off x="3044952" y="4375523"/>
              <a:ext cx="2406713" cy="1893046"/>
              <a:chOff x="533400" y="949584"/>
              <a:chExt cx="2406713" cy="1893046"/>
            </a:xfrm>
          </p:grpSpPr>
          <p:sp>
            <p:nvSpPr>
              <p:cNvPr id="27" name="Rectangle 26">
                <a:extLst>
                  <a:ext uri="{FF2B5EF4-FFF2-40B4-BE49-F238E27FC236}">
                    <a16:creationId xmlns:a16="http://schemas.microsoft.com/office/drawing/2014/main" id="{30F85EFC-F916-6BAF-D371-9DD0F4054E48}"/>
                  </a:ext>
                </a:extLst>
              </p:cNvPr>
              <p:cNvSpPr/>
              <p:nvPr/>
            </p:nvSpPr>
            <p:spPr>
              <a:xfrm>
                <a:off x="533400" y="949584"/>
                <a:ext cx="2395728" cy="2926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G" sz="1400" b="1">
                    <a:latin typeface="Arial"/>
                    <a:cs typeface="Arial"/>
                  </a:rPr>
                  <a:t>Inference Time</a:t>
                </a:r>
                <a:endParaRPr lang="en-US"/>
              </a:p>
            </p:txBody>
          </p:sp>
          <p:sp>
            <p:nvSpPr>
              <p:cNvPr id="28" name="TextBox 27">
                <a:extLst>
                  <a:ext uri="{FF2B5EF4-FFF2-40B4-BE49-F238E27FC236}">
                    <a16:creationId xmlns:a16="http://schemas.microsoft.com/office/drawing/2014/main" id="{19D4B1CA-F277-246B-111C-98DBE5DA41E8}"/>
                  </a:ext>
                </a:extLst>
              </p:cNvPr>
              <p:cNvSpPr txBox="1"/>
              <p:nvPr/>
            </p:nvSpPr>
            <p:spPr>
              <a:xfrm>
                <a:off x="536448" y="1242192"/>
                <a:ext cx="2403665" cy="1600438"/>
              </a:xfrm>
              <a:prstGeom prst="rect">
                <a:avLst/>
              </a:prstGeom>
              <a:solidFill>
                <a:schemeClr val="bg1">
                  <a:lumMod val="95000"/>
                </a:schemeClr>
              </a:solidFill>
            </p:spPr>
            <p:txBody>
              <a:bodyPr wrap="square" lIns="91440" tIns="45720" rIns="91440" bIns="45720" anchor="t">
                <a:spAutoFit/>
              </a:bodyPr>
              <a:lstStyle/>
              <a:p>
                <a:r>
                  <a:rPr lang="en-US" sz="1400">
                    <a:solidFill>
                      <a:srgbClr val="2C3E50"/>
                    </a:solidFill>
                    <a:latin typeface="Arial"/>
                    <a:ea typeface="+mn-lt"/>
                    <a:cs typeface="Arial"/>
                  </a:rPr>
                  <a:t>Time to score a single completed flight at deployment. Must be fast enough to inform the pre-flight check before the aircraft's next sortie.</a:t>
                </a:r>
                <a:br>
                  <a:rPr lang="en-US" sz="1400">
                    <a:solidFill>
                      <a:srgbClr val="2C3E50"/>
                    </a:solidFill>
                    <a:latin typeface="Arial"/>
                    <a:ea typeface="+mn-lt"/>
                    <a:cs typeface="Arial"/>
                  </a:rPr>
                </a:br>
                <a:endParaRPr lang="en-US" sz="1400">
                  <a:solidFill>
                    <a:srgbClr val="2C3E50"/>
                  </a:solidFill>
                  <a:latin typeface="Arial"/>
                  <a:cs typeface="Arial"/>
                </a:endParaRPr>
              </a:p>
            </p:txBody>
          </p:sp>
        </p:grpSp>
        <p:grpSp>
          <p:nvGrpSpPr>
            <p:cNvPr id="29" name="Group 28">
              <a:extLst>
                <a:ext uri="{FF2B5EF4-FFF2-40B4-BE49-F238E27FC236}">
                  <a16:creationId xmlns:a16="http://schemas.microsoft.com/office/drawing/2014/main" id="{E04C46B9-04C9-2EDE-EA8B-FCC1C4D7CF66}"/>
                </a:ext>
              </a:extLst>
            </p:cNvPr>
            <p:cNvGrpSpPr/>
            <p:nvPr/>
          </p:nvGrpSpPr>
          <p:grpSpPr>
            <a:xfrm>
              <a:off x="408432" y="4386785"/>
              <a:ext cx="2395728" cy="1881784"/>
              <a:chOff x="539496" y="944711"/>
              <a:chExt cx="2395728" cy="1881784"/>
            </a:xfrm>
          </p:grpSpPr>
          <p:sp>
            <p:nvSpPr>
              <p:cNvPr id="30" name="Rectangle 29">
                <a:extLst>
                  <a:ext uri="{FF2B5EF4-FFF2-40B4-BE49-F238E27FC236}">
                    <a16:creationId xmlns:a16="http://schemas.microsoft.com/office/drawing/2014/main" id="{4CD104F7-23F5-14C8-E9AF-FF925483D49B}"/>
                  </a:ext>
                </a:extLst>
              </p:cNvPr>
              <p:cNvSpPr/>
              <p:nvPr/>
            </p:nvSpPr>
            <p:spPr>
              <a:xfrm>
                <a:off x="539496" y="944711"/>
                <a:ext cx="2395728" cy="2926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Confusion Matrix</a:t>
                </a:r>
              </a:p>
            </p:txBody>
          </p:sp>
          <p:sp>
            <p:nvSpPr>
              <p:cNvPr id="31" name="TextBox 30">
                <a:extLst>
                  <a:ext uri="{FF2B5EF4-FFF2-40B4-BE49-F238E27FC236}">
                    <a16:creationId xmlns:a16="http://schemas.microsoft.com/office/drawing/2014/main" id="{F049B5CE-0C16-3695-03C3-C6364BF8EA8A}"/>
                  </a:ext>
                </a:extLst>
              </p:cNvPr>
              <p:cNvSpPr txBox="1"/>
              <p:nvPr/>
            </p:nvSpPr>
            <p:spPr>
              <a:xfrm>
                <a:off x="539496" y="1226057"/>
                <a:ext cx="2395728" cy="1600438"/>
              </a:xfrm>
              <a:prstGeom prst="rect">
                <a:avLst/>
              </a:prstGeom>
              <a:solidFill>
                <a:schemeClr val="bg1">
                  <a:lumMod val="95000"/>
                </a:schemeClr>
              </a:solidFill>
            </p:spPr>
            <p:txBody>
              <a:bodyPr wrap="square" lIns="91440" tIns="45720" rIns="91440" bIns="45720" anchor="t">
                <a:spAutoFit/>
              </a:bodyPr>
              <a:lstStyle/>
              <a:p>
                <a:r>
                  <a:rPr lang="en-US" sz="1400">
                    <a:solidFill>
                      <a:srgbClr val="2C3E50"/>
                    </a:solidFill>
                    <a:latin typeface="Arial"/>
                    <a:ea typeface="+mn-lt"/>
                    <a:cs typeface="Arial"/>
                  </a:rPr>
                  <a:t>Full breakdown of TP, TN, FP, FN mapping directly to operational outcomes: correctly flagged, correctly cleared, unnecessary inspections, and missed faults.</a:t>
                </a:r>
                <a:endParaRPr lang="en-US" sz="1400">
                  <a:solidFill>
                    <a:srgbClr val="2C3E50"/>
                  </a:solidFill>
                  <a:latin typeface="Arial"/>
                  <a:cs typeface="Arial"/>
                </a:endParaRPr>
              </a:p>
            </p:txBody>
          </p:sp>
        </p:grpSp>
      </p:grpSp>
      <p:sp>
        <p:nvSpPr>
          <p:cNvPr id="35" name="Arrow: Right 34">
            <a:extLst>
              <a:ext uri="{FF2B5EF4-FFF2-40B4-BE49-F238E27FC236}">
                <a16:creationId xmlns:a16="http://schemas.microsoft.com/office/drawing/2014/main" id="{0995C404-7379-55D4-07FF-BC364E48ADE5}"/>
              </a:ext>
            </a:extLst>
          </p:cNvPr>
          <p:cNvSpPr/>
          <p:nvPr/>
        </p:nvSpPr>
        <p:spPr>
          <a:xfrm>
            <a:off x="5513832" y="3298375"/>
            <a:ext cx="704088" cy="4937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TextBox 36">
            <a:extLst>
              <a:ext uri="{FF2B5EF4-FFF2-40B4-BE49-F238E27FC236}">
                <a16:creationId xmlns:a16="http://schemas.microsoft.com/office/drawing/2014/main" id="{A9D6D7AA-6D8B-6B4A-E345-49EAEF345EB1}"/>
              </a:ext>
            </a:extLst>
          </p:cNvPr>
          <p:cNvSpPr txBox="1"/>
          <p:nvPr/>
        </p:nvSpPr>
        <p:spPr>
          <a:xfrm>
            <a:off x="7955280" y="804368"/>
            <a:ext cx="2066544" cy="338554"/>
          </a:xfrm>
          <a:prstGeom prst="rect">
            <a:avLst/>
          </a:prstGeom>
          <a:noFill/>
        </p:spPr>
        <p:txBody>
          <a:bodyPr wrap="square" rtlCol="0">
            <a:spAutoFit/>
          </a:bodyPr>
          <a:lstStyle/>
          <a:p>
            <a:r>
              <a:rPr lang="en-SG" sz="1600" b="1">
                <a:latin typeface="Arial" panose="020B0604020202020204" pitchFamily="34" charset="0"/>
                <a:cs typeface="Arial" panose="020B0604020202020204" pitchFamily="34" charset="0"/>
              </a:rPr>
              <a:t>Evaluation Criteria</a:t>
            </a:r>
            <a:endParaRPr lang="en-SG"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3126461"/>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ADAF4-C956-D288-830D-E3976DCEDD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EAD67ED-84C4-C242-A349-C21C80A417E0}"/>
              </a:ext>
            </a:extLst>
          </p:cNvPr>
          <p:cNvSpPr/>
          <p:nvPr/>
        </p:nvSpPr>
        <p:spPr>
          <a:xfrm>
            <a:off x="0" y="0"/>
            <a:ext cx="12192000" cy="6810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G" sz="2800" b="1">
                <a:latin typeface="Arial" panose="020B0604020202020204" pitchFamily="34" charset="0"/>
                <a:cs typeface="Arial" panose="020B0604020202020204" pitchFamily="34" charset="0"/>
              </a:rPr>
              <a:t>Analysis and Model Building (Potential Limitations) </a:t>
            </a:r>
          </a:p>
        </p:txBody>
      </p:sp>
      <p:graphicFrame>
        <p:nvGraphicFramePr>
          <p:cNvPr id="6" name="Content Placeholder 4">
            <a:extLst>
              <a:ext uri="{FF2B5EF4-FFF2-40B4-BE49-F238E27FC236}">
                <a16:creationId xmlns:a16="http://schemas.microsoft.com/office/drawing/2014/main" id="{48E62B04-E501-79E0-6D0C-92F537901E75}"/>
              </a:ext>
            </a:extLst>
          </p:cNvPr>
          <p:cNvGraphicFramePr>
            <a:graphicFrameLocks noGrp="1"/>
          </p:cNvGraphicFramePr>
          <p:nvPr>
            <p:ph idx="1"/>
            <p:extLst>
              <p:ext uri="{D42A27DB-BD31-4B8C-83A1-F6EECF244321}">
                <p14:modId xmlns:p14="http://schemas.microsoft.com/office/powerpoint/2010/main" val="202106855"/>
              </p:ext>
            </p:extLst>
          </p:nvPr>
        </p:nvGraphicFramePr>
        <p:xfrm>
          <a:off x="838200" y="983695"/>
          <a:ext cx="10515600" cy="5337328"/>
        </p:xfrm>
        <a:graphic>
          <a:graphicData uri="http://schemas.openxmlformats.org/drawingml/2006/table">
            <a:tbl>
              <a:tblPr firstRow="1" bandRow="1">
                <a:tableStyleId>{3B4B98B0-60AC-42C2-AFA5-B58CD77FA1E5}</a:tableStyleId>
              </a:tblPr>
              <a:tblGrid>
                <a:gridCol w="2365268">
                  <a:extLst>
                    <a:ext uri="{9D8B030D-6E8A-4147-A177-3AD203B41FA5}">
                      <a16:colId xmlns:a16="http://schemas.microsoft.com/office/drawing/2014/main" val="234043505"/>
                    </a:ext>
                  </a:extLst>
                </a:gridCol>
                <a:gridCol w="3633053">
                  <a:extLst>
                    <a:ext uri="{9D8B030D-6E8A-4147-A177-3AD203B41FA5}">
                      <a16:colId xmlns:a16="http://schemas.microsoft.com/office/drawing/2014/main" val="476664471"/>
                    </a:ext>
                  </a:extLst>
                </a:gridCol>
                <a:gridCol w="4517279">
                  <a:extLst>
                    <a:ext uri="{9D8B030D-6E8A-4147-A177-3AD203B41FA5}">
                      <a16:colId xmlns:a16="http://schemas.microsoft.com/office/drawing/2014/main" val="1150220465"/>
                    </a:ext>
                  </a:extLst>
                </a:gridCol>
              </a:tblGrid>
              <a:tr h="285939">
                <a:tc>
                  <a:txBody>
                    <a:bodyPr/>
                    <a:lstStyle/>
                    <a:p>
                      <a:pPr algn="ctr"/>
                      <a:r>
                        <a:rPr lang="en-SG" sz="1400">
                          <a:latin typeface="Arial" panose="020B0604020202020204" pitchFamily="34" charset="0"/>
                          <a:cs typeface="Arial" panose="020B0604020202020204" pitchFamily="34" charset="0"/>
                        </a:rPr>
                        <a:t>Potential Limitations</a:t>
                      </a:r>
                    </a:p>
                  </a:txBody>
                  <a:tcPr anchor="ctr"/>
                </a:tc>
                <a:tc>
                  <a:txBody>
                    <a:bodyPr/>
                    <a:lstStyle/>
                    <a:p>
                      <a:pPr algn="ctr"/>
                      <a:r>
                        <a:rPr lang="en-SG" sz="1400">
                          <a:latin typeface="Arial" panose="020B0604020202020204" pitchFamily="34" charset="0"/>
                          <a:cs typeface="Arial" panose="020B0604020202020204" pitchFamily="34" charset="0"/>
                        </a:rPr>
                        <a:t>Description</a:t>
                      </a:r>
                    </a:p>
                  </a:txBody>
                  <a:tcPr anchor="ctr"/>
                </a:tc>
                <a:tc>
                  <a:txBody>
                    <a:bodyPr/>
                    <a:lstStyle/>
                    <a:p>
                      <a:pPr algn="ctr"/>
                      <a:r>
                        <a:rPr lang="en-SG" sz="1400">
                          <a:latin typeface="Arial" panose="020B0604020202020204" pitchFamily="34" charset="0"/>
                          <a:cs typeface="Arial" panose="020B0604020202020204" pitchFamily="34" charset="0"/>
                        </a:rPr>
                        <a:t>Addressed By</a:t>
                      </a:r>
                    </a:p>
                  </a:txBody>
                  <a:tcPr anchor="ctr"/>
                </a:tc>
                <a:extLst>
                  <a:ext uri="{0D108BD9-81ED-4DB2-BD59-A6C34878D82A}">
                    <a16:rowId xmlns:a16="http://schemas.microsoft.com/office/drawing/2014/main" val="3748615015"/>
                  </a:ext>
                </a:extLst>
              </a:tr>
              <a:tr h="14868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a:latin typeface="Arial" panose="020B0604020202020204" pitchFamily="34" charset="0"/>
                          <a:cs typeface="Arial" panose="020B0604020202020204" pitchFamily="34" charset="0"/>
                        </a:rPr>
                        <a:t>Limited to Only Cessna 172 plane type</a:t>
                      </a:r>
                    </a:p>
                  </a:txBody>
                  <a:tcPr anchor="ctr"/>
                </a:tc>
                <a:tc>
                  <a:txBody>
                    <a:bodyPr/>
                    <a:lstStyle/>
                    <a:p>
                      <a:pPr algn="l"/>
                      <a:r>
                        <a:rPr lang="en-SG" sz="1400" kern="1200">
                          <a:solidFill>
                            <a:schemeClr val="dk1"/>
                          </a:solidFill>
                          <a:effectLst/>
                          <a:latin typeface="Arial" panose="020B0604020202020204" pitchFamily="34" charset="0"/>
                          <a:cs typeface="Arial" panose="020B0604020202020204" pitchFamily="34" charset="0"/>
                        </a:rPr>
                        <a:t>The dataset contains sensor and flight data of only Cessna 172 plane type</a:t>
                      </a:r>
                      <a:endParaRPr lang="en-SG" sz="1400" kern="1200">
                        <a:solidFill>
                          <a:schemeClr val="dk1"/>
                        </a:solidFill>
                        <a:effectLst/>
                        <a:latin typeface="Arial" panose="020B0604020202020204" pitchFamily="34" charset="0"/>
                        <a:ea typeface="+mn-ea"/>
                        <a:cs typeface="Arial" panose="020B0604020202020204" pitchFamily="34" charset="0"/>
                      </a:endParaRPr>
                    </a:p>
                  </a:txBody>
                  <a:tcPr anchor="ctr"/>
                </a:tc>
                <a:tc>
                  <a:txBody>
                    <a:bodyPr/>
                    <a:lstStyle/>
                    <a:p>
                      <a:pPr marL="0" indent="0" algn="just">
                        <a:buFont typeface="Arial" panose="020B0604020202020204" pitchFamily="34" charset="0"/>
                        <a:buNone/>
                      </a:pPr>
                      <a:r>
                        <a:rPr lang="en-SG" sz="1400" kern="1200">
                          <a:solidFill>
                            <a:schemeClr val="dk1"/>
                          </a:solidFill>
                          <a:effectLst/>
                          <a:latin typeface="Arial" panose="020B0604020202020204" pitchFamily="34" charset="0"/>
                          <a:cs typeface="Arial" panose="020B0604020202020204" pitchFamily="34" charset="0"/>
                        </a:rPr>
                        <a:t>As this study is meant as a proof of concept and preliminary study for predictive maintenance in the aviation industry, it is not meant to be comprehensive. In order to extend to other plane types, a different ML model will need to be built for every plane since they will have different sensors characteristics.</a:t>
                      </a:r>
                      <a:endParaRPr lang="en-SG" sz="1400" kern="120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1682351171"/>
                  </a:ext>
                </a:extLst>
              </a:tr>
              <a:tr h="1286727">
                <a:tc>
                  <a:txBody>
                    <a:bodyPr/>
                    <a:lstStyle/>
                    <a:p>
                      <a:pPr marL="0" marR="0" lvl="0" indent="0" algn="l" rtl="0" eaLnBrk="1" fontAlgn="auto" latinLnBrk="0" hangingPunct="1">
                        <a:lnSpc>
                          <a:spcPct val="100000"/>
                        </a:lnSpc>
                        <a:spcBef>
                          <a:spcPts val="0"/>
                        </a:spcBef>
                        <a:spcAft>
                          <a:spcPts val="0"/>
                        </a:spcAft>
                        <a:buClrTx/>
                        <a:buSzTx/>
                        <a:buFontTx/>
                        <a:buNone/>
                      </a:pPr>
                      <a:r>
                        <a:rPr lang="en-SG" sz="1400">
                          <a:latin typeface="Arial" panose="020B0604020202020204" pitchFamily="34" charset="0"/>
                          <a:cs typeface="Arial" panose="020B0604020202020204" pitchFamily="34" charset="0"/>
                        </a:rPr>
                        <a:t>The dataset is only for US</a:t>
                      </a:r>
                    </a:p>
                  </a:txBody>
                  <a:tcPr anchor="ctr"/>
                </a:tc>
                <a:tc>
                  <a:txBody>
                    <a:bodyPr/>
                    <a:lstStyle/>
                    <a:p>
                      <a:pPr algn="l"/>
                      <a:r>
                        <a:rPr lang="en-SG" sz="1400" kern="1200">
                          <a:solidFill>
                            <a:schemeClr val="dk1"/>
                          </a:solidFill>
                          <a:effectLst/>
                          <a:latin typeface="Arial" panose="020B0604020202020204" pitchFamily="34" charset="0"/>
                          <a:cs typeface="Arial" panose="020B0604020202020204" pitchFamily="34" charset="0"/>
                        </a:rPr>
                        <a:t>The dataset is only for US Cessna 172 planes. There may be deviations in environmental factors e.g. temperature, humidity etc., which may be outside the range of the training dataset</a:t>
                      </a:r>
                      <a:endParaRPr lang="en-SG" sz="1400" kern="1200">
                        <a:solidFill>
                          <a:schemeClr val="dk1"/>
                        </a:solidFill>
                        <a:effectLst/>
                        <a:latin typeface="Arial" panose="020B0604020202020204" pitchFamily="34" charset="0"/>
                        <a:ea typeface="+mn-ea"/>
                        <a:cs typeface="Arial" panose="020B0604020202020204" pitchFamily="34" charset="0"/>
                      </a:endParaRPr>
                    </a:p>
                  </a:txBody>
                  <a:tcPr anchor="ctr"/>
                </a:tc>
                <a:tc>
                  <a:txBody>
                    <a:bodyPr/>
                    <a:lstStyle/>
                    <a:p>
                      <a:pPr marL="0" indent="0" algn="just">
                        <a:buFont typeface="Arial" panose="020B0604020202020204" pitchFamily="34" charset="0"/>
                        <a:buNone/>
                      </a:pPr>
                      <a:r>
                        <a:rPr lang="en-SG" sz="1400" kern="1200">
                          <a:solidFill>
                            <a:schemeClr val="dk1"/>
                          </a:solidFill>
                          <a:effectLst/>
                          <a:latin typeface="Arial" panose="020B0604020202020204" pitchFamily="34" charset="0"/>
                          <a:cs typeface="Arial" panose="020B0604020202020204" pitchFamily="34" charset="0"/>
                        </a:rPr>
                        <a:t>The models built for this study will require field validation for every new environment it will operate in. This will in turn provide insights on whether the features and dataset are sufficient to successfully implement a predictive maintenance plan or if extra sensor will be required.</a:t>
                      </a:r>
                      <a:endParaRPr lang="en-SG" sz="1400" kern="120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3884693496"/>
                  </a:ext>
                </a:extLst>
              </a:tr>
              <a:tr h="1015803">
                <a:tc>
                  <a:txBody>
                    <a:bodyPr/>
                    <a:lstStyle/>
                    <a:p>
                      <a:pPr marL="0" marR="0" lvl="0" indent="0" algn="l" rtl="0" eaLnBrk="1" fontAlgn="auto" latinLnBrk="0" hangingPunct="1">
                        <a:lnSpc>
                          <a:spcPct val="100000"/>
                        </a:lnSpc>
                        <a:spcBef>
                          <a:spcPts val="0"/>
                        </a:spcBef>
                        <a:spcAft>
                          <a:spcPts val="0"/>
                        </a:spcAft>
                        <a:buClrTx/>
                        <a:buSzTx/>
                        <a:buFontTx/>
                        <a:buNone/>
                      </a:pPr>
                      <a:r>
                        <a:rPr lang="en-SG" sz="1400">
                          <a:latin typeface="Arial" panose="020B0604020202020204" pitchFamily="34" charset="0"/>
                          <a:cs typeface="Arial" panose="020B0604020202020204" pitchFamily="34" charset="0"/>
                        </a:rPr>
                        <a:t>Information is loss due to grouping</a:t>
                      </a:r>
                    </a:p>
                  </a:txBody>
                  <a:tcPr anchor="ctr"/>
                </a:tc>
                <a:tc>
                  <a:txBody>
                    <a:bodyPr/>
                    <a:lstStyle/>
                    <a:p>
                      <a:pPr algn="l"/>
                      <a:r>
                        <a:rPr lang="en-SG" sz="1400" kern="1200">
                          <a:solidFill>
                            <a:schemeClr val="dk1"/>
                          </a:solidFill>
                          <a:effectLst/>
                          <a:latin typeface="Arial" panose="020B0604020202020204" pitchFamily="34" charset="0"/>
                          <a:cs typeface="Arial" panose="020B0604020202020204" pitchFamily="34" charset="0"/>
                        </a:rPr>
                        <a:t>Due to grouping, the breakdown of the required maintenance is lost.</a:t>
                      </a:r>
                      <a:endParaRPr lang="en-SG" sz="1400" kern="1200">
                        <a:solidFill>
                          <a:schemeClr val="dk1"/>
                        </a:solidFill>
                        <a:effectLst/>
                        <a:latin typeface="Arial" panose="020B0604020202020204" pitchFamily="34" charset="0"/>
                        <a:ea typeface="+mn-ea"/>
                        <a:cs typeface="Arial" panose="020B0604020202020204" pitchFamily="34" charset="0"/>
                      </a:endParaRPr>
                    </a:p>
                  </a:txBody>
                  <a:tcPr anchor="ctr"/>
                </a:tc>
                <a:tc>
                  <a:txBody>
                    <a:bodyPr/>
                    <a:lstStyle/>
                    <a:p>
                      <a:pPr marL="0" indent="0" algn="just">
                        <a:buFont typeface="Arial" panose="020B0604020202020204" pitchFamily="34" charset="0"/>
                        <a:buNone/>
                      </a:pPr>
                      <a:r>
                        <a:rPr lang="en-SG" sz="1400" kern="1200">
                          <a:solidFill>
                            <a:schemeClr val="dk1"/>
                          </a:solidFill>
                          <a:effectLst/>
                          <a:latin typeface="Arial" panose="020B0604020202020204" pitchFamily="34" charset="0"/>
                          <a:cs typeface="Arial" panose="020B0604020202020204" pitchFamily="34" charset="0"/>
                        </a:rPr>
                        <a:t>The purpose of the study is not to do away with pre-flight inspections, but to allow for better maintenance planning via targeting of the selected group.</a:t>
                      </a:r>
                      <a:endParaRPr lang="en-SG" sz="1400" kern="120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4163137377"/>
                  </a:ext>
                </a:extLst>
              </a:tr>
              <a:tr h="1086570">
                <a:tc>
                  <a:txBody>
                    <a:bodyPr/>
                    <a:lstStyle/>
                    <a:p>
                      <a:pPr marL="0" marR="0" lvl="0" indent="0" algn="l" rtl="0" eaLnBrk="1" fontAlgn="auto" latinLnBrk="0" hangingPunct="1">
                        <a:lnSpc>
                          <a:spcPct val="100000"/>
                        </a:lnSpc>
                        <a:spcBef>
                          <a:spcPts val="0"/>
                        </a:spcBef>
                        <a:spcAft>
                          <a:spcPts val="0"/>
                        </a:spcAft>
                        <a:buClrTx/>
                        <a:buSzTx/>
                        <a:buFontTx/>
                        <a:buNone/>
                      </a:pPr>
                      <a:r>
                        <a:rPr lang="en-US" sz="1400">
                          <a:latin typeface="Arial" panose="020B0604020202020204" pitchFamily="34" charset="0"/>
                          <a:cs typeface="Arial" panose="020B0604020202020204" pitchFamily="34" charset="0"/>
                        </a:rPr>
                        <a:t>Class Imbalance in Label</a:t>
                      </a:r>
                      <a:endParaRPr lang="en-SG" sz="1400">
                        <a:latin typeface="Arial" panose="020B0604020202020204" pitchFamily="34" charset="0"/>
                        <a:cs typeface="Arial" panose="020B0604020202020204" pitchFamily="34" charset="0"/>
                      </a:endParaRPr>
                    </a:p>
                  </a:txBody>
                  <a:tcPr anchor="ctr"/>
                </a:tc>
                <a:tc>
                  <a:txBody>
                    <a:bodyPr/>
                    <a:lstStyle/>
                    <a:p>
                      <a:pPr algn="l"/>
                      <a:r>
                        <a:rPr lang="en-US" sz="1400" kern="1200">
                          <a:solidFill>
                            <a:schemeClr val="dk1"/>
                          </a:solidFill>
                          <a:effectLst/>
                          <a:latin typeface="Arial" panose="020B0604020202020204" pitchFamily="34" charset="0"/>
                          <a:ea typeface="+mn-ea"/>
                          <a:cs typeface="Arial" panose="020B0604020202020204" pitchFamily="34" charset="0"/>
                        </a:rPr>
                        <a:t>2 out of 36 labels contain fewer than 50 samples. Some classes having thousands of flights and others having less than one hundred.</a:t>
                      </a:r>
                      <a:endParaRPr lang="en-SG" sz="1400" kern="1200">
                        <a:solidFill>
                          <a:schemeClr val="dk1"/>
                        </a:solidFill>
                        <a:effectLst/>
                        <a:latin typeface="Arial" panose="020B0604020202020204" pitchFamily="34" charset="0"/>
                        <a:ea typeface="+mn-ea"/>
                        <a:cs typeface="Arial" panose="020B0604020202020204" pitchFamily="34" charset="0"/>
                      </a:endParaRPr>
                    </a:p>
                  </a:txBody>
                  <a:tcPr anchor="ctr"/>
                </a:tc>
                <a:tc>
                  <a:txBody>
                    <a:bodyPr/>
                    <a:lstStyle/>
                    <a:p>
                      <a:pPr marL="0" indent="0" algn="just">
                        <a:buFont typeface="Arial" panose="020B0604020202020204" pitchFamily="34" charset="0"/>
                        <a:buNone/>
                      </a:pPr>
                      <a:r>
                        <a:rPr lang="en-US" sz="1400" kern="1200">
                          <a:solidFill>
                            <a:schemeClr val="dk1"/>
                          </a:solidFill>
                          <a:effectLst/>
                          <a:latin typeface="Arial" panose="020B0604020202020204" pitchFamily="34" charset="0"/>
                          <a:ea typeface="+mn-ea"/>
                          <a:cs typeface="Arial" panose="020B0604020202020204" pitchFamily="34" charset="0"/>
                        </a:rPr>
                        <a:t>Rare labels will be grouped into broader categories, improving sample representation per class and focal loss to be applied during training to place greater emphasis on under-represented classes and reduce bias toward majority classes.</a:t>
                      </a:r>
                      <a:endParaRPr lang="en-SG" sz="1400" kern="120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687279286"/>
                  </a:ext>
                </a:extLst>
              </a:tr>
            </a:tbl>
          </a:graphicData>
        </a:graphic>
      </p:graphicFrame>
    </p:spTree>
    <p:extLst>
      <p:ext uri="{BB962C8B-B14F-4D97-AF65-F5344CB8AC3E}">
        <p14:creationId xmlns:p14="http://schemas.microsoft.com/office/powerpoint/2010/main" val="3657169593"/>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3893F-8627-602F-870F-85285C5F964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BD4EA0-E6DC-AA34-DAB1-91DF1453FCB0}"/>
              </a:ext>
            </a:extLst>
          </p:cNvPr>
          <p:cNvSpPr/>
          <p:nvPr/>
        </p:nvSpPr>
        <p:spPr>
          <a:xfrm>
            <a:off x="0" y="0"/>
            <a:ext cx="12192000" cy="6810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Arial" panose="020B0604020202020204" pitchFamily="34" charset="0"/>
                <a:cs typeface="Arial" panose="020B0604020202020204" pitchFamily="34" charset="0"/>
              </a:rPr>
              <a:t>Application and Future Scope</a:t>
            </a:r>
            <a:endParaRPr lang="en-SG" sz="2800" b="1">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C6223933-E639-32EF-AF7F-C0DDF9D641D5}"/>
              </a:ext>
            </a:extLst>
          </p:cNvPr>
          <p:cNvSpPr>
            <a:spLocks noGrp="1"/>
          </p:cNvSpPr>
          <p:nvPr>
            <p:ph idx="1"/>
          </p:nvPr>
        </p:nvSpPr>
        <p:spPr>
          <a:xfrm>
            <a:off x="838200" y="1506871"/>
            <a:ext cx="10515600" cy="3624802"/>
          </a:xfrm>
          <a:solidFill>
            <a:schemeClr val="bg1"/>
          </a:solidFill>
        </p:spPr>
        <p:txBody>
          <a:bodyPr>
            <a:normAutofit/>
          </a:bodyPr>
          <a:lstStyle/>
          <a:p>
            <a:pPr algn="just"/>
            <a:r>
              <a:rPr lang="en-SG" sz="2000">
                <a:latin typeface="Arial" panose="020B0604020202020204" pitchFamily="34" charset="0"/>
                <a:cs typeface="Arial" panose="020B0604020202020204" pitchFamily="34" charset="0"/>
              </a:rPr>
              <a:t>The study will be conducted to evaluate the feasibility of predictive maintenance for aircraft targeting audience such as airline operators, aviation safety regulators and OEMs.</a:t>
            </a:r>
          </a:p>
          <a:p>
            <a:pPr algn="just"/>
            <a:r>
              <a:rPr lang="en-SG" sz="2000">
                <a:latin typeface="Arial" panose="020B0604020202020204" pitchFamily="34" charset="0"/>
                <a:cs typeface="Arial" panose="020B0604020202020204" pitchFamily="34" charset="0"/>
              </a:rPr>
              <a:t>The study, while limited in scope due to data from a singular plane type, allows for a controlled scale study from which to carry our further validation studies.</a:t>
            </a:r>
          </a:p>
          <a:p>
            <a:pPr algn="just"/>
            <a:r>
              <a:rPr lang="en-SG" sz="2000">
                <a:latin typeface="Arial" panose="020B0604020202020204" pitchFamily="34" charset="0"/>
                <a:cs typeface="Arial" panose="020B0604020202020204" pitchFamily="34" charset="0"/>
              </a:rPr>
              <a:t>The next step is to observe over a period of time whether a new maintenance strategy based on the model will be able to successfully reduce unplanned downtime risk and save cost for the operator.</a:t>
            </a:r>
          </a:p>
          <a:p>
            <a:pPr algn="just"/>
            <a:r>
              <a:rPr lang="en-SG" sz="2000">
                <a:latin typeface="Arial" panose="020B0604020202020204" pitchFamily="34" charset="0"/>
                <a:cs typeface="Arial" panose="020B0604020202020204" pitchFamily="34" charset="0"/>
              </a:rPr>
              <a:t>As this study is conducted only for a small population of private jets, the strategy can be modified such that a “just-in-time” model can be established. This will serve as a proof of concept, beyond which the same study can be extended to commercial plane types such as Airbus A320, Boeing 737 Max etc.</a:t>
            </a:r>
          </a:p>
        </p:txBody>
      </p:sp>
      <p:pic>
        <p:nvPicPr>
          <p:cNvPr id="2050" name="Picture 2" descr="Future Scope Vector Art, Icons, and Graphics for Free Download">
            <a:extLst>
              <a:ext uri="{FF2B5EF4-FFF2-40B4-BE49-F238E27FC236}">
                <a16:creationId xmlns:a16="http://schemas.microsoft.com/office/drawing/2014/main" id="{094847F3-E9EB-BD1F-35EC-AC3874E919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4" y="5196993"/>
            <a:ext cx="2076258" cy="1661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9109573"/>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8720B97F7241943A28C8BBA23237CE2" ma:contentTypeVersion="3" ma:contentTypeDescription="Create a new document." ma:contentTypeScope="" ma:versionID="5397403cb0e6751c1537f9f5de8321ba">
  <xsd:schema xmlns:xsd="http://www.w3.org/2001/XMLSchema" xmlns:xs="http://www.w3.org/2001/XMLSchema" xmlns:p="http://schemas.microsoft.com/office/2006/metadata/properties" xmlns:ns2="79578535-e92b-4683-a9d6-ec57caa5ca1b" targetNamespace="http://schemas.microsoft.com/office/2006/metadata/properties" ma:root="true" ma:fieldsID="31aaa0d9606384ca82cb1539d40e7bb5" ns2:_="">
    <xsd:import namespace="79578535-e92b-4683-a9d6-ec57caa5ca1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578535-e92b-4683-a9d6-ec57caa5ca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AC1685-1720-4A95-89B7-F42CCE239736}">
  <ds:schemaRefs>
    <ds:schemaRef ds:uri="79578535-e92b-4683-a9d6-ec57caa5ca1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3B89B03-D4BD-4683-9449-6DC58CFD5DD6}">
  <ds:schemaRefs>
    <ds:schemaRef ds:uri="79578535-e92b-4683-a9d6-ec57caa5ca1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4A85E1B-C712-4D26-A8B7-9B1D353CADD6}">
  <ds:schemaRefs>
    <ds:schemaRef ds:uri="http://schemas.microsoft.com/sharepoint/v3/contenttype/forms"/>
  </ds:schemaRefs>
</ds:datastoreItem>
</file>

<file path=docMetadata/LabelInfo.xml><?xml version="1.0" encoding="utf-8"?>
<clbl:labelList xmlns:clbl="http://schemas.microsoft.com/office/2020/mipLabelMetadata">
  <clbl:label id="{c98a79ca-5a9a-4791-a243-f06afd67464d}" enabled="0" method="" siteId="{c98a79ca-5a9a-4791-a243-f06afd67464d}"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2</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Aircraft Maintenance Prediction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Tanya ARORA</dc:creator>
  <cp:revision>2</cp:revision>
  <dcterms:created xsi:type="dcterms:W3CDTF">2026-05-20T14:52:01Z</dcterms:created>
  <dcterms:modified xsi:type="dcterms:W3CDTF">2026-05-30T07:59:55Z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0x010100A8720B97F7241943A28C8BBA23237CE2</vt:lpwstr>
  </property>
</Properties>
</file>